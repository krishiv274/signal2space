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b9797163dc457a" /><Relationship Type="http://schemas.openxmlformats.org/officeDocument/2006/relationships/extended-properties" Target="/docProps/app.xml" Id="Rc065cd4391bc4e4f" /><Relationship Type="http://schemas.openxmlformats.org/officeDocument/2006/relationships/officeDocument" Target="/ppt/presentation.xml" Id="Rf0ee044447a74997" /></Relationships>
</file>

<file path=ppt/presentation.xml><?xml version="1.0" encoding="utf-8"?>
<p:presentation xmlns:p="http://schemas.openxmlformats.org/presentationml/2006/main">
  <p:sldMasterIdLst>
    <p:sldMasterId xmlns:r="http://schemas.openxmlformats.org/officeDocument/2006/relationships" id="2147483648" r:id="R5db444ad9ac34bbf"/>
  </p:sldMasterIdLst>
  <p:notesMasterIdLst>
    <p:notesMasterId xmlns:r="http://schemas.openxmlformats.org/officeDocument/2006/relationships" r:id="Ree0e1b56370b4177"/>
  </p:notesMasterIdLst>
  <p:sldIdLst>
    <p:sldId xmlns:r="http://schemas.openxmlformats.org/officeDocument/2006/relationships" id="256" r:id="R337172bc47214ef7"/>
    <p:sldId xmlns:r="http://schemas.openxmlformats.org/officeDocument/2006/relationships" id="257" r:id="R61461e2d211c4655"/>
    <p:sldId xmlns:r="http://schemas.openxmlformats.org/officeDocument/2006/relationships" id="258" r:id="R9cfe2aec3ef74cb0"/>
    <p:sldId xmlns:r="http://schemas.openxmlformats.org/officeDocument/2006/relationships" id="259" r:id="R8f89353092c24062"/>
    <p:sldId xmlns:r="http://schemas.openxmlformats.org/officeDocument/2006/relationships" id="260" r:id="Rd5592b7e53554ce2"/>
    <p:sldId xmlns:r="http://schemas.openxmlformats.org/officeDocument/2006/relationships" id="261" r:id="R7083d24b215d4990"/>
    <p:sldId xmlns:r="http://schemas.openxmlformats.org/officeDocument/2006/relationships" id="262" r:id="R38286f5f72bc4369"/>
    <p:sldId xmlns:r="http://schemas.openxmlformats.org/officeDocument/2006/relationships" id="263" r:id="Ra2d6f11ca9524e99"/>
    <p:sldId xmlns:r="http://schemas.openxmlformats.org/officeDocument/2006/relationships" id="264" r:id="R00fe0c204d8b4379"/>
    <p:sldId xmlns:r="http://schemas.openxmlformats.org/officeDocument/2006/relationships" id="265" r:id="Rf117353148cb4f19"/>
    <p:sldId xmlns:r="http://schemas.openxmlformats.org/officeDocument/2006/relationships" id="266" r:id="Reae34c8c99b1449a"/>
    <p:sldId xmlns:r="http://schemas.openxmlformats.org/officeDocument/2006/relationships" id="267" r:id="R906188aa9391478d"/>
    <p:sldId xmlns:r="http://schemas.openxmlformats.org/officeDocument/2006/relationships" id="268" r:id="R4e4cc8c212204665"/>
    <p:sldId xmlns:r="http://schemas.openxmlformats.org/officeDocument/2006/relationships" id="269" r:id="Rf3adbb0ddfec40e5"/>
    <p:sldId xmlns:r="http://schemas.openxmlformats.org/officeDocument/2006/relationships" id="270" r:id="R2b02d7e437a74df9"/>
    <p:sldId xmlns:r="http://schemas.openxmlformats.org/officeDocument/2006/relationships" id="271" r:id="R1f19adcf3c9042de"/>
    <p:sldId xmlns:r="http://schemas.openxmlformats.org/officeDocument/2006/relationships" id="272" r:id="Raefc534e73e64c8a"/>
    <p:sldId xmlns:r="http://schemas.openxmlformats.org/officeDocument/2006/relationships" id="273" r:id="R6d737e79da604107"/>
    <p:sldId xmlns:r="http://schemas.openxmlformats.org/officeDocument/2006/relationships" id="274" r:id="R1569ed8efb6e4154"/>
    <p:sldId xmlns:r="http://schemas.openxmlformats.org/officeDocument/2006/relationships" id="275" r:id="Ra6a081a18f284ffb"/>
    <p:sldId xmlns:r="http://schemas.openxmlformats.org/officeDocument/2006/relationships" id="276" r:id="R53df41f03ae84a7c"/>
    <p:sldId xmlns:r="http://schemas.openxmlformats.org/officeDocument/2006/relationships" id="277" r:id="Rbf8aea58113f4fee"/>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61e720b6ce6459a" /><Relationship Type="http://schemas.openxmlformats.org/officeDocument/2006/relationships/slideMaster" Target="/ppt/slideMasters/slideMaster1.xml" Id="R5db444ad9ac34bbf" /><Relationship Type="http://schemas.openxmlformats.org/officeDocument/2006/relationships/notesMaster" Target="/ppt/notesMasters/notesMaster1.xml" Id="Ree0e1b56370b4177" /><Relationship Type="http://schemas.openxmlformats.org/officeDocument/2006/relationships/presProps" Target="/ppt/presProps.xml" Id="Rcda11d563d9e4186" /><Relationship Type="http://schemas.openxmlformats.org/officeDocument/2006/relationships/viewProps" Target="/ppt/viewProps.xml" Id="R1868a527d2994860" /><Relationship Type="http://schemas.openxmlformats.org/officeDocument/2006/relationships/tableStyles" Target="/ppt/tableStyles.xml" Id="Redfeb28a8cfc4e3b" /><Relationship Type="http://schemas.openxmlformats.org/officeDocument/2006/relationships/slide" Target="/ppt/slides/slide1.xml" Id="R337172bc47214ef7" /><Relationship Type="http://schemas.openxmlformats.org/officeDocument/2006/relationships/slide" Target="/ppt/slides/slide2.xml" Id="R61461e2d211c4655" /><Relationship Type="http://schemas.openxmlformats.org/officeDocument/2006/relationships/slide" Target="/ppt/slides/slide3.xml" Id="R9cfe2aec3ef74cb0" /><Relationship Type="http://schemas.openxmlformats.org/officeDocument/2006/relationships/slide" Target="/ppt/slides/slide4.xml" Id="R8f89353092c24062" /><Relationship Type="http://schemas.openxmlformats.org/officeDocument/2006/relationships/slide" Target="/ppt/slides/slide5.xml" Id="Rd5592b7e53554ce2" /><Relationship Type="http://schemas.openxmlformats.org/officeDocument/2006/relationships/slide" Target="/ppt/slides/slide6.xml" Id="R7083d24b215d4990" /><Relationship Type="http://schemas.openxmlformats.org/officeDocument/2006/relationships/slide" Target="/ppt/slides/slide7.xml" Id="R38286f5f72bc4369" /><Relationship Type="http://schemas.openxmlformats.org/officeDocument/2006/relationships/slide" Target="/ppt/slides/slide8.xml" Id="Ra2d6f11ca9524e99" /><Relationship Type="http://schemas.openxmlformats.org/officeDocument/2006/relationships/slide" Target="/ppt/slides/slide9.xml" Id="R00fe0c204d8b4379" /><Relationship Type="http://schemas.openxmlformats.org/officeDocument/2006/relationships/slide" Target="/ppt/slides/slide10.xml" Id="Rf117353148cb4f19" /><Relationship Type="http://schemas.openxmlformats.org/officeDocument/2006/relationships/slide" Target="/ppt/slides/slide11.xml" Id="Reae34c8c99b1449a" /><Relationship Type="http://schemas.openxmlformats.org/officeDocument/2006/relationships/slide" Target="/ppt/slides/slide12.xml" Id="R906188aa9391478d" /><Relationship Type="http://schemas.openxmlformats.org/officeDocument/2006/relationships/slide" Target="/ppt/slides/slide13.xml" Id="R4e4cc8c212204665" /><Relationship Type="http://schemas.openxmlformats.org/officeDocument/2006/relationships/slide" Target="/ppt/slides/slide14.xml" Id="Rf3adbb0ddfec40e5" /><Relationship Type="http://schemas.openxmlformats.org/officeDocument/2006/relationships/slide" Target="/ppt/slides/slide15.xml" Id="R2b02d7e437a74df9" /><Relationship Type="http://schemas.openxmlformats.org/officeDocument/2006/relationships/slide" Target="/ppt/slides/slide16.xml" Id="R1f19adcf3c9042de" /><Relationship Type="http://schemas.openxmlformats.org/officeDocument/2006/relationships/slide" Target="/ppt/slides/slide17.xml" Id="Raefc534e73e64c8a" /><Relationship Type="http://schemas.openxmlformats.org/officeDocument/2006/relationships/slide" Target="/ppt/slides/slide18.xml" Id="R6d737e79da604107" /><Relationship Type="http://schemas.openxmlformats.org/officeDocument/2006/relationships/slide" Target="/ppt/slides/slide19.xml" Id="R1569ed8efb6e4154" /><Relationship Type="http://schemas.openxmlformats.org/officeDocument/2006/relationships/slide" Target="/ppt/slides/slide20.xml" Id="Ra6a081a18f284ffb" /><Relationship Type="http://schemas.openxmlformats.org/officeDocument/2006/relationships/slide" Target="/ppt/slides/slide21.xml" Id="R53df41f03ae84a7c" /><Relationship Type="http://schemas.openxmlformats.org/officeDocument/2006/relationships/slide" Target="/ppt/slides/slide22.xml" Id="Rbf8aea58113f4f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3eef325b7a4d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26b23e0e284814" /><Relationship Type="http://schemas.openxmlformats.org/officeDocument/2006/relationships/notesMaster" Target="/ppt/notesMasters/notesMaster1.xml" Id="Rc4315024a0cd46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8d81f691e7477d" /><Relationship Type="http://schemas.openxmlformats.org/officeDocument/2006/relationships/notesMaster" Target="/ppt/notesMasters/notesMaster1.xml" Id="R62e5a568381d47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782cb18d764ab7" /><Relationship Type="http://schemas.openxmlformats.org/officeDocument/2006/relationships/notesMaster" Target="/ppt/notesMasters/notesMaster1.xml" Id="R8eef2380f99c44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460f9e5c754fa2" /><Relationship Type="http://schemas.openxmlformats.org/officeDocument/2006/relationships/notesMaster" Target="/ppt/notesMasters/notesMaster1.xml" Id="R4e999e7f0dc249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247af8341f4882" /><Relationship Type="http://schemas.openxmlformats.org/officeDocument/2006/relationships/notesMaster" Target="/ppt/notesMasters/notesMaster1.xml" Id="Rfbf3d630bbbe42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153b45e81149e7" /><Relationship Type="http://schemas.openxmlformats.org/officeDocument/2006/relationships/notesMaster" Target="/ppt/notesMasters/notesMaster1.xml" Id="R31631cfd998442a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db30001f424eff" /><Relationship Type="http://schemas.openxmlformats.org/officeDocument/2006/relationships/notesMaster" Target="/ppt/notesMasters/notesMaster1.xml" Id="R8700606a6aff49a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f33fd57f7f4cb9" /><Relationship Type="http://schemas.openxmlformats.org/officeDocument/2006/relationships/notesMaster" Target="/ppt/notesMasters/notesMaster1.xml" Id="Reb3b298dabb84521" /></Relationships>
</file>

<file path=ppt/notesSlides/_rels/notesSlide9.xml.rels>&#65279;<?xml version="1.0" encoding="utf-8"?><Relationships xmlns="http://schemas.openxmlformats.org/package/2006/relationships"><Relationship Type="http://schemas.openxmlformats.org/officeDocument/2006/relationships/slide" Target="/ppt/slides/slide9.xml" Id="R6b67d85a9423405a" /><Relationship Type="http://schemas.openxmlformats.org/officeDocument/2006/relationships/notesMaster" Target="/ppt/notesMasters/notesMaster1.xml" Id="R5120d03c3730441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42b8d144214f0d" /><Relationship Type="http://schemas.openxmlformats.org/officeDocument/2006/relationships/notesMaster" Target="/ppt/notesMasters/notesMaster1.xml" Id="R6c8426eec1d54f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37daf082e7c494b" /><Relationship Type="http://schemas.openxmlformats.org/officeDocument/2006/relationships/notesMaster" Target="/ppt/notesMasters/notesMaster1.xml" Id="R99315de1ea554dc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609c0bcfcd34671" /><Relationship Type="http://schemas.openxmlformats.org/officeDocument/2006/relationships/notesMaster" Target="/ppt/notesMasters/notesMaster1.xml" Id="R16c8e1e837394ce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619b5fa61204469" /><Relationship Type="http://schemas.openxmlformats.org/officeDocument/2006/relationships/notesMaster" Target="/ppt/notesMasters/notesMaster1.xml" Id="Rf3151da97f5b47b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0420a8359244eda" /><Relationship Type="http://schemas.openxmlformats.org/officeDocument/2006/relationships/notesMaster" Target="/ppt/notesMasters/notesMaster1.xml" Id="Rccbf22f3aa4e499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d19b1aecf564a9a" /><Relationship Type="http://schemas.openxmlformats.org/officeDocument/2006/relationships/notesMaster" Target="/ppt/notesMasters/notesMaster1.xml" Id="R44f80e6407c942f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995e57d06e94637" /><Relationship Type="http://schemas.openxmlformats.org/officeDocument/2006/relationships/notesMaster" Target="/ppt/notesMasters/notesMaster1.xml" Id="R96185f906929461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4e26b6dcafd4d9c" /><Relationship Type="http://schemas.openxmlformats.org/officeDocument/2006/relationships/notesMaster" Target="/ppt/notesMasters/notesMaster1.xml" Id="R96dd338bd400457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ba6aca6e3c543fe" /><Relationship Type="http://schemas.openxmlformats.org/officeDocument/2006/relationships/notesMaster" Target="/ppt/notesMasters/notesMaster1.xml" Id="Rc0f29e46f3d4499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b89d3f70f744e4e" /><Relationship Type="http://schemas.openxmlformats.org/officeDocument/2006/relationships/notesMaster" Target="/ppt/notesMasters/notesMaster1.xml" Id="Rdda1ba61c0694d8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f56ff0fded0445a" /><Relationship Type="http://schemas.openxmlformats.org/officeDocument/2006/relationships/notesMaster" Target="/ppt/notesMasters/notesMaster1.xml" Id="R5ef4d400bd7c4e7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8235d4edd1e4da9" /><Relationship Type="http://schemas.openxmlformats.org/officeDocument/2006/relationships/notesMaster" Target="/ppt/notesMasters/notesMaster1.xml" Id="R14ebdbdb339a4e4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88bf42e62b04a83" /><Relationship Type="http://schemas.openxmlformats.org/officeDocument/2006/relationships/notesMaster" Target="/ppt/notesMasters/notesMaster1.xml" Id="R3ea237dd329a4d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explains the implemented AML phase only. Work is organized into five pipelines, from shared data preparation through task-specific Random Forest models and integration. The deck uses Member 1–5 labels because personal names were not provided.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provided files contain 19,937 training/reference rows and 1,111 held-out rows. Each has 529 columns: 520 WAP RSSI fields, four targets (building, floor, longitude, latitude), and five metadata fields. The tasks are two classifications and a two-coordinate regression. Sources: raw CSV schema, ML_01 notebook, UCI UJIIndoorLoc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training/reference file is split with GroupShuffleSplit, test_size 0.20, random_state 42, using the composite group (BUILDINGID, FLOOR, SPACEID). This yields 16,085 internal-training rows from 588 groups and 3,852 internal-validation rows from 147 disjoint groups. The scaler and model fit only on internal training. Internal validation selects settings. The separate supplied 1,111-row file is held for final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EDA found 96.54% of training WAP entries encoded as 100, 637 exact duplicate training rows, and 76 training rows where all access points were absent. These were counted and retained; there are no blank cells in either supplied file. The figure contrasts training with the held-out file descriptively. Source: ML_01 notebook and data/figures/ml_01_data_quality_eda.png.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sentinel 100 is treated as an absent reading. For each WAP, the implementation learns mean and population standard deviation from observed internal-training values, standardizes observed values, and applies the learned transform unchanged elsewhere. A separate binary mask preserves whether each access point was seen. Targets, keys, user/phone identifiers, and metadata are retained for auditing but excluded from predictors.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common predictor list has 1,046 features: 520 standardized RSSI columns, 520 binary presence masks, and six row-level summaries. The target distribution figure shows the class composition and the small held-out floor-4 support. Target and metadata columns remain in prepared outputs but are not in the model predictor allowlist. Source: ML_01 notebook, processed feature tables, and ml_01_target_distribution_eda.png.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building model is a RandomForestClassifier trained on the shared predictors. Eighteen parameter configurations were compared on internal validation. The selection criterion was accuracy, with macro F1 as tie-break. The chosen model uses 100 trees, unlimited depth, and minimum leaf size one. The supplied held-out file is used only for final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Held-out building accuracy is 99.72997% and macro F1 is 99.7126%. There are 1,108 correct predictions out of 1,111. The figure shows count and row-normalized confusion matrices; the off-diagonal cells account for three errors. These scores describe the supplied held-out partition and should not be generalized to unseen buildings without a matching evaluation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count matrix contains 535, 305, and 268 true positives for building codes 0, 1, and 2. Three errors occur: one code 0→1, one code 1→0, and one code 1→2. Code 2 has no errors. Preserve the evaluation caveat: there is no exact full raw-row overlap between the supplied files, but exact WAP vectors recur between internal train and internal validation; this score does not prove robustness to unseen fingerprints.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Floor labels are mapped from training data and then applied consistently to training, validation, and held-out rows. A class-weighted RandomForestClassifier compares eight configurations on internal validation and selects by macro F1. The target distribution figure makes the small floor-code 4 support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Held-out floor accuracy is 88.9289% and macro F1 is 87.2655%. The largest off-diagonal count is true floor code 1 predicted as code 2, with 49 records. Confusion is primarily among nearby codes, so the matrix complements the aggregate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Floor code 4 has only 39 records in the held-out partition. The matrix has 27 true positives, giving recall 69.23%. This smaller class contributes equally to macro F1, which is why macro F1 and the confusion matrix are needed alongside overall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coordinate model is a multi-output RandomForestRegressor predicting longitude and latitude. Ten candidates are ranked on internal validation mean Euclidean error. The selected model has 150 trees, unlimited depth, minimum leaf size one, and max_features 0.5. It generates per-axis MAE, row-level Euclidean errors, and maps/plots. The notebook labels the coordinate system EPSG:3857 metres; the repository does not verify that CRS independently.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plot shows held-out actual versus predicted longitude and latitude, with the dashed red diagonal as perfect prediction. The horizontal/vertical scatter around the line represents error; a few larger misses are visible. Longitude MAE is 8.0966 and latitude MAE is 6.8064 reported units. Units inherit the notebook’s CRS label, which has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held-out coordinate error map places true positions on the x/y plane and colors each position by Euclidean prediction error, capped at the 95th percentile in the figure. It makes spatially localized larger misses visible. Source: data/figures/ml_04_coordinate_error_map.png.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held-out mean Euclidean error is 11.5836; median 7.4884; and 95th percentile 36.2126 reported coordinate units. The histogram compares internal validation and held-out errors and shows a right-skewed tail. The notebook’s meter label depends on an unverified coordinate reference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5 joins task prediction files on source partition and row ID, verifies coverage and true labels, and recomputes the integrated task metrics. Joint building/floor correctness is then used to explain coordinate error across four groups. Sources: ML_05 integration notebook and saved integrated prediction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integrated summary compares held-out building and floor accuracy with longitude MAE, latitude MAE, and mean Euclidean error. These metrics are not directly comparable because the classifications are proportions and the coordinate measures are distances. Source: ml_05_heldout_metric_comparison.png and AML summary metrics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 1,111 held-out records, 986 (88.75%) have both building and floor correct and mean coordinate error 10.00 reported units. 122 records have building correct and floor wrong; two have building wrong and floor correct; one has both wrong. Tiny groups are descriptive only. Source: hierarchical breakdown CSV and 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Conclude with the three held-out results and their limits. Building accuracy 99.73%; floor accuracy 88.93%; mean Euclidean coordinate error 11.58 reported units. Exact WAP vectors recur between internal train and internal validation, and coordinate pairs repeat across development and held-out partitions. These results should not be claimed as unseen-fingerprint or unseen-position performance. CRS/metre interpretation also remains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list. DOI links: https://doi.org/10.24432/C5MS59 ; https://doi.org/10.1109/IPIN.2014.7275492 ; https://doi.org/10.1023/A:1010933404324 . Project implementation is in the Signal2Space repository, especially the AML notebooks 01–05 and data/figures, data/tables, data/processed.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Use the next slide for source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d9d100491c473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fd4bf2755fe45b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00303c093d4bb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d83888a1ccc43b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f01f7bb5a1f44a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0de3356ca6a41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A95DCA-9050-4DCA-8DB6-518E3F6770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575647E1-83C5-49CD-B161-EB76E72752A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95F3DAA-0CC5-4816-9037-2066678843C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A9CD9E-5CDF-4963-967C-2F23C74487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E6F1EBE8-908C-4497-9D6A-29A407A8CD8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B40B88A-2F21-4B96-B535-52C6B687E4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15C3209F-457B-4F1E-AE8B-95150683281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F09B67AF-25B4-4542-852D-8CC1ADE7645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831005-48F6-4205-BCF4-9572E0D19E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014038AE-3B26-4CED-A822-9ECE8EC9F6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23785394804e80" /><Relationship Type="http://schemas.openxmlformats.org/officeDocument/2006/relationships/slideLayout" Target="/ppt/slideLayouts/slideLayout1.xml" Id="R23c4b56f98ad44ba" /><Relationship Type="http://schemas.openxmlformats.org/officeDocument/2006/relationships/slideLayout" Target="/ppt/slideLayouts/slideLayout2.xml" Id="R1df8d9f875fe4254" /><Relationship Type="http://schemas.openxmlformats.org/officeDocument/2006/relationships/slideLayout" Target="/ppt/slideLayouts/slideLayout3.xml" Id="R5f2f0edacb0742e6" /><Relationship Type="http://schemas.openxmlformats.org/officeDocument/2006/relationships/slideLayout" Target="/ppt/slideLayouts/slideLayout4.xml" Id="R93ccc016b0da4934" /><Relationship Type="http://schemas.openxmlformats.org/officeDocument/2006/relationships/slideLayout" Target="/ppt/slideLayouts/slideLayout5.xml" Id="R443eb8529da74389" /><Relationship Type="http://schemas.openxmlformats.org/officeDocument/2006/relationships/slideLayout" Target="/ppt/slideLayouts/slideLayout6.xml" Id="R1f1b7a5ab0e748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c4b56f98ad44ba"/>
    <p:sldLayoutId xmlns:r="http://schemas.openxmlformats.org/officeDocument/2006/relationships" id="2147483650" r:id="R1df8d9f875fe4254"/>
    <p:sldLayoutId xmlns:r="http://schemas.openxmlformats.org/officeDocument/2006/relationships" id="2147483651" r:id="R5f2f0edacb0742e6"/>
    <p:sldLayoutId xmlns:r="http://schemas.openxmlformats.org/officeDocument/2006/relationships" id="2147483652" r:id="R93ccc016b0da4934"/>
    <p:sldLayoutId xmlns:r="http://schemas.openxmlformats.org/officeDocument/2006/relationships" id="2147483653" r:id="R443eb8529da74389"/>
    <p:sldLayoutId xmlns:r="http://schemas.openxmlformats.org/officeDocument/2006/relationships" id="2147483654" r:id="R1f1b7a5ab0e748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199d0471b994ae4" /><Relationship Type="http://schemas.openxmlformats.org/officeDocument/2006/relationships/notesSlide" Target="/ppt/notesSlides/notesSlide1.xml" Id="R2e8bfd6169b541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333cbb4ff614832" /><Relationship Type="http://schemas.openxmlformats.org/officeDocument/2006/relationships/notesSlide" Target="/ppt/notesSlides/notesSlide2.xml" Id="R0f3df2932d694a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3e0e22fee014836" /><Relationship Type="http://schemas.openxmlformats.org/officeDocument/2006/relationships/notesSlide" Target="/ppt/notesSlides/notesSlide3.xml" Id="R2ae65198446d4d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88bd31782cf4401" /><Relationship Type="http://schemas.openxmlformats.org/officeDocument/2006/relationships/image" Target="/ppt/media/image.png" Id="R25a630cae02c4134" /><Relationship Type="http://schemas.openxmlformats.org/officeDocument/2006/relationships/notesSlide" Target="/ppt/notesSlides/notesSlide4.xml" Id="Rae46cd6f0ee94f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f2953cbfa12484d" /><Relationship Type="http://schemas.openxmlformats.org/officeDocument/2006/relationships/notesSlide" Target="/ppt/notesSlides/notesSlide5.xml" Id="Ra9e06ccf79854f4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3ea0a88322f4be3" /><Relationship Type="http://schemas.openxmlformats.org/officeDocument/2006/relationships/image" Target="/ppt/media/image2.png" Id="Rd9534f64d57a4ff6" /><Relationship Type="http://schemas.openxmlformats.org/officeDocument/2006/relationships/notesSlide" Target="/ppt/notesSlides/notesSlide6.xml" Id="R51d0ffe89b7a40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9127cb901cc4fef" /><Relationship Type="http://schemas.openxmlformats.org/officeDocument/2006/relationships/notesSlide" Target="/ppt/notesSlides/notesSlide7.xml" Id="R687fb58f521d49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31c11975e0f46b7" /><Relationship Type="http://schemas.openxmlformats.org/officeDocument/2006/relationships/image" Target="/ppt/media/image3.png" Id="Rc11354bae7594228" /><Relationship Type="http://schemas.openxmlformats.org/officeDocument/2006/relationships/notesSlide" Target="/ppt/notesSlides/notesSlide8.xml" Id="R4c7c684fd415432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6e05a1a24194390" /><Relationship Type="http://schemas.openxmlformats.org/officeDocument/2006/relationships/image" Target="/ppt/media/image3.png" Id="Rdd9d0d642a2e440a" /><Relationship Type="http://schemas.openxmlformats.org/officeDocument/2006/relationships/notesSlide" Target="/ppt/notesSlides/notesSlide9.xml" Id="Refc184c7aec345b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fa99bc2a6e24436" /><Relationship Type="http://schemas.openxmlformats.org/officeDocument/2006/relationships/image" Target="/ppt/media/image2.png" Id="R9b3852fa26dd4ee5" /><Relationship Type="http://schemas.openxmlformats.org/officeDocument/2006/relationships/notesSlide" Target="/ppt/notesSlides/notesSlide10.xml" Id="R3200663180ab47a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2f0b17acaf84817" /><Relationship Type="http://schemas.openxmlformats.org/officeDocument/2006/relationships/image" Target="/ppt/media/image4.png" Id="R2f2d834b0b234fc7" /><Relationship Type="http://schemas.openxmlformats.org/officeDocument/2006/relationships/notesSlide" Target="/ppt/notesSlides/notesSlide11.xml" Id="R10bdbc909f614ae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b6bc60b84684ae0" /><Relationship Type="http://schemas.openxmlformats.org/officeDocument/2006/relationships/image" Target="/ppt/media/image2.png" Id="Rafae1197fe934808" /><Relationship Type="http://schemas.openxmlformats.org/officeDocument/2006/relationships/notesSlide" Target="/ppt/notesSlides/notesSlide12.xml" Id="Rc1e6893ea00142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ed206f4fda14313" /><Relationship Type="http://schemas.openxmlformats.org/officeDocument/2006/relationships/notesSlide" Target="/ppt/notesSlides/notesSlide13.xml" Id="R35e0bf6bfa50495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9ffacd547354593" /><Relationship Type="http://schemas.openxmlformats.org/officeDocument/2006/relationships/image" Target="/ppt/media/image5.png" Id="Ra1ee76c16c1c4506" /><Relationship Type="http://schemas.openxmlformats.org/officeDocument/2006/relationships/notesSlide" Target="/ppt/notesSlides/notesSlide14.xml" Id="R5fa3bdd2e23a4ef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464572cb0264ba2" /><Relationship Type="http://schemas.openxmlformats.org/officeDocument/2006/relationships/image" Target="/ppt/media/image6.png" Id="R8852e71128db41e3" /><Relationship Type="http://schemas.openxmlformats.org/officeDocument/2006/relationships/notesSlide" Target="/ppt/notesSlides/notesSlide15.xml" Id="R21e627d3bd214b7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b727a27ff79407d" /><Relationship Type="http://schemas.openxmlformats.org/officeDocument/2006/relationships/image" Target="/ppt/media/image7.png" Id="Ra41abc364f4e41c3" /><Relationship Type="http://schemas.openxmlformats.org/officeDocument/2006/relationships/notesSlide" Target="/ppt/notesSlides/notesSlide16.xml" Id="Rfa80bdbaebce465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712918d65df4dd5" /><Relationship Type="http://schemas.openxmlformats.org/officeDocument/2006/relationships/notesSlide" Target="/ppt/notesSlides/notesSlide17.xml" Id="R6361940f64a14e6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87a5ebdfd564627" /><Relationship Type="http://schemas.openxmlformats.org/officeDocument/2006/relationships/image" Target="/ppt/media/image8.png" Id="R29e2ddb260bf458f" /><Relationship Type="http://schemas.openxmlformats.org/officeDocument/2006/relationships/notesSlide" Target="/ppt/notesSlides/notesSlide18.xml" Id="R65b73fa8d4a2414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577f3059380436a" /><Relationship Type="http://schemas.openxmlformats.org/officeDocument/2006/relationships/image" Target="/ppt/media/image9.png" Id="R6d375c7270334ccb" /><Relationship Type="http://schemas.openxmlformats.org/officeDocument/2006/relationships/notesSlide" Target="/ppt/notesSlides/notesSlide19.xml" Id="Rfdad3a83351d457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3c4bbcf0baa4922" /><Relationship Type="http://schemas.openxmlformats.org/officeDocument/2006/relationships/notesSlide" Target="/ppt/notesSlides/notesSlide20.xml" Id="R678ef055534d446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ebf2c2b81f64205" /><Relationship Type="http://schemas.openxmlformats.org/officeDocument/2006/relationships/notesSlide" Target="/ppt/notesSlides/notesSlide21.xml" Id="R7dc6c955b36a4a6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ee19ebd5cee4406" /><Relationship Type="http://schemas.openxmlformats.org/officeDocument/2006/relationships/notesSlide" Target="/ppt/notesSlides/notesSlide22.xml" Id="R3159175c28c04420" /></Relationships>
</file>

<file path=ppt/slides/slide1.xml><?xml version="1.0" encoding="utf-8"?>
<p:sld xmlns:p="http://schemas.openxmlformats.org/presentationml/2006/main">
  <p:cSld>
    <p:bg>
      <p:bgPr>
        <a:solidFill xmlns:a="http://schemas.openxmlformats.org/drawingml/2006/main">
          <a:srgbClr val="243A50"/>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0EB20424-82E4-4718-AC24-7B235F732F6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7DBD1"/>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C67C1676-150B-4B34-BD0E-E88DDBDCB502}"/>
              </a:ext>
            </a:extLst>
          </p:cNvPr>
          <p:cNvSpPr>
            <a:spLocks xmlns:a="http://schemas.openxmlformats.org/drawingml/2006/main" noGrp="1"/>
          </p:cNvSpPr>
          <p:nvPr/>
        </p:nvSpPr>
        <p:spPr>
          <a:xfrm xmlns:a="http://schemas.openxmlformats.org/drawingml/2006/main">
            <a:off x="742950" y="7429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00" b="1">
                <a:solidFill>
                  <a:srgbClr val="C7DBD1"/>
                </a:solidFill>
                <a:latin typeface="Helvetica Neue"/>
                <a:ea typeface="Helvetica Neue"/>
                <a:cs typeface="Helvetica Neue"/>
              </a:defRPr>
            </a:defPPr>
            <a:lvl1pPr algn="l">
              <a:buNone/>
              <a:defRPr sz="1200" b="1">
                <a:solidFill>
                  <a:srgbClr val="C7DBD1"/>
                </a:solidFill>
                <a:latin typeface="Helvetica Neue"/>
                <a:ea typeface="Helvetica Neue"/>
                <a:cs typeface="Helvetica Neue"/>
              </a:defRPr>
            </a:lvl1pPr>
            <a:lvl2pPr algn="l">
              <a:buNone/>
              <a:defRPr sz="1200" b="1">
                <a:solidFill>
                  <a:srgbClr val="C7DBD1"/>
                </a:solidFill>
                <a:latin typeface="Helvetica Neue"/>
                <a:ea typeface="Helvetica Neue"/>
                <a:cs typeface="Helvetica Neue"/>
              </a:defRPr>
            </a:lvl2pPr>
            <a:lvl3pPr algn="l">
              <a:buNone/>
              <a:defRPr sz="1200" b="1">
                <a:solidFill>
                  <a:srgbClr val="C7DBD1"/>
                </a:solidFill>
                <a:latin typeface="Helvetica Neue"/>
                <a:ea typeface="Helvetica Neue"/>
                <a:cs typeface="Helvetica Neue"/>
              </a:defRPr>
            </a:lvl3pPr>
            <a:lvl4pPr algn="l">
              <a:buNone/>
              <a:defRPr sz="1200" b="1">
                <a:solidFill>
                  <a:srgbClr val="C7DBD1"/>
                </a:solidFill>
                <a:latin typeface="Helvetica Neue"/>
                <a:ea typeface="Helvetica Neue"/>
                <a:cs typeface="Helvetica Neue"/>
              </a:defRPr>
            </a:lvl4pPr>
            <a:lvl5pPr algn="l">
              <a:buNone/>
              <a:defRPr sz="1200" b="1">
                <a:solidFill>
                  <a:srgbClr val="C7DBD1"/>
                </a:solidFill>
                <a:latin typeface="Helvetica Neue"/>
                <a:ea typeface="Helvetica Neue"/>
                <a:cs typeface="Helvetica Neue"/>
              </a:defRPr>
            </a:lvl5pPr>
            <a:lvl6pPr algn="l">
              <a:buNone/>
              <a:defRPr sz="1200" b="1">
                <a:solidFill>
                  <a:srgbClr val="C7DBD1"/>
                </a:solidFill>
                <a:latin typeface="Helvetica Neue"/>
                <a:ea typeface="Helvetica Neue"/>
                <a:cs typeface="Helvetica Neue"/>
              </a:defRPr>
            </a:lvl6pPr>
            <a:lvl7pPr algn="l">
              <a:buNone/>
              <a:defRPr sz="1200" b="1">
                <a:solidFill>
                  <a:srgbClr val="C7DBD1"/>
                </a:solidFill>
                <a:latin typeface="Helvetica Neue"/>
                <a:ea typeface="Helvetica Neue"/>
                <a:cs typeface="Helvetica Neue"/>
              </a:defRPr>
            </a:lvl7pPr>
            <a:lvl8pPr algn="l">
              <a:buNone/>
              <a:defRPr sz="1200" b="1">
                <a:solidFill>
                  <a:srgbClr val="C7DBD1"/>
                </a:solidFill>
                <a:latin typeface="Helvetica Neue"/>
                <a:ea typeface="Helvetica Neue"/>
                <a:cs typeface="Helvetica Neue"/>
              </a:defRPr>
            </a:lvl8pPr>
            <a:lvl9pPr algn="l">
              <a:buNone/>
              <a:defRPr sz="1200" b="1">
                <a:solidFill>
                  <a:srgbClr val="C7DBD1"/>
                </a:solidFill>
                <a:latin typeface="Helvetica Neue"/>
                <a:ea typeface="Helvetica Neue"/>
                <a:cs typeface="Helvetica Neue"/>
              </a:defRPr>
            </a:lvl9pPr>
          </a:lstStyle>
          <a:p xmlns:a="http://schemas.openxmlformats.org/drawingml/2006/main">
            <a:pPr algn="l">
              <a:buNone/>
              <a:defRPr sz="1200" b="1">
                <a:solidFill>
                  <a:srgbClr val="C7DBD1"/>
                </a:solidFill>
                <a:latin typeface="Helvetica Neue"/>
                <a:ea typeface="Helvetica Neue"/>
                <a:cs typeface="Helvetica Neue"/>
              </a:defRPr>
            </a:pPr>
            <a:r>
              <a:rPr sz="1200" b="1">
                <a:solidFill>
                  <a:srgbClr val="C7DBD1"/>
                </a:solidFill>
                <a:latin typeface="Helvetica Neue"/>
                <a:ea typeface="Helvetica Neue"/>
                <a:cs typeface="Helvetica Neue"/>
              </a:rPr>
              <a:t>PROJECT 9  /  PHASE 1</a:t>
            </a:r>
          </a:p>
        </p:txBody>
      </p:sp>
      <p:sp>
        <p:nvSpPr>
          <p:cNvPr id="3" name="Rectangle 2">
            <a:extLst xmlns:a="http://schemas.openxmlformats.org/drawingml/2006/main">
              <a:ext uri="{FF2B5EF4-FFF2-40B4-BE49-F238E27FC236}">
                <a16:creationId xmlns:a16="http://schemas.microsoft.com/office/drawing/2014/main" id="{9E0514A0-3FD9-4B26-B7BB-FBDA027FECB7}"/>
              </a:ext>
            </a:extLst>
          </p:cNvPr>
          <p:cNvSpPr>
            <a:spLocks xmlns:a="http://schemas.openxmlformats.org/drawingml/2006/main" noGrp="1"/>
          </p:cNvSpPr>
          <p:nvPr/>
        </p:nvSpPr>
        <p:spPr>
          <a:xfrm xmlns:a="http://schemas.openxmlformats.org/drawingml/2006/main">
            <a:off x="742950" y="1390650"/>
            <a:ext cx="5905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4050" b="1">
                <a:solidFill>
                  <a:srgbClr val="FFFFFF"/>
                </a:solidFill>
                <a:latin typeface="Helvetica Neue"/>
                <a:ea typeface="Helvetica Neue"/>
                <a:cs typeface="Helvetica Neue"/>
              </a:defRPr>
            </a:defPPr>
            <a:lvl1pPr algn="l">
              <a:buNone/>
              <a:defRPr sz="4050" b="1">
                <a:solidFill>
                  <a:srgbClr val="FFFFFF"/>
                </a:solidFill>
                <a:latin typeface="Helvetica Neue"/>
                <a:ea typeface="Helvetica Neue"/>
                <a:cs typeface="Helvetica Neue"/>
              </a:defRPr>
            </a:lvl1pPr>
            <a:lvl2pPr algn="l">
              <a:buNone/>
              <a:defRPr sz="4050" b="1">
                <a:solidFill>
                  <a:srgbClr val="FFFFFF"/>
                </a:solidFill>
                <a:latin typeface="Helvetica Neue"/>
                <a:ea typeface="Helvetica Neue"/>
                <a:cs typeface="Helvetica Neue"/>
              </a:defRPr>
            </a:lvl2pPr>
            <a:lvl3pPr algn="l">
              <a:buNone/>
              <a:defRPr sz="4050" b="1">
                <a:solidFill>
                  <a:srgbClr val="FFFFFF"/>
                </a:solidFill>
                <a:latin typeface="Helvetica Neue"/>
                <a:ea typeface="Helvetica Neue"/>
                <a:cs typeface="Helvetica Neue"/>
              </a:defRPr>
            </a:lvl3pPr>
            <a:lvl4pPr algn="l">
              <a:buNone/>
              <a:defRPr sz="4050" b="1">
                <a:solidFill>
                  <a:srgbClr val="FFFFFF"/>
                </a:solidFill>
                <a:latin typeface="Helvetica Neue"/>
                <a:ea typeface="Helvetica Neue"/>
                <a:cs typeface="Helvetica Neue"/>
              </a:defRPr>
            </a:lvl4pPr>
            <a:lvl5pPr algn="l">
              <a:buNone/>
              <a:defRPr sz="4050" b="1">
                <a:solidFill>
                  <a:srgbClr val="FFFFFF"/>
                </a:solidFill>
                <a:latin typeface="Helvetica Neue"/>
                <a:ea typeface="Helvetica Neue"/>
                <a:cs typeface="Helvetica Neue"/>
              </a:defRPr>
            </a:lvl5pPr>
            <a:lvl6pPr algn="l">
              <a:buNone/>
              <a:defRPr sz="4050" b="1">
                <a:solidFill>
                  <a:srgbClr val="FFFFFF"/>
                </a:solidFill>
                <a:latin typeface="Helvetica Neue"/>
                <a:ea typeface="Helvetica Neue"/>
                <a:cs typeface="Helvetica Neue"/>
              </a:defRPr>
            </a:lvl6pPr>
            <a:lvl7pPr algn="l">
              <a:buNone/>
              <a:defRPr sz="4050" b="1">
                <a:solidFill>
                  <a:srgbClr val="FFFFFF"/>
                </a:solidFill>
                <a:latin typeface="Helvetica Neue"/>
                <a:ea typeface="Helvetica Neue"/>
                <a:cs typeface="Helvetica Neue"/>
              </a:defRPr>
            </a:lvl7pPr>
            <a:lvl8pPr algn="l">
              <a:buNone/>
              <a:defRPr sz="4050" b="1">
                <a:solidFill>
                  <a:srgbClr val="FFFFFF"/>
                </a:solidFill>
                <a:latin typeface="Helvetica Neue"/>
                <a:ea typeface="Helvetica Neue"/>
                <a:cs typeface="Helvetica Neue"/>
              </a:defRPr>
            </a:lvl8pPr>
            <a:lvl9pPr algn="l">
              <a:buNone/>
              <a:defRPr sz="4050" b="1">
                <a:solidFill>
                  <a:srgbClr val="FFFFFF"/>
                </a:solidFill>
                <a:latin typeface="Helvetica Neue"/>
                <a:ea typeface="Helvetica Neue"/>
                <a:cs typeface="Helvetica Neue"/>
              </a:defRPr>
            </a:lvl9pPr>
          </a:lstStyle>
          <a:p xmlns:a="http://schemas.openxmlformats.org/drawingml/2006/main">
            <a:pPr algn="l">
              <a:buNone/>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Indoor location</a:t>
            </a:r>
          </a:p>
          <a:p xmlns:a="http://schemas.openxmlformats.org/drawingml/2006/main">
            <a:pPr algn="l">
              <a:buNone/>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prediction from</a:t>
            </a:r>
          </a:p>
          <a:p xmlns:a="http://schemas.openxmlformats.org/drawingml/2006/main">
            <a:pPr algn="l">
              <a:buNone/>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Wi-Fi signals</a:t>
            </a:r>
          </a:p>
        </p:txBody>
      </p:sp>
      <p:sp>
        <p:nvSpPr>
          <p:cNvPr id="4" name="Rectangle 3">
            <a:extLst xmlns:a="http://schemas.openxmlformats.org/drawingml/2006/main">
              <a:ext uri="{FF2B5EF4-FFF2-40B4-BE49-F238E27FC236}">
                <a16:creationId xmlns:a16="http://schemas.microsoft.com/office/drawing/2014/main" id="{97E3FE87-769F-4172-BF1D-0B0F2FB332DC}"/>
              </a:ext>
            </a:extLst>
          </p:cNvPr>
          <p:cNvSpPr>
            <a:spLocks xmlns:a="http://schemas.openxmlformats.org/drawingml/2006/main" noGrp="1"/>
          </p:cNvSpPr>
          <p:nvPr/>
        </p:nvSpPr>
        <p:spPr>
          <a:xfrm xmlns:a="http://schemas.openxmlformats.org/drawingml/2006/main">
            <a:off x="781050" y="3981450"/>
            <a:ext cx="619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defPPr algn="l">
              <a:defRPr sz="1800" b="0">
                <a:solidFill>
                  <a:srgbClr val="D2DEE5"/>
                </a:solidFill>
                <a:latin typeface="Helvetica Neue"/>
                <a:ea typeface="Helvetica Neue"/>
                <a:cs typeface="Helvetica Neue"/>
              </a:defRPr>
            </a:defPPr>
            <a:lvl1pPr algn="l">
              <a:buNone/>
              <a:defRPr sz="1800" b="0">
                <a:solidFill>
                  <a:srgbClr val="D2DEE5"/>
                </a:solidFill>
                <a:latin typeface="Helvetica Neue"/>
                <a:ea typeface="Helvetica Neue"/>
                <a:cs typeface="Helvetica Neue"/>
              </a:defRPr>
            </a:lvl1pPr>
            <a:lvl2pPr algn="l">
              <a:buNone/>
              <a:defRPr sz="1800" b="0">
                <a:solidFill>
                  <a:srgbClr val="D2DEE5"/>
                </a:solidFill>
                <a:latin typeface="Helvetica Neue"/>
                <a:ea typeface="Helvetica Neue"/>
                <a:cs typeface="Helvetica Neue"/>
              </a:defRPr>
            </a:lvl2pPr>
            <a:lvl3pPr algn="l">
              <a:buNone/>
              <a:defRPr sz="1800" b="0">
                <a:solidFill>
                  <a:srgbClr val="D2DEE5"/>
                </a:solidFill>
                <a:latin typeface="Helvetica Neue"/>
                <a:ea typeface="Helvetica Neue"/>
                <a:cs typeface="Helvetica Neue"/>
              </a:defRPr>
            </a:lvl3pPr>
            <a:lvl4pPr algn="l">
              <a:buNone/>
              <a:defRPr sz="1800" b="0">
                <a:solidFill>
                  <a:srgbClr val="D2DEE5"/>
                </a:solidFill>
                <a:latin typeface="Helvetica Neue"/>
                <a:ea typeface="Helvetica Neue"/>
                <a:cs typeface="Helvetica Neue"/>
              </a:defRPr>
            </a:lvl4pPr>
            <a:lvl5pPr algn="l">
              <a:buNone/>
              <a:defRPr sz="1800" b="0">
                <a:solidFill>
                  <a:srgbClr val="D2DEE5"/>
                </a:solidFill>
                <a:latin typeface="Helvetica Neue"/>
                <a:ea typeface="Helvetica Neue"/>
                <a:cs typeface="Helvetica Neue"/>
              </a:defRPr>
            </a:lvl5pPr>
            <a:lvl6pPr algn="l">
              <a:buNone/>
              <a:defRPr sz="1800" b="0">
                <a:solidFill>
                  <a:srgbClr val="D2DEE5"/>
                </a:solidFill>
                <a:latin typeface="Helvetica Neue"/>
                <a:ea typeface="Helvetica Neue"/>
                <a:cs typeface="Helvetica Neue"/>
              </a:defRPr>
            </a:lvl6pPr>
            <a:lvl7pPr algn="l">
              <a:buNone/>
              <a:defRPr sz="1800" b="0">
                <a:solidFill>
                  <a:srgbClr val="D2DEE5"/>
                </a:solidFill>
                <a:latin typeface="Helvetica Neue"/>
                <a:ea typeface="Helvetica Neue"/>
                <a:cs typeface="Helvetica Neue"/>
              </a:defRPr>
            </a:lvl7pPr>
            <a:lvl8pPr algn="l">
              <a:buNone/>
              <a:defRPr sz="1800" b="0">
                <a:solidFill>
                  <a:srgbClr val="D2DEE5"/>
                </a:solidFill>
                <a:latin typeface="Helvetica Neue"/>
                <a:ea typeface="Helvetica Neue"/>
                <a:cs typeface="Helvetica Neue"/>
              </a:defRPr>
            </a:lvl8pPr>
            <a:lvl9pPr algn="l">
              <a:buNone/>
              <a:defRPr sz="1800" b="0">
                <a:solidFill>
                  <a:srgbClr val="D2DEE5"/>
                </a:solidFill>
                <a:latin typeface="Helvetica Neue"/>
                <a:ea typeface="Helvetica Neue"/>
                <a:cs typeface="Helvetica Neue"/>
              </a:defRPr>
            </a:lvl9pPr>
          </a:lstStyle>
          <a:p xmlns:a="http://schemas.openxmlformats.org/drawingml/2006/main">
            <a:pPr algn="l">
              <a:buNone/>
              <a:defRPr sz="1800" b="0">
                <a:solidFill>
                  <a:srgbClr val="D2DEE5"/>
                </a:solidFill>
                <a:latin typeface="Helvetica Neue"/>
                <a:ea typeface="Helvetica Neue"/>
                <a:cs typeface="Helvetica Neue"/>
              </a:defRPr>
            </a:pPr>
            <a:r>
              <a:rPr sz="1800" b="0">
                <a:solidFill>
                  <a:srgbClr val="D2DEE5"/>
                </a:solidFill>
                <a:latin typeface="Helvetica Neue"/>
                <a:ea typeface="Helvetica Neue"/>
                <a:cs typeface="Helvetica Neue"/>
              </a:rPr>
              <a:t>A visual walkthrough of the AML project and its five workstreams</a:t>
            </a:r>
          </a:p>
        </p:txBody>
      </p:sp>
      <p:sp>
        <p:nvSpPr>
          <p:cNvPr id="5" name="Oval 4">
            <a:extLst xmlns:a="http://schemas.openxmlformats.org/drawingml/2006/main">
              <a:ext uri="{FF2B5EF4-FFF2-40B4-BE49-F238E27FC236}">
                <a16:creationId xmlns:a16="http://schemas.microsoft.com/office/drawing/2014/main" id="{87703A3A-BEFA-411A-AC0A-706C335587D1}"/>
              </a:ext>
            </a:extLst>
          </p:cNvPr>
          <p:cNvSpPr>
            <a:spLocks xmlns:a="http://schemas.openxmlformats.org/drawingml/2006/main" noGrp="1"/>
          </p:cNvSpPr>
          <p:nvPr/>
        </p:nvSpPr>
        <p:spPr>
          <a:xfrm xmlns:a="http://schemas.openxmlformats.org/drawingml/2006/main">
            <a:off x="8191500" y="1428750"/>
            <a:ext cx="2571750" cy="2571750"/>
          </a:xfrm>
          <a:prstGeom xmlns:a="http://schemas.openxmlformats.org/drawingml/2006/main" prst="ellipse">
            <a:avLst/>
          </a:prstGeom>
          <a:noFill xmlns:a="http://schemas.openxmlformats.org/drawingml/2006/main"/>
          <a:ln xmlns:a="http://schemas.openxmlformats.org/drawingml/2006/main" w="28575">
            <a:solidFill>
              <a:srgbClr val="75968E"/>
            </a:solidFill>
            <a:prstDash val="solid"/>
          </a:ln>
        </p:spPr>
      </p:sp>
      <p:sp>
        <p:nvSpPr>
          <p:cNvPr id="6" name="Oval 5">
            <a:extLst xmlns:a="http://schemas.openxmlformats.org/drawingml/2006/main">
              <a:ext uri="{FF2B5EF4-FFF2-40B4-BE49-F238E27FC236}">
                <a16:creationId xmlns:a16="http://schemas.microsoft.com/office/drawing/2014/main" id="{7F2A8234-4C16-4E04-A83F-21B7AE7F093F}"/>
              </a:ext>
            </a:extLst>
          </p:cNvPr>
          <p:cNvSpPr>
            <a:spLocks xmlns:a="http://schemas.openxmlformats.org/drawingml/2006/main" noGrp="1"/>
          </p:cNvSpPr>
          <p:nvPr/>
        </p:nvSpPr>
        <p:spPr>
          <a:xfrm xmlns:a="http://schemas.openxmlformats.org/drawingml/2006/main">
            <a:off x="8572500" y="1809750"/>
            <a:ext cx="1809750" cy="1809750"/>
          </a:xfrm>
          <a:prstGeom xmlns:a="http://schemas.openxmlformats.org/drawingml/2006/main" prst="ellipse">
            <a:avLst/>
          </a:prstGeom>
          <a:noFill xmlns:a="http://schemas.openxmlformats.org/drawingml/2006/main"/>
          <a:ln xmlns:a="http://schemas.openxmlformats.org/drawingml/2006/main" w="28575">
            <a:solidFill>
              <a:srgbClr val="9CB8AF"/>
            </a:solidFill>
            <a:prstDash val="solid"/>
          </a:ln>
        </p:spPr>
      </p:sp>
      <p:sp>
        <p:nvSpPr>
          <p:cNvPr id="7" name="Oval 6">
            <a:extLst xmlns:a="http://schemas.openxmlformats.org/drawingml/2006/main">
              <a:ext uri="{FF2B5EF4-FFF2-40B4-BE49-F238E27FC236}">
                <a16:creationId xmlns:a16="http://schemas.microsoft.com/office/drawing/2014/main" id="{2E6D24CB-2ECB-4677-9547-A64DA1D42E46}"/>
              </a:ext>
            </a:extLst>
          </p:cNvPr>
          <p:cNvSpPr>
            <a:spLocks xmlns:a="http://schemas.openxmlformats.org/drawingml/2006/main" noGrp="1"/>
          </p:cNvSpPr>
          <p:nvPr/>
        </p:nvSpPr>
        <p:spPr>
          <a:xfrm xmlns:a="http://schemas.openxmlformats.org/drawingml/2006/main">
            <a:off x="8943975" y="2181225"/>
            <a:ext cx="1066800" cy="1066800"/>
          </a:xfrm>
          <a:prstGeom xmlns:a="http://schemas.openxmlformats.org/drawingml/2006/main" prst="ellipse">
            <a:avLst/>
          </a:prstGeom>
          <a:noFill xmlns:a="http://schemas.openxmlformats.org/drawingml/2006/main"/>
          <a:ln xmlns:a="http://schemas.openxmlformats.org/drawingml/2006/main" w="28575">
            <a:solidFill>
              <a:srgbClr val="C7DBD1"/>
            </a:solidFill>
            <a:prstDash val="solid"/>
          </a:ln>
        </p:spPr>
      </p:sp>
      <p:sp>
        <p:nvSpPr>
          <p:cNvPr id="8" name="Oval 7">
            <a:extLst xmlns:a="http://schemas.openxmlformats.org/drawingml/2006/main">
              <a:ext uri="{FF2B5EF4-FFF2-40B4-BE49-F238E27FC236}">
                <a16:creationId xmlns:a16="http://schemas.microsoft.com/office/drawing/2014/main" id="{D0E84E1E-8A98-477D-A135-BACADEFE7051}"/>
              </a:ext>
            </a:extLst>
          </p:cNvPr>
          <p:cNvSpPr>
            <a:spLocks xmlns:a="http://schemas.openxmlformats.org/drawingml/2006/main" noGrp="1"/>
          </p:cNvSpPr>
          <p:nvPr/>
        </p:nvSpPr>
        <p:spPr>
          <a:xfrm xmlns:a="http://schemas.openxmlformats.org/drawingml/2006/main">
            <a:off x="9353550" y="2590800"/>
            <a:ext cx="247650" cy="247650"/>
          </a:xfrm>
          <a:prstGeom xmlns:a="http://schemas.openxmlformats.org/drawingml/2006/main" prst="ellipse">
            <a:avLst/>
          </a:prstGeom>
          <a:solidFill xmlns:a="http://schemas.openxmlformats.org/drawingml/2006/main">
            <a:srgbClr val="C7DBD1"/>
          </a:solidFill>
          <a:ln xmlns:a="http://schemas.openxmlformats.org/drawingml/2006/main" w="0">
            <a:noFill/>
            <a:prstDash val="solid"/>
          </a:ln>
        </p:spPr>
      </p:sp>
      <p:sp>
        <p:nvSpPr>
          <p:cNvPr id="9" name="Rectangle 8">
            <a:extLst xmlns:a="http://schemas.openxmlformats.org/drawingml/2006/main">
              <a:ext uri="{FF2B5EF4-FFF2-40B4-BE49-F238E27FC236}">
                <a16:creationId xmlns:a16="http://schemas.microsoft.com/office/drawing/2014/main" id="{39D88778-9899-4BBE-9384-E2EEAF270F61}"/>
              </a:ext>
            </a:extLst>
          </p:cNvPr>
          <p:cNvSpPr>
            <a:spLocks xmlns:a="http://schemas.openxmlformats.org/drawingml/2006/main" noGrp="1"/>
          </p:cNvSpPr>
          <p:nvPr/>
        </p:nvSpPr>
        <p:spPr>
          <a:xfrm xmlns:a="http://schemas.openxmlformats.org/drawingml/2006/main">
            <a:off x="7524750" y="4410075"/>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500" b="1">
                <a:solidFill>
                  <a:srgbClr val="FFFFFF"/>
                </a:solidFill>
                <a:latin typeface="Helvetica Neue"/>
                <a:ea typeface="Helvetica Neue"/>
                <a:cs typeface="Helvetica Neue"/>
              </a:defRPr>
            </a:defPPr>
            <a:lvl1pPr algn="ctr">
              <a:buNone/>
              <a:defRPr sz="1500" b="1">
                <a:solidFill>
                  <a:srgbClr val="FFFFFF"/>
                </a:solidFill>
                <a:latin typeface="Helvetica Neue"/>
                <a:ea typeface="Helvetica Neue"/>
                <a:cs typeface="Helvetica Neue"/>
              </a:defRPr>
            </a:lvl1pPr>
            <a:lvl2pPr algn="ctr">
              <a:buNone/>
              <a:defRPr sz="1500" b="1">
                <a:solidFill>
                  <a:srgbClr val="FFFFFF"/>
                </a:solidFill>
                <a:latin typeface="Helvetica Neue"/>
                <a:ea typeface="Helvetica Neue"/>
                <a:cs typeface="Helvetica Neue"/>
              </a:defRPr>
            </a:lvl2pPr>
            <a:lvl3pPr algn="ctr">
              <a:buNone/>
              <a:defRPr sz="1500" b="1">
                <a:solidFill>
                  <a:srgbClr val="FFFFFF"/>
                </a:solidFill>
                <a:latin typeface="Helvetica Neue"/>
                <a:ea typeface="Helvetica Neue"/>
                <a:cs typeface="Helvetica Neue"/>
              </a:defRPr>
            </a:lvl3pPr>
            <a:lvl4pPr algn="ctr">
              <a:buNone/>
              <a:defRPr sz="1500" b="1">
                <a:solidFill>
                  <a:srgbClr val="FFFFFF"/>
                </a:solidFill>
                <a:latin typeface="Helvetica Neue"/>
                <a:ea typeface="Helvetica Neue"/>
                <a:cs typeface="Helvetica Neue"/>
              </a:defRPr>
            </a:lvl4pPr>
            <a:lvl5pPr algn="ctr">
              <a:buNone/>
              <a:defRPr sz="1500" b="1">
                <a:solidFill>
                  <a:srgbClr val="FFFFFF"/>
                </a:solidFill>
                <a:latin typeface="Helvetica Neue"/>
                <a:ea typeface="Helvetica Neue"/>
                <a:cs typeface="Helvetica Neue"/>
              </a:defRPr>
            </a:lvl5pPr>
            <a:lvl6pPr algn="ctr">
              <a:buNone/>
              <a:defRPr sz="1500" b="1">
                <a:solidFill>
                  <a:srgbClr val="FFFFFF"/>
                </a:solidFill>
                <a:latin typeface="Helvetica Neue"/>
                <a:ea typeface="Helvetica Neue"/>
                <a:cs typeface="Helvetica Neue"/>
              </a:defRPr>
            </a:lvl6pPr>
            <a:lvl7pPr algn="ctr">
              <a:buNone/>
              <a:defRPr sz="1500" b="1">
                <a:solidFill>
                  <a:srgbClr val="FFFFFF"/>
                </a:solidFill>
                <a:latin typeface="Helvetica Neue"/>
                <a:ea typeface="Helvetica Neue"/>
                <a:cs typeface="Helvetica Neue"/>
              </a:defRPr>
            </a:lvl7pPr>
            <a:lvl8pPr algn="ctr">
              <a:buNone/>
              <a:defRPr sz="1500" b="1">
                <a:solidFill>
                  <a:srgbClr val="FFFFFF"/>
                </a:solidFill>
                <a:latin typeface="Helvetica Neue"/>
                <a:ea typeface="Helvetica Neue"/>
                <a:cs typeface="Helvetica Neue"/>
              </a:defRPr>
            </a:lvl8pPr>
            <a:lvl9pPr algn="ctr">
              <a:buNone/>
              <a:defRPr sz="1500" b="1">
                <a:solidFill>
                  <a:srgbClr val="FFFFFF"/>
                </a:solidFill>
                <a:latin typeface="Helvetica Neue"/>
                <a:ea typeface="Helvetica Neue"/>
                <a:cs typeface="Helvetica Neue"/>
              </a:defRPr>
            </a:lvl9pPr>
          </a:lstStyle>
          <a:p xmlns:a="http://schemas.openxmlformats.org/drawingml/2006/main">
            <a:pPr algn="ctr">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Building  ·  Floor  ·  Coordinates</a:t>
            </a:r>
          </a:p>
        </p:txBody>
      </p:sp>
      <p:sp>
        <p:nvSpPr>
          <p:cNvPr id="10" name="Rectangle 9">
            <a:extLst xmlns:a="http://schemas.openxmlformats.org/drawingml/2006/main">
              <a:ext uri="{FF2B5EF4-FFF2-40B4-BE49-F238E27FC236}">
                <a16:creationId xmlns:a16="http://schemas.microsoft.com/office/drawing/2014/main" id="{9F528785-6D9F-4031-9A02-99BBF6D1CEB7}"/>
              </a:ext>
            </a:extLst>
          </p:cNvPr>
          <p:cNvSpPr>
            <a:spLocks xmlns:a="http://schemas.openxmlformats.org/drawingml/2006/main" noGrp="1"/>
          </p:cNvSpPr>
          <p:nvPr/>
        </p:nvSpPr>
        <p:spPr>
          <a:xfrm xmlns:a="http://schemas.openxmlformats.org/drawingml/2006/main">
            <a:off x="781050" y="6019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00" b="0">
                <a:solidFill>
                  <a:srgbClr val="C1CED7"/>
                </a:solidFill>
                <a:latin typeface="Helvetica Neue"/>
                <a:ea typeface="Helvetica Neue"/>
                <a:cs typeface="Helvetica Neue"/>
              </a:defRPr>
            </a:defPPr>
            <a:lvl1pPr algn="l">
              <a:buNone/>
              <a:defRPr sz="1200" b="0">
                <a:solidFill>
                  <a:srgbClr val="C1CED7"/>
                </a:solidFill>
                <a:latin typeface="Helvetica Neue"/>
                <a:ea typeface="Helvetica Neue"/>
                <a:cs typeface="Helvetica Neue"/>
              </a:defRPr>
            </a:lvl1pPr>
            <a:lvl2pPr algn="l">
              <a:buNone/>
              <a:defRPr sz="1200" b="0">
                <a:solidFill>
                  <a:srgbClr val="C1CED7"/>
                </a:solidFill>
                <a:latin typeface="Helvetica Neue"/>
                <a:ea typeface="Helvetica Neue"/>
                <a:cs typeface="Helvetica Neue"/>
              </a:defRPr>
            </a:lvl2pPr>
            <a:lvl3pPr algn="l">
              <a:buNone/>
              <a:defRPr sz="1200" b="0">
                <a:solidFill>
                  <a:srgbClr val="C1CED7"/>
                </a:solidFill>
                <a:latin typeface="Helvetica Neue"/>
                <a:ea typeface="Helvetica Neue"/>
                <a:cs typeface="Helvetica Neue"/>
              </a:defRPr>
            </a:lvl3pPr>
            <a:lvl4pPr algn="l">
              <a:buNone/>
              <a:defRPr sz="1200" b="0">
                <a:solidFill>
                  <a:srgbClr val="C1CED7"/>
                </a:solidFill>
                <a:latin typeface="Helvetica Neue"/>
                <a:ea typeface="Helvetica Neue"/>
                <a:cs typeface="Helvetica Neue"/>
              </a:defRPr>
            </a:lvl4pPr>
            <a:lvl5pPr algn="l">
              <a:buNone/>
              <a:defRPr sz="1200" b="0">
                <a:solidFill>
                  <a:srgbClr val="C1CED7"/>
                </a:solidFill>
                <a:latin typeface="Helvetica Neue"/>
                <a:ea typeface="Helvetica Neue"/>
                <a:cs typeface="Helvetica Neue"/>
              </a:defRPr>
            </a:lvl5pPr>
            <a:lvl6pPr algn="l">
              <a:buNone/>
              <a:defRPr sz="1200" b="0">
                <a:solidFill>
                  <a:srgbClr val="C1CED7"/>
                </a:solidFill>
                <a:latin typeface="Helvetica Neue"/>
                <a:ea typeface="Helvetica Neue"/>
                <a:cs typeface="Helvetica Neue"/>
              </a:defRPr>
            </a:lvl6pPr>
            <a:lvl7pPr algn="l">
              <a:buNone/>
              <a:defRPr sz="1200" b="0">
                <a:solidFill>
                  <a:srgbClr val="C1CED7"/>
                </a:solidFill>
                <a:latin typeface="Helvetica Neue"/>
                <a:ea typeface="Helvetica Neue"/>
                <a:cs typeface="Helvetica Neue"/>
              </a:defRPr>
            </a:lvl7pPr>
            <a:lvl8pPr algn="l">
              <a:buNone/>
              <a:defRPr sz="1200" b="0">
                <a:solidFill>
                  <a:srgbClr val="C1CED7"/>
                </a:solidFill>
                <a:latin typeface="Helvetica Neue"/>
                <a:ea typeface="Helvetica Neue"/>
                <a:cs typeface="Helvetica Neue"/>
              </a:defRPr>
            </a:lvl8pPr>
            <a:lvl9pPr algn="l">
              <a:buNone/>
              <a:defRPr sz="1200" b="0">
                <a:solidFill>
                  <a:srgbClr val="C1CED7"/>
                </a:solidFill>
                <a:latin typeface="Helvetica Neue"/>
                <a:ea typeface="Helvetica Neue"/>
                <a:cs typeface="Helvetica Neue"/>
              </a:defRPr>
            </a:lvl9pPr>
          </a:lstStyle>
          <a:p xmlns:a="http://schemas.openxmlformats.org/drawingml/2006/main">
            <a:pPr algn="l">
              <a:buNone/>
              <a:defRPr sz="1200" b="0">
                <a:solidFill>
                  <a:srgbClr val="C1CED7"/>
                </a:solidFill>
                <a:latin typeface="Helvetica Neue"/>
                <a:ea typeface="Helvetica Neue"/>
                <a:cs typeface="Helvetica Neue"/>
              </a:defRPr>
            </a:pPr>
            <a:r>
              <a:rPr sz="1200" b="0">
                <a:solidFill>
                  <a:srgbClr val="C1CED7"/>
                </a:solidFill>
                <a:latin typeface="Helvetica Neue"/>
                <a:ea typeface="Helvetica Neue"/>
                <a:cs typeface="Helvetica Neue"/>
              </a:rPr>
              <a:t>Signal2Space</a:t>
            </a:r>
          </a:p>
        </p:txBody>
      </p:sp>
    </p:spTree>
    <p:extLst>
      <p:ext uri="{BB962C8B-B14F-4D97-AF65-F5344CB8AC3E}">
        <p14:creationId xmlns:p14="http://schemas.microsoft.com/office/powerpoint/2010/main" val="881157223"/>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2FA44324-27F7-4D11-A718-02BEDD9D3245}"/>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C7DBD1"/>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95F327D7-D6ED-4377-BEE1-682EA480BDEB}"/>
              </a:ext>
            </a:extLst>
          </p:cNvPr>
          <p:cNvSpPr>
            <a:spLocks xmlns:a="http://schemas.openxmlformats.org/drawingml/2006/main" noGrp="1"/>
          </p:cNvSpPr>
          <p:nvPr/>
        </p:nvSpPr>
        <p:spPr>
          <a:xfrm xmlns:a="http://schemas.openxmlformats.org/drawingml/2006/main">
            <a:off x="609600" y="37147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625" b="1">
                <a:solidFill>
                  <a:srgbClr val="243A50"/>
                </a:solidFill>
                <a:latin typeface="Helvetica Neue"/>
                <a:ea typeface="Helvetica Neue"/>
                <a:cs typeface="Helvetica Neue"/>
              </a:defRPr>
            </a:defPPr>
            <a:lvl1pPr algn="l">
              <a:buNone/>
              <a:defRPr sz="2625" b="1">
                <a:solidFill>
                  <a:srgbClr val="243A50"/>
                </a:solidFill>
                <a:latin typeface="Helvetica Neue"/>
                <a:ea typeface="Helvetica Neue"/>
                <a:cs typeface="Helvetica Neue"/>
              </a:defRPr>
            </a:lvl1pPr>
            <a:lvl2pPr algn="l">
              <a:buNone/>
              <a:defRPr sz="2625" b="1">
                <a:solidFill>
                  <a:srgbClr val="243A50"/>
                </a:solidFill>
                <a:latin typeface="Helvetica Neue"/>
                <a:ea typeface="Helvetica Neue"/>
                <a:cs typeface="Helvetica Neue"/>
              </a:defRPr>
            </a:lvl2pPr>
            <a:lvl3pPr algn="l">
              <a:buNone/>
              <a:defRPr sz="2625" b="1">
                <a:solidFill>
                  <a:srgbClr val="243A50"/>
                </a:solidFill>
                <a:latin typeface="Helvetica Neue"/>
                <a:ea typeface="Helvetica Neue"/>
                <a:cs typeface="Helvetica Neue"/>
              </a:defRPr>
            </a:lvl3pPr>
            <a:lvl4pPr algn="l">
              <a:buNone/>
              <a:defRPr sz="2625" b="1">
                <a:solidFill>
                  <a:srgbClr val="243A50"/>
                </a:solidFill>
                <a:latin typeface="Helvetica Neue"/>
                <a:ea typeface="Helvetica Neue"/>
                <a:cs typeface="Helvetica Neue"/>
              </a:defRPr>
            </a:lvl4pPr>
            <a:lvl5pPr algn="l">
              <a:buNone/>
              <a:defRPr sz="2625" b="1">
                <a:solidFill>
                  <a:srgbClr val="243A50"/>
                </a:solidFill>
                <a:latin typeface="Helvetica Neue"/>
                <a:ea typeface="Helvetica Neue"/>
                <a:cs typeface="Helvetica Neue"/>
              </a:defRPr>
            </a:lvl5pPr>
            <a:lvl6pPr algn="l">
              <a:buNone/>
              <a:defRPr sz="2625" b="1">
                <a:solidFill>
                  <a:srgbClr val="243A50"/>
                </a:solidFill>
                <a:latin typeface="Helvetica Neue"/>
                <a:ea typeface="Helvetica Neue"/>
                <a:cs typeface="Helvetica Neue"/>
              </a:defRPr>
            </a:lvl6pPr>
            <a:lvl7pPr algn="l">
              <a:buNone/>
              <a:defRPr sz="2625" b="1">
                <a:solidFill>
                  <a:srgbClr val="243A50"/>
                </a:solidFill>
                <a:latin typeface="Helvetica Neue"/>
                <a:ea typeface="Helvetica Neue"/>
                <a:cs typeface="Helvetica Neue"/>
              </a:defRPr>
            </a:lvl7pPr>
            <a:lvl8pPr algn="l">
              <a:buNone/>
              <a:defRPr sz="2625" b="1">
                <a:solidFill>
                  <a:srgbClr val="243A50"/>
                </a:solidFill>
                <a:latin typeface="Helvetica Neue"/>
                <a:ea typeface="Helvetica Neue"/>
                <a:cs typeface="Helvetica Neue"/>
              </a:defRPr>
            </a:lvl8pPr>
            <a:lvl9pPr algn="l">
              <a:buNone/>
              <a:defRPr sz="2625" b="1">
                <a:solidFill>
                  <a:srgbClr val="243A50"/>
                </a:solidFill>
                <a:latin typeface="Helvetica Neue"/>
                <a:ea typeface="Helvetica Neue"/>
                <a:cs typeface="Helvetica Neue"/>
              </a:defRPr>
            </a:lvl9pPr>
          </a:lstStyle>
          <a:p xmlns:a="http://schemas.openxmlformats.org/drawingml/2006/main">
            <a:pPr algn="l">
              <a:buNone/>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Problem and project overview</a:t>
            </a:r>
          </a:p>
        </p:txBody>
      </p:sp>
      <p:sp>
        <p:nvSpPr>
          <p:cNvPr id="3" name="Rectangle 2">
            <a:extLst xmlns:a="http://schemas.openxmlformats.org/drawingml/2006/main">
              <a:ext uri="{FF2B5EF4-FFF2-40B4-BE49-F238E27FC236}">
                <a16:creationId xmlns:a16="http://schemas.microsoft.com/office/drawing/2014/main" id="{CAE5EE65-2448-4F3D-A525-E127F41E3C43}"/>
              </a:ext>
            </a:extLst>
          </p:cNvPr>
          <p:cNvSpPr>
            <a:spLocks xmlns:a="http://schemas.openxmlformats.org/drawingml/2006/main" noGrp="1"/>
          </p:cNvSpPr>
          <p:nvPr/>
        </p:nvSpPr>
        <p:spPr>
          <a:xfrm xmlns:a="http://schemas.openxmlformats.org/drawingml/2006/main">
            <a:off x="628650" y="904875"/>
            <a:ext cx="10839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Predict building, floor, and position from one sparse Wi-Fi fingerprint.</a:t>
            </a:r>
          </a:p>
        </p:txBody>
      </p:sp>
      <p:sp>
        <p:nvSpPr>
          <p:cNvPr id="4" name="Straight Connector 3">
            <a:extLst xmlns:a="http://schemas.openxmlformats.org/drawingml/2006/main">
              <a:ext uri="{FF2B5EF4-FFF2-40B4-BE49-F238E27FC236}">
                <a16:creationId xmlns:a16="http://schemas.microsoft.com/office/drawing/2014/main" id="{13A86D8D-3F47-43E6-B32B-9D9BCE261711}"/>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BD5DA"/>
            </a:solidFill>
            <a:prstDash val="solid"/>
          </a:ln>
        </p:spPr>
      </p:sp>
      <p:sp>
        <p:nvSpPr>
          <p:cNvPr id="5" name="Rectangle 4">
            <a:extLst xmlns:a="http://schemas.openxmlformats.org/drawingml/2006/main">
              <a:ext uri="{FF2B5EF4-FFF2-40B4-BE49-F238E27FC236}">
                <a16:creationId xmlns:a16="http://schemas.microsoft.com/office/drawing/2014/main" id="{F6370120-B56F-41D7-902A-B644F53312D9}"/>
              </a:ext>
            </a:extLst>
          </p:cNvPr>
          <p:cNvSpPr>
            <a:spLocks xmlns:a="http://schemas.openxmlformats.org/drawingml/2006/main" noGrp="1"/>
          </p:cNvSpPr>
          <p:nvPr/>
        </p:nvSpPr>
        <p:spPr>
          <a:xfrm xmlns:a="http://schemas.openxmlformats.org/drawingml/2006/main">
            <a:off x="609600" y="64770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900" b="0">
                <a:solidFill>
                  <a:srgbClr val="63788A"/>
                </a:solidFill>
                <a:latin typeface="Helvetica Neue"/>
                <a:ea typeface="Helvetica Neue"/>
                <a:cs typeface="Helvetica Neue"/>
              </a:defRPr>
            </a:defPPr>
            <a:lvl1pPr algn="r">
              <a:buNone/>
              <a:defRPr sz="900" b="0">
                <a:solidFill>
                  <a:srgbClr val="63788A"/>
                </a:solidFill>
                <a:latin typeface="Helvetica Neue"/>
                <a:ea typeface="Helvetica Neue"/>
                <a:cs typeface="Helvetica Neue"/>
              </a:defRPr>
            </a:lvl1pPr>
            <a:lvl2pPr algn="r">
              <a:buNone/>
              <a:defRPr sz="900" b="0">
                <a:solidFill>
                  <a:srgbClr val="63788A"/>
                </a:solidFill>
                <a:latin typeface="Helvetica Neue"/>
                <a:ea typeface="Helvetica Neue"/>
                <a:cs typeface="Helvetica Neue"/>
              </a:defRPr>
            </a:lvl2pPr>
            <a:lvl3pPr algn="r">
              <a:buNone/>
              <a:defRPr sz="900" b="0">
                <a:solidFill>
                  <a:srgbClr val="63788A"/>
                </a:solidFill>
                <a:latin typeface="Helvetica Neue"/>
                <a:ea typeface="Helvetica Neue"/>
                <a:cs typeface="Helvetica Neue"/>
              </a:defRPr>
            </a:lvl3pPr>
            <a:lvl4pPr algn="r">
              <a:buNone/>
              <a:defRPr sz="900" b="0">
                <a:solidFill>
                  <a:srgbClr val="63788A"/>
                </a:solidFill>
                <a:latin typeface="Helvetica Neue"/>
                <a:ea typeface="Helvetica Neue"/>
                <a:cs typeface="Helvetica Neue"/>
              </a:defRPr>
            </a:lvl4pPr>
            <a:lvl5pPr algn="r">
              <a:buNone/>
              <a:defRPr sz="900" b="0">
                <a:solidFill>
                  <a:srgbClr val="63788A"/>
                </a:solidFill>
                <a:latin typeface="Helvetica Neue"/>
                <a:ea typeface="Helvetica Neue"/>
                <a:cs typeface="Helvetica Neue"/>
              </a:defRPr>
            </a:lvl5pPr>
            <a:lvl6pPr algn="r">
              <a:buNone/>
              <a:defRPr sz="900" b="0">
                <a:solidFill>
                  <a:srgbClr val="63788A"/>
                </a:solidFill>
                <a:latin typeface="Helvetica Neue"/>
                <a:ea typeface="Helvetica Neue"/>
                <a:cs typeface="Helvetica Neue"/>
              </a:defRPr>
            </a:lvl6pPr>
            <a:lvl7pPr algn="r">
              <a:buNone/>
              <a:defRPr sz="900" b="0">
                <a:solidFill>
                  <a:srgbClr val="63788A"/>
                </a:solidFill>
                <a:latin typeface="Helvetica Neue"/>
                <a:ea typeface="Helvetica Neue"/>
                <a:cs typeface="Helvetica Neue"/>
              </a:defRPr>
            </a:lvl7pPr>
            <a:lvl8pPr algn="r">
              <a:buNone/>
              <a:defRPr sz="900" b="0">
                <a:solidFill>
                  <a:srgbClr val="63788A"/>
                </a:solidFill>
                <a:latin typeface="Helvetica Neue"/>
                <a:ea typeface="Helvetica Neue"/>
                <a:cs typeface="Helvetica Neue"/>
              </a:defRPr>
            </a:lvl8pPr>
            <a:lvl9pPr algn="r">
              <a:buNone/>
              <a:defRPr sz="900" b="0">
                <a:solidFill>
                  <a:srgbClr val="63788A"/>
                </a:solidFill>
                <a:latin typeface="Helvetica Neue"/>
                <a:ea typeface="Helvetica Neue"/>
                <a:cs typeface="Helvetica Neue"/>
              </a:defRPr>
            </a:lvl9pPr>
          </a:lstStyle>
          <a:p xmlns:a="http://schemas.openxmlformats.org/drawingml/2006/main">
            <a:pPr algn="r">
              <a:buNone/>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02</a:t>
            </a:r>
          </a:p>
        </p:txBody>
      </p:sp>
      <p:sp>
        <p:nvSpPr>
          <p:cNvPr id="6" name="Rounded Rectangle 5">
            <a:extLst xmlns:a="http://schemas.openxmlformats.org/drawingml/2006/main">
              <a:ext uri="{FF2B5EF4-FFF2-40B4-BE49-F238E27FC236}">
                <a16:creationId xmlns:a16="http://schemas.microsoft.com/office/drawing/2014/main" id="{FCAFE341-4FE1-4EBB-BD8C-A5179F078E45}"/>
              </a:ext>
            </a:extLst>
          </p:cNvPr>
          <p:cNvSpPr>
            <a:spLocks xmlns:a="http://schemas.openxmlformats.org/drawingml/2006/main" noGrp="1"/>
          </p:cNvSpPr>
          <p:nvPr/>
        </p:nvSpPr>
        <p:spPr>
          <a:xfrm xmlns:a="http://schemas.openxmlformats.org/drawingml/2006/main">
            <a:off x="647700" y="2000250"/>
            <a:ext cx="2095500" cy="1524000"/>
          </a:xfrm>
          <a:prstGeom xmlns:a="http://schemas.openxmlformats.org/drawingml/2006/main" prst="roundRect">
            <a:avLst>
              <a:gd name="adj" fmla="val 5000"/>
            </a:avLst>
          </a:prstGeom>
          <a:solidFill xmlns:a="http://schemas.openxmlformats.org/drawingml/2006/main">
            <a:srgbClr val="E8EFF4"/>
          </a:solidFill>
          <a:ln xmlns:a="http://schemas.openxmlformats.org/drawingml/2006/main" w="9525">
            <a:solidFill>
              <a:srgbClr val="CBD5DA"/>
            </a:solidFill>
            <a:prstDash val="solid"/>
          </a:ln>
        </p:spPr>
      </p:sp>
      <p:sp>
        <p:nvSpPr>
          <p:cNvPr id="7" name="Rectangle 6">
            <a:extLst xmlns:a="http://schemas.openxmlformats.org/drawingml/2006/main">
              <a:ext uri="{FF2B5EF4-FFF2-40B4-BE49-F238E27FC236}">
                <a16:creationId xmlns:a16="http://schemas.microsoft.com/office/drawing/2014/main" id="{981C6706-F60E-4197-B3E4-282FC11ED8B2}"/>
              </a:ext>
            </a:extLst>
          </p:cNvPr>
          <p:cNvSpPr>
            <a:spLocks xmlns:a="http://schemas.openxmlformats.org/drawingml/2006/main" noGrp="1"/>
          </p:cNvSpPr>
          <p:nvPr/>
        </p:nvSpPr>
        <p:spPr>
          <a:xfrm xmlns:a="http://schemas.openxmlformats.org/drawingml/2006/main">
            <a:off x="762000" y="2114550"/>
            <a:ext cx="18669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Wi-Fi scan</a:t>
            </a:r>
          </a:p>
        </p:txBody>
      </p:sp>
      <p:sp>
        <p:nvSpPr>
          <p:cNvPr id="8" name="Rectangle 7">
            <a:extLst xmlns:a="http://schemas.openxmlformats.org/drawingml/2006/main">
              <a:ext uri="{FF2B5EF4-FFF2-40B4-BE49-F238E27FC236}">
                <a16:creationId xmlns:a16="http://schemas.microsoft.com/office/drawing/2014/main" id="{2D0FFEAC-C4B8-4045-9AE6-DEEA4EC25BBB}"/>
              </a:ext>
            </a:extLst>
          </p:cNvPr>
          <p:cNvSpPr>
            <a:spLocks xmlns:a="http://schemas.openxmlformats.org/drawingml/2006/main" noGrp="1"/>
          </p:cNvSpPr>
          <p:nvPr/>
        </p:nvSpPr>
        <p:spPr>
          <a:xfrm xmlns:a="http://schemas.openxmlformats.org/drawingml/2006/main">
            <a:off x="781050" y="2514600"/>
            <a:ext cx="1828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520 access-point RSSI fields</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most readings are absent</a:t>
            </a:r>
          </a:p>
        </p:txBody>
      </p:sp>
      <p:sp>
        <p:nvSpPr>
          <p:cNvPr id="9" name="Right Arrow 8">
            <a:extLst xmlns:a="http://schemas.openxmlformats.org/drawingml/2006/main">
              <a:ext uri="{FF2B5EF4-FFF2-40B4-BE49-F238E27FC236}">
                <a16:creationId xmlns:a16="http://schemas.microsoft.com/office/drawing/2014/main" id="{9E2A1B11-42D2-4B6F-AC77-74F704F888F4}"/>
              </a:ext>
            </a:extLst>
          </p:cNvPr>
          <p:cNvSpPr>
            <a:spLocks xmlns:a="http://schemas.openxmlformats.org/drawingml/2006/main" noGrp="1"/>
          </p:cNvSpPr>
          <p:nvPr/>
        </p:nvSpPr>
        <p:spPr>
          <a:xfrm xmlns:a="http://schemas.openxmlformats.org/drawingml/2006/main">
            <a:off x="2876550" y="2686050"/>
            <a:ext cx="400050" cy="152400"/>
          </a:xfrm>
          <a:prstGeom xmlns:a="http://schemas.openxmlformats.org/drawingml/2006/main" prst="rightArrow">
            <a:avLst/>
          </a:prstGeom>
          <a:solidFill xmlns:a="http://schemas.openxmlformats.org/drawingml/2006/main">
            <a:srgbClr val="64877F"/>
          </a:solidFill>
          <a:ln xmlns:a="http://schemas.openxmlformats.org/drawingml/2006/main" w="0">
            <a:noFill/>
            <a:prstDash val="solid"/>
          </a:ln>
        </p:spPr>
      </p:sp>
      <p:sp>
        <p:nvSpPr>
          <p:cNvPr id="10" name="Rounded Rectangle 9">
            <a:extLst xmlns:a="http://schemas.openxmlformats.org/drawingml/2006/main">
              <a:ext uri="{FF2B5EF4-FFF2-40B4-BE49-F238E27FC236}">
                <a16:creationId xmlns:a16="http://schemas.microsoft.com/office/drawing/2014/main" id="{ABD44043-5218-4D4C-9AD9-5B61E655FEA0}"/>
              </a:ext>
            </a:extLst>
          </p:cNvPr>
          <p:cNvSpPr>
            <a:spLocks xmlns:a="http://schemas.openxmlformats.org/drawingml/2006/main" noGrp="1"/>
          </p:cNvSpPr>
          <p:nvPr/>
        </p:nvSpPr>
        <p:spPr>
          <a:xfrm xmlns:a="http://schemas.openxmlformats.org/drawingml/2006/main">
            <a:off x="3457575" y="2000250"/>
            <a:ext cx="2095500" cy="1524000"/>
          </a:xfrm>
          <a:prstGeom xmlns:a="http://schemas.openxmlformats.org/drawingml/2006/main" prst="roundRect">
            <a:avLst>
              <a:gd name="adj" fmla="val 5000"/>
            </a:avLst>
          </a:prstGeom>
          <a:solidFill xmlns:a="http://schemas.openxmlformats.org/drawingml/2006/main">
            <a:srgbClr val="C7DBD1"/>
          </a:solidFill>
          <a:ln xmlns:a="http://schemas.openxmlformats.org/drawingml/2006/main" w="9525">
            <a:solidFill>
              <a:srgbClr val="CBD5DA"/>
            </a:solidFill>
            <a:prstDash val="solid"/>
          </a:ln>
        </p:spPr>
      </p:sp>
      <p:sp>
        <p:nvSpPr>
          <p:cNvPr id="11" name="Rectangle 10">
            <a:extLst xmlns:a="http://schemas.openxmlformats.org/drawingml/2006/main">
              <a:ext uri="{FF2B5EF4-FFF2-40B4-BE49-F238E27FC236}">
                <a16:creationId xmlns:a16="http://schemas.microsoft.com/office/drawing/2014/main" id="{06A39A48-E2EE-4E6E-B57C-823C12D6DB1F}"/>
              </a:ext>
            </a:extLst>
          </p:cNvPr>
          <p:cNvSpPr>
            <a:spLocks xmlns:a="http://schemas.openxmlformats.org/drawingml/2006/main" noGrp="1"/>
          </p:cNvSpPr>
          <p:nvPr/>
        </p:nvSpPr>
        <p:spPr>
          <a:xfrm xmlns:a="http://schemas.openxmlformats.org/drawingml/2006/main">
            <a:off x="3571875" y="2114550"/>
            <a:ext cx="18669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Shared features</a:t>
            </a:r>
          </a:p>
        </p:txBody>
      </p:sp>
      <p:sp>
        <p:nvSpPr>
          <p:cNvPr id="12" name="Rectangle 11">
            <a:extLst xmlns:a="http://schemas.openxmlformats.org/drawingml/2006/main">
              <a:ext uri="{FF2B5EF4-FFF2-40B4-BE49-F238E27FC236}">
                <a16:creationId xmlns:a16="http://schemas.microsoft.com/office/drawing/2014/main" id="{2C918A22-EA0A-4D54-9DAF-2BF7BBC983E1}"/>
              </a:ext>
            </a:extLst>
          </p:cNvPr>
          <p:cNvSpPr>
            <a:spLocks xmlns:a="http://schemas.openxmlformats.org/drawingml/2006/main" noGrp="1"/>
          </p:cNvSpPr>
          <p:nvPr/>
        </p:nvSpPr>
        <p:spPr>
          <a:xfrm xmlns:a="http://schemas.openxmlformats.org/drawingml/2006/main">
            <a:off x="3590925" y="2514600"/>
            <a:ext cx="1828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scaled signal + presence</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 six signal summaries</a:t>
            </a:r>
          </a:p>
        </p:txBody>
      </p:sp>
      <p:sp>
        <p:nvSpPr>
          <p:cNvPr id="13" name="Right Arrow 12">
            <a:extLst xmlns:a="http://schemas.openxmlformats.org/drawingml/2006/main">
              <a:ext uri="{FF2B5EF4-FFF2-40B4-BE49-F238E27FC236}">
                <a16:creationId xmlns:a16="http://schemas.microsoft.com/office/drawing/2014/main" id="{A5F61CB8-BA13-4564-B185-49DE7BBDEFF4}"/>
              </a:ext>
            </a:extLst>
          </p:cNvPr>
          <p:cNvSpPr>
            <a:spLocks xmlns:a="http://schemas.openxmlformats.org/drawingml/2006/main" noGrp="1"/>
          </p:cNvSpPr>
          <p:nvPr/>
        </p:nvSpPr>
        <p:spPr>
          <a:xfrm xmlns:a="http://schemas.openxmlformats.org/drawingml/2006/main">
            <a:off x="5686425" y="2686050"/>
            <a:ext cx="400050" cy="152400"/>
          </a:xfrm>
          <a:prstGeom xmlns:a="http://schemas.openxmlformats.org/drawingml/2006/main" prst="rightArrow">
            <a:avLst/>
          </a:prstGeom>
          <a:solidFill xmlns:a="http://schemas.openxmlformats.org/drawingml/2006/main">
            <a:srgbClr val="64877F"/>
          </a:solidFill>
          <a:ln xmlns:a="http://schemas.openxmlformats.org/drawingml/2006/main" w="0">
            <a:noFill/>
            <a:prstDash val="solid"/>
          </a:ln>
        </p:spPr>
      </p:sp>
      <p:sp>
        <p:nvSpPr>
          <p:cNvPr id="14" name="Rounded Rectangle 13">
            <a:extLst xmlns:a="http://schemas.openxmlformats.org/drawingml/2006/main">
              <a:ext uri="{FF2B5EF4-FFF2-40B4-BE49-F238E27FC236}">
                <a16:creationId xmlns:a16="http://schemas.microsoft.com/office/drawing/2014/main" id="{3CA74C9B-41EA-4D6D-AB5A-4546E352218C}"/>
              </a:ext>
            </a:extLst>
          </p:cNvPr>
          <p:cNvSpPr>
            <a:spLocks xmlns:a="http://schemas.openxmlformats.org/drawingml/2006/main" noGrp="1"/>
          </p:cNvSpPr>
          <p:nvPr/>
        </p:nvSpPr>
        <p:spPr>
          <a:xfrm xmlns:a="http://schemas.openxmlformats.org/drawingml/2006/main">
            <a:off x="6267450" y="2000250"/>
            <a:ext cx="2333625" cy="1524000"/>
          </a:xfrm>
          <a:prstGeom xmlns:a="http://schemas.openxmlformats.org/drawingml/2006/main" prst="roundRect">
            <a:avLst>
              <a:gd name="adj" fmla="val 5000"/>
            </a:avLst>
          </a:prstGeom>
          <a:solidFill xmlns:a="http://schemas.openxmlformats.org/drawingml/2006/main">
            <a:srgbClr val="F1E9DB"/>
          </a:solidFill>
          <a:ln xmlns:a="http://schemas.openxmlformats.org/drawingml/2006/main" w="9525">
            <a:solidFill>
              <a:srgbClr val="CBD5DA"/>
            </a:solidFill>
            <a:prstDash val="solid"/>
          </a:ln>
        </p:spPr>
      </p:sp>
      <p:sp>
        <p:nvSpPr>
          <p:cNvPr id="15" name="Rectangle 14">
            <a:extLst xmlns:a="http://schemas.openxmlformats.org/drawingml/2006/main">
              <a:ext uri="{FF2B5EF4-FFF2-40B4-BE49-F238E27FC236}">
                <a16:creationId xmlns:a16="http://schemas.microsoft.com/office/drawing/2014/main" id="{20FC560E-9E4C-4883-AEE4-B6E351941AAC}"/>
              </a:ext>
            </a:extLst>
          </p:cNvPr>
          <p:cNvSpPr>
            <a:spLocks xmlns:a="http://schemas.openxmlformats.org/drawingml/2006/main" noGrp="1"/>
          </p:cNvSpPr>
          <p:nvPr/>
        </p:nvSpPr>
        <p:spPr>
          <a:xfrm xmlns:a="http://schemas.openxmlformats.org/drawingml/2006/main">
            <a:off x="6381750" y="2114550"/>
            <a:ext cx="21050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Three ML tasks</a:t>
            </a:r>
          </a:p>
        </p:txBody>
      </p:sp>
      <p:sp>
        <p:nvSpPr>
          <p:cNvPr id="16" name="Rectangle 15">
            <a:extLst xmlns:a="http://schemas.openxmlformats.org/drawingml/2006/main">
              <a:ext uri="{FF2B5EF4-FFF2-40B4-BE49-F238E27FC236}">
                <a16:creationId xmlns:a16="http://schemas.microsoft.com/office/drawing/2014/main" id="{7313D90A-3A9C-4F26-8918-977367AD1BCD}"/>
              </a:ext>
            </a:extLst>
          </p:cNvPr>
          <p:cNvSpPr>
            <a:spLocks xmlns:a="http://schemas.openxmlformats.org/drawingml/2006/main" noGrp="1"/>
          </p:cNvSpPr>
          <p:nvPr/>
        </p:nvSpPr>
        <p:spPr>
          <a:xfrm xmlns:a="http://schemas.openxmlformats.org/drawingml/2006/main">
            <a:off x="6400800" y="2514600"/>
            <a:ext cx="206692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building class · floor class</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longitude + latitude</a:t>
            </a:r>
          </a:p>
        </p:txBody>
      </p:sp>
      <p:sp>
        <p:nvSpPr>
          <p:cNvPr id="17" name="Right Arrow 16">
            <a:extLst xmlns:a="http://schemas.openxmlformats.org/drawingml/2006/main">
              <a:ext uri="{FF2B5EF4-FFF2-40B4-BE49-F238E27FC236}">
                <a16:creationId xmlns:a16="http://schemas.microsoft.com/office/drawing/2014/main" id="{810C2E32-63D8-41A5-B287-C3C220CEC92A}"/>
              </a:ext>
            </a:extLst>
          </p:cNvPr>
          <p:cNvSpPr>
            <a:spLocks xmlns:a="http://schemas.openxmlformats.org/drawingml/2006/main" noGrp="1"/>
          </p:cNvSpPr>
          <p:nvPr/>
        </p:nvSpPr>
        <p:spPr>
          <a:xfrm xmlns:a="http://schemas.openxmlformats.org/drawingml/2006/main">
            <a:off x="8734425" y="2686050"/>
            <a:ext cx="400050" cy="152400"/>
          </a:xfrm>
          <a:prstGeom xmlns:a="http://schemas.openxmlformats.org/drawingml/2006/main" prst="rightArrow">
            <a:avLst/>
          </a:prstGeom>
          <a:solidFill xmlns:a="http://schemas.openxmlformats.org/drawingml/2006/main">
            <a:srgbClr val="64877F"/>
          </a:solidFill>
          <a:ln xmlns:a="http://schemas.openxmlformats.org/drawingml/2006/main" w="0">
            <a:noFill/>
            <a:prstDash val="solid"/>
          </a:ln>
        </p:spPr>
      </p:sp>
      <p:sp>
        <p:nvSpPr>
          <p:cNvPr id="18" name="Rounded Rectangle 17">
            <a:extLst xmlns:a="http://schemas.openxmlformats.org/drawingml/2006/main">
              <a:ext uri="{FF2B5EF4-FFF2-40B4-BE49-F238E27FC236}">
                <a16:creationId xmlns:a16="http://schemas.microsoft.com/office/drawing/2014/main" id="{7EA6F375-3BB2-4046-8244-9BE9B1F10C54}"/>
              </a:ext>
            </a:extLst>
          </p:cNvPr>
          <p:cNvSpPr>
            <a:spLocks xmlns:a="http://schemas.openxmlformats.org/drawingml/2006/main" noGrp="1"/>
          </p:cNvSpPr>
          <p:nvPr/>
        </p:nvSpPr>
        <p:spPr>
          <a:xfrm xmlns:a="http://schemas.openxmlformats.org/drawingml/2006/main">
            <a:off x="9315450" y="2000250"/>
            <a:ext cx="2228850" cy="1524000"/>
          </a:xfrm>
          <a:prstGeom xmlns:a="http://schemas.openxmlformats.org/drawingml/2006/main" prst="roundRect">
            <a:avLst>
              <a:gd name="adj" fmla="val 5000"/>
            </a:avLst>
          </a:prstGeom>
          <a:solidFill xmlns:a="http://schemas.openxmlformats.org/drawingml/2006/main">
            <a:srgbClr val="DCE7ED"/>
          </a:solidFill>
          <a:ln xmlns:a="http://schemas.openxmlformats.org/drawingml/2006/main" w="9525">
            <a:solidFill>
              <a:srgbClr val="CBD5DA"/>
            </a:solidFill>
            <a:prstDash val="solid"/>
          </a:ln>
        </p:spPr>
      </p:sp>
      <p:sp>
        <p:nvSpPr>
          <p:cNvPr id="19" name="Rectangle 18">
            <a:extLst xmlns:a="http://schemas.openxmlformats.org/drawingml/2006/main">
              <a:ext uri="{FF2B5EF4-FFF2-40B4-BE49-F238E27FC236}">
                <a16:creationId xmlns:a16="http://schemas.microsoft.com/office/drawing/2014/main" id="{58672B06-8B07-424C-AF5D-4A635C91DD18}"/>
              </a:ext>
            </a:extLst>
          </p:cNvPr>
          <p:cNvSpPr>
            <a:spLocks xmlns:a="http://schemas.openxmlformats.org/drawingml/2006/main" noGrp="1"/>
          </p:cNvSpPr>
          <p:nvPr/>
        </p:nvSpPr>
        <p:spPr>
          <a:xfrm xmlns:a="http://schemas.openxmlformats.org/drawingml/2006/main">
            <a:off x="9429750" y="2114550"/>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One evaluation</a:t>
            </a:r>
          </a:p>
        </p:txBody>
      </p:sp>
      <p:sp>
        <p:nvSpPr>
          <p:cNvPr id="20" name="Rectangle 19">
            <a:extLst xmlns:a="http://schemas.openxmlformats.org/drawingml/2006/main">
              <a:ext uri="{FF2B5EF4-FFF2-40B4-BE49-F238E27FC236}">
                <a16:creationId xmlns:a16="http://schemas.microsoft.com/office/drawing/2014/main" id="{8AA2AFCC-7D9C-474D-9B56-A24070D3ED80}"/>
              </a:ext>
            </a:extLst>
          </p:cNvPr>
          <p:cNvSpPr>
            <a:spLocks xmlns:a="http://schemas.openxmlformats.org/drawingml/2006/main" noGrp="1"/>
          </p:cNvSpPr>
          <p:nvPr/>
        </p:nvSpPr>
        <p:spPr>
          <a:xfrm xmlns:a="http://schemas.openxmlformats.org/drawingml/2006/main">
            <a:off x="9448800" y="2514600"/>
            <a:ext cx="19621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held-out task scores</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 joint error analysis</a:t>
            </a:r>
          </a:p>
        </p:txBody>
      </p:sp>
      <p:sp>
        <p:nvSpPr>
          <p:cNvPr id="21" name="Rectangle 20">
            <a:extLst xmlns:a="http://schemas.openxmlformats.org/drawingml/2006/main">
              <a:ext uri="{FF2B5EF4-FFF2-40B4-BE49-F238E27FC236}">
                <a16:creationId xmlns:a16="http://schemas.microsoft.com/office/drawing/2014/main" id="{7E009C4C-BC1D-42FC-B4F0-7520A4182316}"/>
              </a:ext>
            </a:extLst>
          </p:cNvPr>
          <p:cNvSpPr>
            <a:spLocks xmlns:a="http://schemas.openxmlformats.org/drawingml/2006/main" noGrp="1"/>
          </p:cNvSpPr>
          <p:nvPr/>
        </p:nvSpPr>
        <p:spPr>
          <a:xfrm xmlns:a="http://schemas.openxmlformats.org/drawingml/2006/main">
            <a:off x="742950" y="4095750"/>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3000" b="1">
                <a:solidFill>
                  <a:srgbClr val="243A50"/>
                </a:solidFill>
                <a:latin typeface="Helvetica Neue"/>
                <a:ea typeface="Helvetica Neue"/>
                <a:cs typeface="Helvetica Neue"/>
              </a:defRPr>
            </a:defPPr>
            <a:lvl1pPr algn="l">
              <a:buNone/>
              <a:defRPr sz="3000" b="1">
                <a:solidFill>
                  <a:srgbClr val="243A50"/>
                </a:solidFill>
                <a:latin typeface="Helvetica Neue"/>
                <a:ea typeface="Helvetica Neue"/>
                <a:cs typeface="Helvetica Neue"/>
              </a:defRPr>
            </a:lvl1pPr>
            <a:lvl2pPr algn="l">
              <a:buNone/>
              <a:defRPr sz="3000" b="1">
                <a:solidFill>
                  <a:srgbClr val="243A50"/>
                </a:solidFill>
                <a:latin typeface="Helvetica Neue"/>
                <a:ea typeface="Helvetica Neue"/>
                <a:cs typeface="Helvetica Neue"/>
              </a:defRPr>
            </a:lvl2pPr>
            <a:lvl3pPr algn="l">
              <a:buNone/>
              <a:defRPr sz="3000" b="1">
                <a:solidFill>
                  <a:srgbClr val="243A50"/>
                </a:solidFill>
                <a:latin typeface="Helvetica Neue"/>
                <a:ea typeface="Helvetica Neue"/>
                <a:cs typeface="Helvetica Neue"/>
              </a:defRPr>
            </a:lvl3pPr>
            <a:lvl4pPr algn="l">
              <a:buNone/>
              <a:defRPr sz="3000" b="1">
                <a:solidFill>
                  <a:srgbClr val="243A50"/>
                </a:solidFill>
                <a:latin typeface="Helvetica Neue"/>
                <a:ea typeface="Helvetica Neue"/>
                <a:cs typeface="Helvetica Neue"/>
              </a:defRPr>
            </a:lvl4pPr>
            <a:lvl5pPr algn="l">
              <a:buNone/>
              <a:defRPr sz="3000" b="1">
                <a:solidFill>
                  <a:srgbClr val="243A50"/>
                </a:solidFill>
                <a:latin typeface="Helvetica Neue"/>
                <a:ea typeface="Helvetica Neue"/>
                <a:cs typeface="Helvetica Neue"/>
              </a:defRPr>
            </a:lvl5pPr>
            <a:lvl6pPr algn="l">
              <a:buNone/>
              <a:defRPr sz="3000" b="1">
                <a:solidFill>
                  <a:srgbClr val="243A50"/>
                </a:solidFill>
                <a:latin typeface="Helvetica Neue"/>
                <a:ea typeface="Helvetica Neue"/>
                <a:cs typeface="Helvetica Neue"/>
              </a:defRPr>
            </a:lvl6pPr>
            <a:lvl7pPr algn="l">
              <a:buNone/>
              <a:defRPr sz="3000" b="1">
                <a:solidFill>
                  <a:srgbClr val="243A50"/>
                </a:solidFill>
                <a:latin typeface="Helvetica Neue"/>
                <a:ea typeface="Helvetica Neue"/>
                <a:cs typeface="Helvetica Neue"/>
              </a:defRPr>
            </a:lvl7pPr>
            <a:lvl8pPr algn="l">
              <a:buNone/>
              <a:defRPr sz="3000" b="1">
                <a:solidFill>
                  <a:srgbClr val="243A50"/>
                </a:solidFill>
                <a:latin typeface="Helvetica Neue"/>
                <a:ea typeface="Helvetica Neue"/>
                <a:cs typeface="Helvetica Neue"/>
              </a:defRPr>
            </a:lvl8pPr>
            <a:lvl9pPr algn="l">
              <a:buNone/>
              <a:defRPr sz="3000" b="1">
                <a:solidFill>
                  <a:srgbClr val="243A50"/>
                </a:solidFill>
                <a:latin typeface="Helvetica Neue"/>
                <a:ea typeface="Helvetica Neue"/>
                <a:cs typeface="Helvetica Neue"/>
              </a:defRPr>
            </a:lvl9pPr>
          </a:lstStyle>
          <a:p xmlns:a="http://schemas.openxmlformats.org/drawingml/2006/main">
            <a:pPr algn="l">
              <a:buNone/>
              <a:defRPr sz="3000" b="1">
                <a:solidFill>
                  <a:srgbClr val="243A50"/>
                </a:solidFill>
                <a:latin typeface="Helvetica Neue"/>
                <a:ea typeface="Helvetica Neue"/>
                <a:cs typeface="Helvetica Neue"/>
              </a:defRPr>
            </a:pPr>
            <a:r>
              <a:rPr sz="3000" b="1">
                <a:solidFill>
                  <a:srgbClr val="243A50"/>
                </a:solidFill>
                <a:latin typeface="Helvetica Neue"/>
                <a:ea typeface="Helvetica Neue"/>
                <a:cs typeface="Helvetica Neue"/>
              </a:rPr>
              <a:t>19,937</a:t>
            </a:r>
          </a:p>
        </p:txBody>
      </p:sp>
      <p:sp>
        <p:nvSpPr>
          <p:cNvPr id="22" name="Rectangle 21">
            <a:extLst xmlns:a="http://schemas.openxmlformats.org/drawingml/2006/main">
              <a:ext uri="{FF2B5EF4-FFF2-40B4-BE49-F238E27FC236}">
                <a16:creationId xmlns:a16="http://schemas.microsoft.com/office/drawing/2014/main" id="{16A97BB0-3453-49A4-A432-267BA89C0BEB}"/>
              </a:ext>
            </a:extLst>
          </p:cNvPr>
          <p:cNvSpPr>
            <a:spLocks xmlns:a="http://schemas.openxmlformats.org/drawingml/2006/main" noGrp="1"/>
          </p:cNvSpPr>
          <p:nvPr/>
        </p:nvSpPr>
        <p:spPr>
          <a:xfrm xmlns:a="http://schemas.openxmlformats.org/drawingml/2006/main">
            <a:off x="742950" y="4610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00" b="0">
                <a:solidFill>
                  <a:srgbClr val="63788A"/>
                </a:solidFill>
                <a:latin typeface="Helvetica Neue"/>
                <a:ea typeface="Helvetica Neue"/>
                <a:cs typeface="Helvetica Neue"/>
              </a:defRPr>
            </a:defPPr>
            <a:lvl1pPr algn="l">
              <a:buNone/>
              <a:defRPr sz="1200" b="0">
                <a:solidFill>
                  <a:srgbClr val="63788A"/>
                </a:solidFill>
                <a:latin typeface="Helvetica Neue"/>
                <a:ea typeface="Helvetica Neue"/>
                <a:cs typeface="Helvetica Neue"/>
              </a:defRPr>
            </a:lvl1pPr>
            <a:lvl2pPr algn="l">
              <a:buNone/>
              <a:defRPr sz="1200" b="0">
                <a:solidFill>
                  <a:srgbClr val="63788A"/>
                </a:solidFill>
                <a:latin typeface="Helvetica Neue"/>
                <a:ea typeface="Helvetica Neue"/>
                <a:cs typeface="Helvetica Neue"/>
              </a:defRPr>
            </a:lvl2pPr>
            <a:lvl3pPr algn="l">
              <a:buNone/>
              <a:defRPr sz="1200" b="0">
                <a:solidFill>
                  <a:srgbClr val="63788A"/>
                </a:solidFill>
                <a:latin typeface="Helvetica Neue"/>
                <a:ea typeface="Helvetica Neue"/>
                <a:cs typeface="Helvetica Neue"/>
              </a:defRPr>
            </a:lvl3pPr>
            <a:lvl4pPr algn="l">
              <a:buNone/>
              <a:defRPr sz="1200" b="0">
                <a:solidFill>
                  <a:srgbClr val="63788A"/>
                </a:solidFill>
                <a:latin typeface="Helvetica Neue"/>
                <a:ea typeface="Helvetica Neue"/>
                <a:cs typeface="Helvetica Neue"/>
              </a:defRPr>
            </a:lvl4pPr>
            <a:lvl5pPr algn="l">
              <a:buNone/>
              <a:defRPr sz="1200" b="0">
                <a:solidFill>
                  <a:srgbClr val="63788A"/>
                </a:solidFill>
                <a:latin typeface="Helvetica Neue"/>
                <a:ea typeface="Helvetica Neue"/>
                <a:cs typeface="Helvetica Neue"/>
              </a:defRPr>
            </a:lvl5pPr>
            <a:lvl6pPr algn="l">
              <a:buNone/>
              <a:defRPr sz="1200" b="0">
                <a:solidFill>
                  <a:srgbClr val="63788A"/>
                </a:solidFill>
                <a:latin typeface="Helvetica Neue"/>
                <a:ea typeface="Helvetica Neue"/>
                <a:cs typeface="Helvetica Neue"/>
              </a:defRPr>
            </a:lvl6pPr>
            <a:lvl7pPr algn="l">
              <a:buNone/>
              <a:defRPr sz="1200" b="0">
                <a:solidFill>
                  <a:srgbClr val="63788A"/>
                </a:solidFill>
                <a:latin typeface="Helvetica Neue"/>
                <a:ea typeface="Helvetica Neue"/>
                <a:cs typeface="Helvetica Neue"/>
              </a:defRPr>
            </a:lvl7pPr>
            <a:lvl8pPr algn="l">
              <a:buNone/>
              <a:defRPr sz="1200" b="0">
                <a:solidFill>
                  <a:srgbClr val="63788A"/>
                </a:solidFill>
                <a:latin typeface="Helvetica Neue"/>
                <a:ea typeface="Helvetica Neue"/>
                <a:cs typeface="Helvetica Neue"/>
              </a:defRPr>
            </a:lvl8pPr>
            <a:lvl9pPr algn="l">
              <a:buNone/>
              <a:defRPr sz="1200" b="0">
                <a:solidFill>
                  <a:srgbClr val="63788A"/>
                </a:solidFill>
                <a:latin typeface="Helvetica Neue"/>
                <a:ea typeface="Helvetica Neue"/>
                <a:cs typeface="Helvetica Neue"/>
              </a:defRPr>
            </a:lvl9pPr>
          </a:lstStyle>
          <a:p xmlns:a="http://schemas.openxmlformats.org/drawingml/2006/main">
            <a:pPr algn="l">
              <a:buNone/>
              <a:defRPr sz="1200" b="0">
                <a:solidFill>
                  <a:srgbClr val="63788A"/>
                </a:solidFill>
                <a:latin typeface="Helvetica Neue"/>
                <a:ea typeface="Helvetica Neue"/>
                <a:cs typeface="Helvetica Neue"/>
              </a:defRPr>
            </a:pPr>
            <a:r>
              <a:rPr sz="1200" b="0">
                <a:solidFill>
                  <a:srgbClr val="63788A"/>
                </a:solidFill>
                <a:latin typeface="Helvetica Neue"/>
                <a:ea typeface="Helvetica Neue"/>
                <a:cs typeface="Helvetica Neue"/>
              </a:rPr>
              <a:t>training/reference rows</a:t>
            </a:r>
          </a:p>
        </p:txBody>
      </p:sp>
      <p:sp>
        <p:nvSpPr>
          <p:cNvPr id="23" name="Rectangle 22">
            <a:extLst xmlns:a="http://schemas.openxmlformats.org/drawingml/2006/main">
              <a:ext uri="{FF2B5EF4-FFF2-40B4-BE49-F238E27FC236}">
                <a16:creationId xmlns:a16="http://schemas.microsoft.com/office/drawing/2014/main" id="{FD942200-34EF-4629-A4DC-DCD8EBE0E5F2}"/>
              </a:ext>
            </a:extLst>
          </p:cNvPr>
          <p:cNvSpPr>
            <a:spLocks xmlns:a="http://schemas.openxmlformats.org/drawingml/2006/main" noGrp="1"/>
          </p:cNvSpPr>
          <p:nvPr/>
        </p:nvSpPr>
        <p:spPr>
          <a:xfrm xmlns:a="http://schemas.openxmlformats.org/drawingml/2006/main">
            <a:off x="3581400" y="4095750"/>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3000" b="1">
                <a:solidFill>
                  <a:srgbClr val="243A50"/>
                </a:solidFill>
                <a:latin typeface="Helvetica Neue"/>
                <a:ea typeface="Helvetica Neue"/>
                <a:cs typeface="Helvetica Neue"/>
              </a:defRPr>
            </a:defPPr>
            <a:lvl1pPr algn="l">
              <a:buNone/>
              <a:defRPr sz="3000" b="1">
                <a:solidFill>
                  <a:srgbClr val="243A50"/>
                </a:solidFill>
                <a:latin typeface="Helvetica Neue"/>
                <a:ea typeface="Helvetica Neue"/>
                <a:cs typeface="Helvetica Neue"/>
              </a:defRPr>
            </a:lvl1pPr>
            <a:lvl2pPr algn="l">
              <a:buNone/>
              <a:defRPr sz="3000" b="1">
                <a:solidFill>
                  <a:srgbClr val="243A50"/>
                </a:solidFill>
                <a:latin typeface="Helvetica Neue"/>
                <a:ea typeface="Helvetica Neue"/>
                <a:cs typeface="Helvetica Neue"/>
              </a:defRPr>
            </a:lvl2pPr>
            <a:lvl3pPr algn="l">
              <a:buNone/>
              <a:defRPr sz="3000" b="1">
                <a:solidFill>
                  <a:srgbClr val="243A50"/>
                </a:solidFill>
                <a:latin typeface="Helvetica Neue"/>
                <a:ea typeface="Helvetica Neue"/>
                <a:cs typeface="Helvetica Neue"/>
              </a:defRPr>
            </a:lvl3pPr>
            <a:lvl4pPr algn="l">
              <a:buNone/>
              <a:defRPr sz="3000" b="1">
                <a:solidFill>
                  <a:srgbClr val="243A50"/>
                </a:solidFill>
                <a:latin typeface="Helvetica Neue"/>
                <a:ea typeface="Helvetica Neue"/>
                <a:cs typeface="Helvetica Neue"/>
              </a:defRPr>
            </a:lvl4pPr>
            <a:lvl5pPr algn="l">
              <a:buNone/>
              <a:defRPr sz="3000" b="1">
                <a:solidFill>
                  <a:srgbClr val="243A50"/>
                </a:solidFill>
                <a:latin typeface="Helvetica Neue"/>
                <a:ea typeface="Helvetica Neue"/>
                <a:cs typeface="Helvetica Neue"/>
              </a:defRPr>
            </a:lvl5pPr>
            <a:lvl6pPr algn="l">
              <a:buNone/>
              <a:defRPr sz="3000" b="1">
                <a:solidFill>
                  <a:srgbClr val="243A50"/>
                </a:solidFill>
                <a:latin typeface="Helvetica Neue"/>
                <a:ea typeface="Helvetica Neue"/>
                <a:cs typeface="Helvetica Neue"/>
              </a:defRPr>
            </a:lvl6pPr>
            <a:lvl7pPr algn="l">
              <a:buNone/>
              <a:defRPr sz="3000" b="1">
                <a:solidFill>
                  <a:srgbClr val="243A50"/>
                </a:solidFill>
                <a:latin typeface="Helvetica Neue"/>
                <a:ea typeface="Helvetica Neue"/>
                <a:cs typeface="Helvetica Neue"/>
              </a:defRPr>
            </a:lvl7pPr>
            <a:lvl8pPr algn="l">
              <a:buNone/>
              <a:defRPr sz="3000" b="1">
                <a:solidFill>
                  <a:srgbClr val="243A50"/>
                </a:solidFill>
                <a:latin typeface="Helvetica Neue"/>
                <a:ea typeface="Helvetica Neue"/>
                <a:cs typeface="Helvetica Neue"/>
              </a:defRPr>
            </a:lvl8pPr>
            <a:lvl9pPr algn="l">
              <a:buNone/>
              <a:defRPr sz="3000" b="1">
                <a:solidFill>
                  <a:srgbClr val="243A50"/>
                </a:solidFill>
                <a:latin typeface="Helvetica Neue"/>
                <a:ea typeface="Helvetica Neue"/>
                <a:cs typeface="Helvetica Neue"/>
              </a:defRPr>
            </a:lvl9pPr>
          </a:lstStyle>
          <a:p xmlns:a="http://schemas.openxmlformats.org/drawingml/2006/main">
            <a:pPr algn="l">
              <a:buNone/>
              <a:defRPr sz="3000" b="1">
                <a:solidFill>
                  <a:srgbClr val="243A50"/>
                </a:solidFill>
                <a:latin typeface="Helvetica Neue"/>
                <a:ea typeface="Helvetica Neue"/>
                <a:cs typeface="Helvetica Neue"/>
              </a:defRPr>
            </a:pPr>
            <a:r>
              <a:rPr sz="3000" b="1">
                <a:solidFill>
                  <a:srgbClr val="243A50"/>
                </a:solidFill>
                <a:latin typeface="Helvetica Neue"/>
                <a:ea typeface="Helvetica Neue"/>
                <a:cs typeface="Helvetica Neue"/>
              </a:rPr>
              <a:t>1,111</a:t>
            </a:r>
          </a:p>
        </p:txBody>
      </p:sp>
      <p:sp>
        <p:nvSpPr>
          <p:cNvPr id="24" name="Rectangle 23">
            <a:extLst xmlns:a="http://schemas.openxmlformats.org/drawingml/2006/main">
              <a:ext uri="{FF2B5EF4-FFF2-40B4-BE49-F238E27FC236}">
                <a16:creationId xmlns:a16="http://schemas.microsoft.com/office/drawing/2014/main" id="{79B474D0-0713-4098-AFEE-B2DA412200CF}"/>
              </a:ext>
            </a:extLst>
          </p:cNvPr>
          <p:cNvSpPr>
            <a:spLocks xmlns:a="http://schemas.openxmlformats.org/drawingml/2006/main" noGrp="1"/>
          </p:cNvSpPr>
          <p:nvPr/>
        </p:nvSpPr>
        <p:spPr>
          <a:xfrm xmlns:a="http://schemas.openxmlformats.org/drawingml/2006/main">
            <a:off x="3581400" y="46101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00" b="0">
                <a:solidFill>
                  <a:srgbClr val="63788A"/>
                </a:solidFill>
                <a:latin typeface="Helvetica Neue"/>
                <a:ea typeface="Helvetica Neue"/>
                <a:cs typeface="Helvetica Neue"/>
              </a:defRPr>
            </a:defPPr>
            <a:lvl1pPr algn="l">
              <a:buNone/>
              <a:defRPr sz="1200" b="0">
                <a:solidFill>
                  <a:srgbClr val="63788A"/>
                </a:solidFill>
                <a:latin typeface="Helvetica Neue"/>
                <a:ea typeface="Helvetica Neue"/>
                <a:cs typeface="Helvetica Neue"/>
              </a:defRPr>
            </a:lvl1pPr>
            <a:lvl2pPr algn="l">
              <a:buNone/>
              <a:defRPr sz="1200" b="0">
                <a:solidFill>
                  <a:srgbClr val="63788A"/>
                </a:solidFill>
                <a:latin typeface="Helvetica Neue"/>
                <a:ea typeface="Helvetica Neue"/>
                <a:cs typeface="Helvetica Neue"/>
              </a:defRPr>
            </a:lvl2pPr>
            <a:lvl3pPr algn="l">
              <a:buNone/>
              <a:defRPr sz="1200" b="0">
                <a:solidFill>
                  <a:srgbClr val="63788A"/>
                </a:solidFill>
                <a:latin typeface="Helvetica Neue"/>
                <a:ea typeface="Helvetica Neue"/>
                <a:cs typeface="Helvetica Neue"/>
              </a:defRPr>
            </a:lvl3pPr>
            <a:lvl4pPr algn="l">
              <a:buNone/>
              <a:defRPr sz="1200" b="0">
                <a:solidFill>
                  <a:srgbClr val="63788A"/>
                </a:solidFill>
                <a:latin typeface="Helvetica Neue"/>
                <a:ea typeface="Helvetica Neue"/>
                <a:cs typeface="Helvetica Neue"/>
              </a:defRPr>
            </a:lvl4pPr>
            <a:lvl5pPr algn="l">
              <a:buNone/>
              <a:defRPr sz="1200" b="0">
                <a:solidFill>
                  <a:srgbClr val="63788A"/>
                </a:solidFill>
                <a:latin typeface="Helvetica Neue"/>
                <a:ea typeface="Helvetica Neue"/>
                <a:cs typeface="Helvetica Neue"/>
              </a:defRPr>
            </a:lvl5pPr>
            <a:lvl6pPr algn="l">
              <a:buNone/>
              <a:defRPr sz="1200" b="0">
                <a:solidFill>
                  <a:srgbClr val="63788A"/>
                </a:solidFill>
                <a:latin typeface="Helvetica Neue"/>
                <a:ea typeface="Helvetica Neue"/>
                <a:cs typeface="Helvetica Neue"/>
              </a:defRPr>
            </a:lvl6pPr>
            <a:lvl7pPr algn="l">
              <a:buNone/>
              <a:defRPr sz="1200" b="0">
                <a:solidFill>
                  <a:srgbClr val="63788A"/>
                </a:solidFill>
                <a:latin typeface="Helvetica Neue"/>
                <a:ea typeface="Helvetica Neue"/>
                <a:cs typeface="Helvetica Neue"/>
              </a:defRPr>
            </a:lvl7pPr>
            <a:lvl8pPr algn="l">
              <a:buNone/>
              <a:defRPr sz="1200" b="0">
                <a:solidFill>
                  <a:srgbClr val="63788A"/>
                </a:solidFill>
                <a:latin typeface="Helvetica Neue"/>
                <a:ea typeface="Helvetica Neue"/>
                <a:cs typeface="Helvetica Neue"/>
              </a:defRPr>
            </a:lvl8pPr>
            <a:lvl9pPr algn="l">
              <a:buNone/>
              <a:defRPr sz="1200" b="0">
                <a:solidFill>
                  <a:srgbClr val="63788A"/>
                </a:solidFill>
                <a:latin typeface="Helvetica Neue"/>
                <a:ea typeface="Helvetica Neue"/>
                <a:cs typeface="Helvetica Neue"/>
              </a:defRPr>
            </a:lvl9pPr>
          </a:lstStyle>
          <a:p xmlns:a="http://schemas.openxmlformats.org/drawingml/2006/main">
            <a:pPr algn="l">
              <a:buNone/>
              <a:defRPr sz="1200" b="0">
                <a:solidFill>
                  <a:srgbClr val="63788A"/>
                </a:solidFill>
                <a:latin typeface="Helvetica Neue"/>
                <a:ea typeface="Helvetica Neue"/>
                <a:cs typeface="Helvetica Neue"/>
              </a:defRPr>
            </a:pPr>
            <a:r>
              <a:rPr sz="1200" b="0">
                <a:solidFill>
                  <a:srgbClr val="63788A"/>
                </a:solidFill>
                <a:latin typeface="Helvetica Neue"/>
                <a:ea typeface="Helvetica Neue"/>
                <a:cs typeface="Helvetica Neue"/>
              </a:rPr>
              <a:t>supplied held-out rows</a:t>
            </a:r>
          </a:p>
        </p:txBody>
      </p:sp>
      <p:sp>
        <p:nvSpPr>
          <p:cNvPr id="25" name="Rectangle 24">
            <a:extLst xmlns:a="http://schemas.openxmlformats.org/drawingml/2006/main">
              <a:ext uri="{FF2B5EF4-FFF2-40B4-BE49-F238E27FC236}">
                <a16:creationId xmlns:a16="http://schemas.microsoft.com/office/drawing/2014/main" id="{ED2120C5-39D0-48A7-A011-0114432BC214}"/>
              </a:ext>
            </a:extLst>
          </p:cNvPr>
          <p:cNvSpPr>
            <a:spLocks xmlns:a="http://schemas.openxmlformats.org/drawingml/2006/main" noGrp="1"/>
          </p:cNvSpPr>
          <p:nvPr/>
        </p:nvSpPr>
        <p:spPr>
          <a:xfrm xmlns:a="http://schemas.openxmlformats.org/drawingml/2006/main">
            <a:off x="6534150" y="4191000"/>
            <a:ext cx="4524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650" b="1">
                <a:solidFill>
                  <a:srgbClr val="243A50"/>
                </a:solidFill>
                <a:latin typeface="Helvetica Neue"/>
                <a:ea typeface="Helvetica Neue"/>
                <a:cs typeface="Helvetica Neue"/>
              </a:defRPr>
            </a:defPPr>
            <a:lvl1pPr algn="l">
              <a:buNone/>
              <a:defRPr sz="1650" b="1">
                <a:solidFill>
                  <a:srgbClr val="243A50"/>
                </a:solidFill>
                <a:latin typeface="Helvetica Neue"/>
                <a:ea typeface="Helvetica Neue"/>
                <a:cs typeface="Helvetica Neue"/>
              </a:defRPr>
            </a:lvl1pPr>
            <a:lvl2pPr algn="l">
              <a:buNone/>
              <a:defRPr sz="1650" b="1">
                <a:solidFill>
                  <a:srgbClr val="243A50"/>
                </a:solidFill>
                <a:latin typeface="Helvetica Neue"/>
                <a:ea typeface="Helvetica Neue"/>
                <a:cs typeface="Helvetica Neue"/>
              </a:defRPr>
            </a:lvl2pPr>
            <a:lvl3pPr algn="l">
              <a:buNone/>
              <a:defRPr sz="1650" b="1">
                <a:solidFill>
                  <a:srgbClr val="243A50"/>
                </a:solidFill>
                <a:latin typeface="Helvetica Neue"/>
                <a:ea typeface="Helvetica Neue"/>
                <a:cs typeface="Helvetica Neue"/>
              </a:defRPr>
            </a:lvl3pPr>
            <a:lvl4pPr algn="l">
              <a:buNone/>
              <a:defRPr sz="1650" b="1">
                <a:solidFill>
                  <a:srgbClr val="243A50"/>
                </a:solidFill>
                <a:latin typeface="Helvetica Neue"/>
                <a:ea typeface="Helvetica Neue"/>
                <a:cs typeface="Helvetica Neue"/>
              </a:defRPr>
            </a:lvl4pPr>
            <a:lvl5pPr algn="l">
              <a:buNone/>
              <a:defRPr sz="1650" b="1">
                <a:solidFill>
                  <a:srgbClr val="243A50"/>
                </a:solidFill>
                <a:latin typeface="Helvetica Neue"/>
                <a:ea typeface="Helvetica Neue"/>
                <a:cs typeface="Helvetica Neue"/>
              </a:defRPr>
            </a:lvl5pPr>
            <a:lvl6pPr algn="l">
              <a:buNone/>
              <a:defRPr sz="1650" b="1">
                <a:solidFill>
                  <a:srgbClr val="243A50"/>
                </a:solidFill>
                <a:latin typeface="Helvetica Neue"/>
                <a:ea typeface="Helvetica Neue"/>
                <a:cs typeface="Helvetica Neue"/>
              </a:defRPr>
            </a:lvl6pPr>
            <a:lvl7pPr algn="l">
              <a:buNone/>
              <a:defRPr sz="1650" b="1">
                <a:solidFill>
                  <a:srgbClr val="243A50"/>
                </a:solidFill>
                <a:latin typeface="Helvetica Neue"/>
                <a:ea typeface="Helvetica Neue"/>
                <a:cs typeface="Helvetica Neue"/>
              </a:defRPr>
            </a:lvl7pPr>
            <a:lvl8pPr algn="l">
              <a:buNone/>
              <a:defRPr sz="1650" b="1">
                <a:solidFill>
                  <a:srgbClr val="243A50"/>
                </a:solidFill>
                <a:latin typeface="Helvetica Neue"/>
                <a:ea typeface="Helvetica Neue"/>
                <a:cs typeface="Helvetica Neue"/>
              </a:defRPr>
            </a:lvl8pPr>
            <a:lvl9pPr algn="l">
              <a:buNone/>
              <a:defRPr sz="1650" b="1">
                <a:solidFill>
                  <a:srgbClr val="243A50"/>
                </a:solidFill>
                <a:latin typeface="Helvetica Neue"/>
                <a:ea typeface="Helvetica Neue"/>
                <a:cs typeface="Helvetica Neue"/>
              </a:defRPr>
            </a:lvl9pPr>
          </a:lstStyle>
          <a:p xmlns:a="http://schemas.openxmlformats.org/drawingml/2006/main">
            <a:pPr algn="l">
              <a:buNone/>
              <a:defRPr sz="1650" b="1">
                <a:solidFill>
                  <a:srgbClr val="243A50"/>
                </a:solidFill>
                <a:latin typeface="Helvetica Neue"/>
                <a:ea typeface="Helvetica Neue"/>
                <a:cs typeface="Helvetica Neue"/>
              </a:defRPr>
            </a:pPr>
            <a:r>
              <a:rPr sz="1650" b="1">
                <a:solidFill>
                  <a:srgbClr val="243A50"/>
                </a:solidFill>
                <a:latin typeface="Helvetica Neue"/>
                <a:ea typeface="Helvetica Neue"/>
                <a:cs typeface="Helvetica Neue"/>
              </a:rPr>
              <a:t>UJIIndoorLoc · 529 columns</a:t>
            </a:r>
          </a:p>
        </p:txBody>
      </p:sp>
      <p:sp>
        <p:nvSpPr>
          <p:cNvPr id="26" name="Rectangle 25">
            <a:extLst xmlns:a="http://schemas.openxmlformats.org/drawingml/2006/main">
              <a:ext uri="{FF2B5EF4-FFF2-40B4-BE49-F238E27FC236}">
                <a16:creationId xmlns:a16="http://schemas.microsoft.com/office/drawing/2014/main" id="{ED9FD415-7AED-4998-9FCB-3D4316C23086}"/>
              </a:ext>
            </a:extLst>
          </p:cNvPr>
          <p:cNvSpPr>
            <a:spLocks xmlns:a="http://schemas.openxmlformats.org/drawingml/2006/main" noGrp="1"/>
          </p:cNvSpPr>
          <p:nvPr/>
        </p:nvSpPr>
        <p:spPr>
          <a:xfrm xmlns:a="http://schemas.openxmlformats.org/drawingml/2006/main">
            <a:off x="6534150" y="46101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63788A"/>
                </a:solidFill>
                <a:latin typeface="Helvetica Neue"/>
                <a:ea typeface="Helvetica Neue"/>
                <a:cs typeface="Helvetica Neue"/>
              </a:defRPr>
            </a:defPPr>
            <a:lvl1pPr algn="l">
              <a:buNone/>
              <a:defRPr sz="1275" b="0">
                <a:solidFill>
                  <a:srgbClr val="63788A"/>
                </a:solidFill>
                <a:latin typeface="Helvetica Neue"/>
                <a:ea typeface="Helvetica Neue"/>
                <a:cs typeface="Helvetica Neue"/>
              </a:defRPr>
            </a:lvl1pPr>
            <a:lvl2pPr algn="l">
              <a:buNone/>
              <a:defRPr sz="1275" b="0">
                <a:solidFill>
                  <a:srgbClr val="63788A"/>
                </a:solidFill>
                <a:latin typeface="Helvetica Neue"/>
                <a:ea typeface="Helvetica Neue"/>
                <a:cs typeface="Helvetica Neue"/>
              </a:defRPr>
            </a:lvl2pPr>
            <a:lvl3pPr algn="l">
              <a:buNone/>
              <a:defRPr sz="1275" b="0">
                <a:solidFill>
                  <a:srgbClr val="63788A"/>
                </a:solidFill>
                <a:latin typeface="Helvetica Neue"/>
                <a:ea typeface="Helvetica Neue"/>
                <a:cs typeface="Helvetica Neue"/>
              </a:defRPr>
            </a:lvl3pPr>
            <a:lvl4pPr algn="l">
              <a:buNone/>
              <a:defRPr sz="1275" b="0">
                <a:solidFill>
                  <a:srgbClr val="63788A"/>
                </a:solidFill>
                <a:latin typeface="Helvetica Neue"/>
                <a:ea typeface="Helvetica Neue"/>
                <a:cs typeface="Helvetica Neue"/>
              </a:defRPr>
            </a:lvl4pPr>
            <a:lvl5pPr algn="l">
              <a:buNone/>
              <a:defRPr sz="1275" b="0">
                <a:solidFill>
                  <a:srgbClr val="63788A"/>
                </a:solidFill>
                <a:latin typeface="Helvetica Neue"/>
                <a:ea typeface="Helvetica Neue"/>
                <a:cs typeface="Helvetica Neue"/>
              </a:defRPr>
            </a:lvl5pPr>
            <a:lvl6pPr algn="l">
              <a:buNone/>
              <a:defRPr sz="1275" b="0">
                <a:solidFill>
                  <a:srgbClr val="63788A"/>
                </a:solidFill>
                <a:latin typeface="Helvetica Neue"/>
                <a:ea typeface="Helvetica Neue"/>
                <a:cs typeface="Helvetica Neue"/>
              </a:defRPr>
            </a:lvl6pPr>
            <a:lvl7pPr algn="l">
              <a:buNone/>
              <a:defRPr sz="1275" b="0">
                <a:solidFill>
                  <a:srgbClr val="63788A"/>
                </a:solidFill>
                <a:latin typeface="Helvetica Neue"/>
                <a:ea typeface="Helvetica Neue"/>
                <a:cs typeface="Helvetica Neue"/>
              </a:defRPr>
            </a:lvl7pPr>
            <a:lvl8pPr algn="l">
              <a:buNone/>
              <a:defRPr sz="1275" b="0">
                <a:solidFill>
                  <a:srgbClr val="63788A"/>
                </a:solidFill>
                <a:latin typeface="Helvetica Neue"/>
                <a:ea typeface="Helvetica Neue"/>
                <a:cs typeface="Helvetica Neue"/>
              </a:defRPr>
            </a:lvl8pPr>
            <a:lvl9pPr algn="l">
              <a:buNone/>
              <a:defRPr sz="1275" b="0">
                <a:solidFill>
                  <a:srgbClr val="63788A"/>
                </a:solidFill>
                <a:latin typeface="Helvetica Neue"/>
                <a:ea typeface="Helvetica Neue"/>
                <a:cs typeface="Helvetica Neue"/>
              </a:defRPr>
            </a:lvl9pPr>
          </a:lstStyle>
          <a:p xmlns:a="http://schemas.openxmlformats.org/drawingml/2006/main">
            <a:pPr algn="l">
              <a:buNone/>
              <a:defRPr sz="1275" b="0">
                <a:solidFill>
                  <a:srgbClr val="63788A"/>
                </a:solidFill>
                <a:latin typeface="Helvetica Neue"/>
                <a:ea typeface="Helvetica Neue"/>
                <a:cs typeface="Helvetica Neue"/>
              </a:defRPr>
            </a:pPr>
            <a:r>
              <a:rPr sz="1275" b="0">
                <a:solidFill>
                  <a:srgbClr val="63788A"/>
                </a:solidFill>
                <a:latin typeface="Helvetica Neue"/>
                <a:ea typeface="Helvetica Neue"/>
                <a:cs typeface="Helvetica Neue"/>
              </a:rPr>
              <a:t>520 WAP fields · 4 targets · 5 metadata fields</a:t>
            </a:r>
          </a:p>
        </p:txBody>
      </p:sp>
    </p:spTree>
    <p:extLst>
      <p:ext uri="{BB962C8B-B14F-4D97-AF65-F5344CB8AC3E}">
        <p14:creationId xmlns:p14="http://schemas.microsoft.com/office/powerpoint/2010/main" val="1818882778"/>
      </p:ext>
    </p:extLst>
  </p:cSld>
</p:sld>
</file>

<file path=ppt/slides/slide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16097A18-8E3B-462E-B98E-246EF460F5BD}"/>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C7DBD1"/>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CA39C72C-71EB-41D2-B3C7-446E3233FEF8}"/>
              </a:ext>
            </a:extLst>
          </p:cNvPr>
          <p:cNvSpPr>
            <a:spLocks xmlns:a="http://schemas.openxmlformats.org/drawingml/2006/main" noGrp="1"/>
          </p:cNvSpPr>
          <p:nvPr/>
        </p:nvSpPr>
        <p:spPr>
          <a:xfrm xmlns:a="http://schemas.openxmlformats.org/drawingml/2006/main">
            <a:off x="609600" y="37147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625" b="1">
                <a:solidFill>
                  <a:srgbClr val="243A50"/>
                </a:solidFill>
                <a:latin typeface="Helvetica Neue"/>
                <a:ea typeface="Helvetica Neue"/>
                <a:cs typeface="Helvetica Neue"/>
              </a:defRPr>
            </a:defPPr>
            <a:lvl1pPr algn="l">
              <a:buNone/>
              <a:defRPr sz="2625" b="1">
                <a:solidFill>
                  <a:srgbClr val="243A50"/>
                </a:solidFill>
                <a:latin typeface="Helvetica Neue"/>
                <a:ea typeface="Helvetica Neue"/>
                <a:cs typeface="Helvetica Neue"/>
              </a:defRPr>
            </a:lvl1pPr>
            <a:lvl2pPr algn="l">
              <a:buNone/>
              <a:defRPr sz="2625" b="1">
                <a:solidFill>
                  <a:srgbClr val="243A50"/>
                </a:solidFill>
                <a:latin typeface="Helvetica Neue"/>
                <a:ea typeface="Helvetica Neue"/>
                <a:cs typeface="Helvetica Neue"/>
              </a:defRPr>
            </a:lvl2pPr>
            <a:lvl3pPr algn="l">
              <a:buNone/>
              <a:defRPr sz="2625" b="1">
                <a:solidFill>
                  <a:srgbClr val="243A50"/>
                </a:solidFill>
                <a:latin typeface="Helvetica Neue"/>
                <a:ea typeface="Helvetica Neue"/>
                <a:cs typeface="Helvetica Neue"/>
              </a:defRPr>
            </a:lvl3pPr>
            <a:lvl4pPr algn="l">
              <a:buNone/>
              <a:defRPr sz="2625" b="1">
                <a:solidFill>
                  <a:srgbClr val="243A50"/>
                </a:solidFill>
                <a:latin typeface="Helvetica Neue"/>
                <a:ea typeface="Helvetica Neue"/>
                <a:cs typeface="Helvetica Neue"/>
              </a:defRPr>
            </a:lvl4pPr>
            <a:lvl5pPr algn="l">
              <a:buNone/>
              <a:defRPr sz="2625" b="1">
                <a:solidFill>
                  <a:srgbClr val="243A50"/>
                </a:solidFill>
                <a:latin typeface="Helvetica Neue"/>
                <a:ea typeface="Helvetica Neue"/>
                <a:cs typeface="Helvetica Neue"/>
              </a:defRPr>
            </a:lvl5pPr>
            <a:lvl6pPr algn="l">
              <a:buNone/>
              <a:defRPr sz="2625" b="1">
                <a:solidFill>
                  <a:srgbClr val="243A50"/>
                </a:solidFill>
                <a:latin typeface="Helvetica Neue"/>
                <a:ea typeface="Helvetica Neue"/>
                <a:cs typeface="Helvetica Neue"/>
              </a:defRPr>
            </a:lvl6pPr>
            <a:lvl7pPr algn="l">
              <a:buNone/>
              <a:defRPr sz="2625" b="1">
                <a:solidFill>
                  <a:srgbClr val="243A50"/>
                </a:solidFill>
                <a:latin typeface="Helvetica Neue"/>
                <a:ea typeface="Helvetica Neue"/>
                <a:cs typeface="Helvetica Neue"/>
              </a:defRPr>
            </a:lvl7pPr>
            <a:lvl8pPr algn="l">
              <a:buNone/>
              <a:defRPr sz="2625" b="1">
                <a:solidFill>
                  <a:srgbClr val="243A50"/>
                </a:solidFill>
                <a:latin typeface="Helvetica Neue"/>
                <a:ea typeface="Helvetica Neue"/>
                <a:cs typeface="Helvetica Neue"/>
              </a:defRPr>
            </a:lvl8pPr>
            <a:lvl9pPr algn="l">
              <a:buNone/>
              <a:defRPr sz="2625" b="1">
                <a:solidFill>
                  <a:srgbClr val="243A50"/>
                </a:solidFill>
                <a:latin typeface="Helvetica Neue"/>
                <a:ea typeface="Helvetica Neue"/>
                <a:cs typeface="Helvetica Neue"/>
              </a:defRPr>
            </a:lvl9pPr>
          </a:lstStyle>
          <a:p xmlns:a="http://schemas.openxmlformats.org/drawingml/2006/main">
            <a:pPr algn="l">
              <a:buNone/>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Evaluation design and held-out boundary</a:t>
            </a:r>
          </a:p>
        </p:txBody>
      </p:sp>
      <p:sp>
        <p:nvSpPr>
          <p:cNvPr id="3" name="Rectangle 2">
            <a:extLst xmlns:a="http://schemas.openxmlformats.org/drawingml/2006/main">
              <a:ext uri="{FF2B5EF4-FFF2-40B4-BE49-F238E27FC236}">
                <a16:creationId xmlns:a16="http://schemas.microsoft.com/office/drawing/2014/main" id="{9D57DEA3-106D-424A-9F07-E051B9839DB1}"/>
              </a:ext>
            </a:extLst>
          </p:cNvPr>
          <p:cNvSpPr>
            <a:spLocks xmlns:a="http://schemas.openxmlformats.org/drawingml/2006/main" noGrp="1"/>
          </p:cNvSpPr>
          <p:nvPr/>
        </p:nvSpPr>
        <p:spPr>
          <a:xfrm xmlns:a="http://schemas.openxmlformats.org/drawingml/2006/main">
            <a:off x="628650" y="904875"/>
            <a:ext cx="10839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Use internal validation to select settings; reserve the supplied file for final reporting.</a:t>
            </a:r>
          </a:p>
        </p:txBody>
      </p:sp>
      <p:sp>
        <p:nvSpPr>
          <p:cNvPr id="4" name="Straight Connector 3">
            <a:extLst xmlns:a="http://schemas.openxmlformats.org/drawingml/2006/main">
              <a:ext uri="{FF2B5EF4-FFF2-40B4-BE49-F238E27FC236}">
                <a16:creationId xmlns:a16="http://schemas.microsoft.com/office/drawing/2014/main" id="{81F3E2D4-3A70-4D45-AC07-BCC7D6F7538D}"/>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BD5DA"/>
            </a:solidFill>
            <a:prstDash val="solid"/>
          </a:ln>
        </p:spPr>
      </p:sp>
      <p:sp>
        <p:nvSpPr>
          <p:cNvPr id="5" name="Rectangle 4">
            <a:extLst xmlns:a="http://schemas.openxmlformats.org/drawingml/2006/main">
              <a:ext uri="{FF2B5EF4-FFF2-40B4-BE49-F238E27FC236}">
                <a16:creationId xmlns:a16="http://schemas.microsoft.com/office/drawing/2014/main" id="{656CD33F-9DA4-4466-A37A-EF9AA5C9375A}"/>
              </a:ext>
            </a:extLst>
          </p:cNvPr>
          <p:cNvSpPr>
            <a:spLocks xmlns:a="http://schemas.openxmlformats.org/drawingml/2006/main" noGrp="1"/>
          </p:cNvSpPr>
          <p:nvPr/>
        </p:nvSpPr>
        <p:spPr>
          <a:xfrm xmlns:a="http://schemas.openxmlformats.org/drawingml/2006/main">
            <a:off x="609600" y="64770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900" b="0">
                <a:solidFill>
                  <a:srgbClr val="63788A"/>
                </a:solidFill>
                <a:latin typeface="Helvetica Neue"/>
                <a:ea typeface="Helvetica Neue"/>
                <a:cs typeface="Helvetica Neue"/>
              </a:defRPr>
            </a:defPPr>
            <a:lvl1pPr algn="r">
              <a:buNone/>
              <a:defRPr sz="900" b="0">
                <a:solidFill>
                  <a:srgbClr val="63788A"/>
                </a:solidFill>
                <a:latin typeface="Helvetica Neue"/>
                <a:ea typeface="Helvetica Neue"/>
                <a:cs typeface="Helvetica Neue"/>
              </a:defRPr>
            </a:lvl1pPr>
            <a:lvl2pPr algn="r">
              <a:buNone/>
              <a:defRPr sz="900" b="0">
                <a:solidFill>
                  <a:srgbClr val="63788A"/>
                </a:solidFill>
                <a:latin typeface="Helvetica Neue"/>
                <a:ea typeface="Helvetica Neue"/>
                <a:cs typeface="Helvetica Neue"/>
              </a:defRPr>
            </a:lvl2pPr>
            <a:lvl3pPr algn="r">
              <a:buNone/>
              <a:defRPr sz="900" b="0">
                <a:solidFill>
                  <a:srgbClr val="63788A"/>
                </a:solidFill>
                <a:latin typeface="Helvetica Neue"/>
                <a:ea typeface="Helvetica Neue"/>
                <a:cs typeface="Helvetica Neue"/>
              </a:defRPr>
            </a:lvl3pPr>
            <a:lvl4pPr algn="r">
              <a:buNone/>
              <a:defRPr sz="900" b="0">
                <a:solidFill>
                  <a:srgbClr val="63788A"/>
                </a:solidFill>
                <a:latin typeface="Helvetica Neue"/>
                <a:ea typeface="Helvetica Neue"/>
                <a:cs typeface="Helvetica Neue"/>
              </a:defRPr>
            </a:lvl4pPr>
            <a:lvl5pPr algn="r">
              <a:buNone/>
              <a:defRPr sz="900" b="0">
                <a:solidFill>
                  <a:srgbClr val="63788A"/>
                </a:solidFill>
                <a:latin typeface="Helvetica Neue"/>
                <a:ea typeface="Helvetica Neue"/>
                <a:cs typeface="Helvetica Neue"/>
              </a:defRPr>
            </a:lvl5pPr>
            <a:lvl6pPr algn="r">
              <a:buNone/>
              <a:defRPr sz="900" b="0">
                <a:solidFill>
                  <a:srgbClr val="63788A"/>
                </a:solidFill>
                <a:latin typeface="Helvetica Neue"/>
                <a:ea typeface="Helvetica Neue"/>
                <a:cs typeface="Helvetica Neue"/>
              </a:defRPr>
            </a:lvl6pPr>
            <a:lvl7pPr algn="r">
              <a:buNone/>
              <a:defRPr sz="900" b="0">
                <a:solidFill>
                  <a:srgbClr val="63788A"/>
                </a:solidFill>
                <a:latin typeface="Helvetica Neue"/>
                <a:ea typeface="Helvetica Neue"/>
                <a:cs typeface="Helvetica Neue"/>
              </a:defRPr>
            </a:lvl7pPr>
            <a:lvl8pPr algn="r">
              <a:buNone/>
              <a:defRPr sz="900" b="0">
                <a:solidFill>
                  <a:srgbClr val="63788A"/>
                </a:solidFill>
                <a:latin typeface="Helvetica Neue"/>
                <a:ea typeface="Helvetica Neue"/>
                <a:cs typeface="Helvetica Neue"/>
              </a:defRPr>
            </a:lvl8pPr>
            <a:lvl9pPr algn="r">
              <a:buNone/>
              <a:defRPr sz="900" b="0">
                <a:solidFill>
                  <a:srgbClr val="63788A"/>
                </a:solidFill>
                <a:latin typeface="Helvetica Neue"/>
                <a:ea typeface="Helvetica Neue"/>
                <a:cs typeface="Helvetica Neue"/>
              </a:defRPr>
            </a:lvl9pPr>
          </a:lstStyle>
          <a:p xmlns:a="http://schemas.openxmlformats.org/drawingml/2006/main">
            <a:pPr algn="r">
              <a:buNone/>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03</a:t>
            </a:r>
          </a:p>
        </p:txBody>
      </p:sp>
      <p:sp>
        <p:nvSpPr>
          <p:cNvPr id="6" name="Rounded Rectangle 5">
            <a:extLst xmlns:a="http://schemas.openxmlformats.org/drawingml/2006/main">
              <a:ext uri="{FF2B5EF4-FFF2-40B4-BE49-F238E27FC236}">
                <a16:creationId xmlns:a16="http://schemas.microsoft.com/office/drawing/2014/main" id="{CCBBE506-C881-48A1-88B9-FFF4C9D11D59}"/>
              </a:ext>
            </a:extLst>
          </p:cNvPr>
          <p:cNvSpPr>
            <a:spLocks xmlns:a="http://schemas.openxmlformats.org/drawingml/2006/main" noGrp="1"/>
          </p:cNvSpPr>
          <p:nvPr/>
        </p:nvSpPr>
        <p:spPr>
          <a:xfrm xmlns:a="http://schemas.openxmlformats.org/drawingml/2006/main">
            <a:off x="647700" y="1924050"/>
            <a:ext cx="2286000" cy="1466850"/>
          </a:xfrm>
          <a:prstGeom xmlns:a="http://schemas.openxmlformats.org/drawingml/2006/main" prst="roundRect">
            <a:avLst>
              <a:gd name="adj" fmla="val 5195"/>
            </a:avLst>
          </a:prstGeom>
          <a:solidFill xmlns:a="http://schemas.openxmlformats.org/drawingml/2006/main">
            <a:srgbClr val="E8EFF4"/>
          </a:solidFill>
          <a:ln xmlns:a="http://schemas.openxmlformats.org/drawingml/2006/main" w="9525">
            <a:solidFill>
              <a:srgbClr val="CBD5DA"/>
            </a:solidFill>
            <a:prstDash val="solid"/>
          </a:ln>
        </p:spPr>
      </p:sp>
      <p:sp>
        <p:nvSpPr>
          <p:cNvPr id="7" name="Rectangle 6">
            <a:extLst xmlns:a="http://schemas.openxmlformats.org/drawingml/2006/main">
              <a:ext uri="{FF2B5EF4-FFF2-40B4-BE49-F238E27FC236}">
                <a16:creationId xmlns:a16="http://schemas.microsoft.com/office/drawing/2014/main" id="{336E30ED-247F-49E4-B81F-992074F2974B}"/>
              </a:ext>
            </a:extLst>
          </p:cNvPr>
          <p:cNvSpPr>
            <a:spLocks xmlns:a="http://schemas.openxmlformats.org/drawingml/2006/main" noGrp="1"/>
          </p:cNvSpPr>
          <p:nvPr/>
        </p:nvSpPr>
        <p:spPr>
          <a:xfrm xmlns:a="http://schemas.openxmlformats.org/drawingml/2006/main">
            <a:off x="762000" y="2038350"/>
            <a:ext cx="2057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Training/reference</a:t>
            </a:r>
          </a:p>
        </p:txBody>
      </p:sp>
      <p:sp>
        <p:nvSpPr>
          <p:cNvPr id="8" name="Rectangle 7">
            <a:extLst xmlns:a="http://schemas.openxmlformats.org/drawingml/2006/main">
              <a:ext uri="{FF2B5EF4-FFF2-40B4-BE49-F238E27FC236}">
                <a16:creationId xmlns:a16="http://schemas.microsoft.com/office/drawing/2014/main" id="{A66C6C11-8F3C-4127-94A4-9960AD36E2C0}"/>
              </a:ext>
            </a:extLst>
          </p:cNvPr>
          <p:cNvSpPr>
            <a:spLocks xmlns:a="http://schemas.openxmlformats.org/drawingml/2006/main" noGrp="1"/>
          </p:cNvSpPr>
          <p:nvPr/>
        </p:nvSpPr>
        <p:spPr>
          <a:xfrm xmlns:a="http://schemas.openxmlformats.org/drawingml/2006/main">
            <a:off x="781050" y="2438400"/>
            <a:ext cx="20193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19,937 supplied rows</a:t>
            </a:r>
          </a:p>
        </p:txBody>
      </p:sp>
      <p:sp>
        <p:nvSpPr>
          <p:cNvPr id="9" name="Right Arrow 8">
            <a:extLst xmlns:a="http://schemas.openxmlformats.org/drawingml/2006/main">
              <a:ext uri="{FF2B5EF4-FFF2-40B4-BE49-F238E27FC236}">
                <a16:creationId xmlns:a16="http://schemas.microsoft.com/office/drawing/2014/main" id="{15BE7376-1388-4D75-8786-5AAE4FC0825E}"/>
              </a:ext>
            </a:extLst>
          </p:cNvPr>
          <p:cNvSpPr>
            <a:spLocks xmlns:a="http://schemas.openxmlformats.org/drawingml/2006/main" noGrp="1"/>
          </p:cNvSpPr>
          <p:nvPr/>
        </p:nvSpPr>
        <p:spPr>
          <a:xfrm xmlns:a="http://schemas.openxmlformats.org/drawingml/2006/main">
            <a:off x="3067050" y="2571750"/>
            <a:ext cx="457200" cy="152400"/>
          </a:xfrm>
          <a:prstGeom xmlns:a="http://schemas.openxmlformats.org/drawingml/2006/main" prst="rightArrow">
            <a:avLst/>
          </a:prstGeom>
          <a:solidFill xmlns:a="http://schemas.openxmlformats.org/drawingml/2006/main">
            <a:srgbClr val="64877F"/>
          </a:solidFill>
          <a:ln xmlns:a="http://schemas.openxmlformats.org/drawingml/2006/main" w="0">
            <a:noFill/>
            <a:prstDash val="solid"/>
          </a:ln>
        </p:spPr>
      </p:sp>
      <p:sp>
        <p:nvSpPr>
          <p:cNvPr id="10" name="Rounded Rectangle 9">
            <a:extLst xmlns:a="http://schemas.openxmlformats.org/drawingml/2006/main">
              <a:ext uri="{FF2B5EF4-FFF2-40B4-BE49-F238E27FC236}">
                <a16:creationId xmlns:a16="http://schemas.microsoft.com/office/drawing/2014/main" id="{DB124094-A09E-4975-99FE-79A2EC295D78}"/>
              </a:ext>
            </a:extLst>
          </p:cNvPr>
          <p:cNvSpPr>
            <a:spLocks xmlns:a="http://schemas.openxmlformats.org/drawingml/2006/main" noGrp="1"/>
          </p:cNvSpPr>
          <p:nvPr/>
        </p:nvSpPr>
        <p:spPr>
          <a:xfrm xmlns:a="http://schemas.openxmlformats.org/drawingml/2006/main">
            <a:off x="3714750" y="1714500"/>
            <a:ext cx="2400300" cy="1276350"/>
          </a:xfrm>
          <a:prstGeom xmlns:a="http://schemas.openxmlformats.org/drawingml/2006/main" prst="roundRect">
            <a:avLst>
              <a:gd name="adj" fmla="val 5970"/>
            </a:avLst>
          </a:prstGeom>
          <a:solidFill xmlns:a="http://schemas.openxmlformats.org/drawingml/2006/main">
            <a:srgbClr val="C7DBD1"/>
          </a:solidFill>
          <a:ln xmlns:a="http://schemas.openxmlformats.org/drawingml/2006/main" w="9525">
            <a:solidFill>
              <a:srgbClr val="CBD5DA"/>
            </a:solidFill>
            <a:prstDash val="solid"/>
          </a:ln>
        </p:spPr>
      </p:sp>
      <p:sp>
        <p:nvSpPr>
          <p:cNvPr id="11" name="Rectangle 10">
            <a:extLst xmlns:a="http://schemas.openxmlformats.org/drawingml/2006/main">
              <a:ext uri="{FF2B5EF4-FFF2-40B4-BE49-F238E27FC236}">
                <a16:creationId xmlns:a16="http://schemas.microsoft.com/office/drawing/2014/main" id="{B37377E8-1AB4-4469-8773-C9570BDE6EF1}"/>
              </a:ext>
            </a:extLst>
          </p:cNvPr>
          <p:cNvSpPr>
            <a:spLocks xmlns:a="http://schemas.openxmlformats.org/drawingml/2006/main" noGrp="1"/>
          </p:cNvSpPr>
          <p:nvPr/>
        </p:nvSpPr>
        <p:spPr>
          <a:xfrm xmlns:a="http://schemas.openxmlformats.org/drawingml/2006/main">
            <a:off x="3829050" y="1828800"/>
            <a:ext cx="2171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Internal training</a:t>
            </a:r>
          </a:p>
        </p:txBody>
      </p:sp>
      <p:sp>
        <p:nvSpPr>
          <p:cNvPr id="12" name="Rectangle 11">
            <a:extLst xmlns:a="http://schemas.openxmlformats.org/drawingml/2006/main">
              <a:ext uri="{FF2B5EF4-FFF2-40B4-BE49-F238E27FC236}">
                <a16:creationId xmlns:a16="http://schemas.microsoft.com/office/drawing/2014/main" id="{943E1009-4956-4815-850E-C4EC3BA60AA6}"/>
              </a:ext>
            </a:extLst>
          </p:cNvPr>
          <p:cNvSpPr>
            <a:spLocks xmlns:a="http://schemas.openxmlformats.org/drawingml/2006/main" noGrp="1"/>
          </p:cNvSpPr>
          <p:nvPr/>
        </p:nvSpPr>
        <p:spPr>
          <a:xfrm xmlns:a="http://schemas.openxmlformats.org/drawingml/2006/main">
            <a:off x="3848100" y="2228850"/>
            <a:ext cx="2133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16,085 rows · fit scaler</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and estimator</a:t>
            </a:r>
          </a:p>
        </p:txBody>
      </p:sp>
      <p:sp>
        <p:nvSpPr>
          <p:cNvPr id="13" name="Rounded Rectangle 12">
            <a:extLst xmlns:a="http://schemas.openxmlformats.org/drawingml/2006/main">
              <a:ext uri="{FF2B5EF4-FFF2-40B4-BE49-F238E27FC236}">
                <a16:creationId xmlns:a16="http://schemas.microsoft.com/office/drawing/2014/main" id="{EDAF29B6-4209-41C5-9411-3FD1703CFA54}"/>
              </a:ext>
            </a:extLst>
          </p:cNvPr>
          <p:cNvSpPr>
            <a:spLocks xmlns:a="http://schemas.openxmlformats.org/drawingml/2006/main" noGrp="1"/>
          </p:cNvSpPr>
          <p:nvPr/>
        </p:nvSpPr>
        <p:spPr>
          <a:xfrm xmlns:a="http://schemas.openxmlformats.org/drawingml/2006/main">
            <a:off x="3714750" y="3238500"/>
            <a:ext cx="2400300" cy="1276350"/>
          </a:xfrm>
          <a:prstGeom xmlns:a="http://schemas.openxmlformats.org/drawingml/2006/main" prst="roundRect">
            <a:avLst>
              <a:gd name="adj" fmla="val 5970"/>
            </a:avLst>
          </a:prstGeom>
          <a:solidFill xmlns:a="http://schemas.openxmlformats.org/drawingml/2006/main">
            <a:srgbClr val="F1E9DB"/>
          </a:solidFill>
          <a:ln xmlns:a="http://schemas.openxmlformats.org/drawingml/2006/main" w="9525">
            <a:solidFill>
              <a:srgbClr val="CBD5DA"/>
            </a:solidFill>
            <a:prstDash val="solid"/>
          </a:ln>
        </p:spPr>
      </p:sp>
      <p:sp>
        <p:nvSpPr>
          <p:cNvPr id="14" name="Rectangle 13">
            <a:extLst xmlns:a="http://schemas.openxmlformats.org/drawingml/2006/main">
              <a:ext uri="{FF2B5EF4-FFF2-40B4-BE49-F238E27FC236}">
                <a16:creationId xmlns:a16="http://schemas.microsoft.com/office/drawing/2014/main" id="{EC6B7F43-19C1-400F-B9BA-09B5A57D59B3}"/>
              </a:ext>
            </a:extLst>
          </p:cNvPr>
          <p:cNvSpPr>
            <a:spLocks xmlns:a="http://schemas.openxmlformats.org/drawingml/2006/main" noGrp="1"/>
          </p:cNvSpPr>
          <p:nvPr/>
        </p:nvSpPr>
        <p:spPr>
          <a:xfrm xmlns:a="http://schemas.openxmlformats.org/drawingml/2006/main">
            <a:off x="3829050" y="3352800"/>
            <a:ext cx="2171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Internal validation</a:t>
            </a:r>
          </a:p>
        </p:txBody>
      </p:sp>
      <p:sp>
        <p:nvSpPr>
          <p:cNvPr id="15" name="Rectangle 14">
            <a:extLst xmlns:a="http://schemas.openxmlformats.org/drawingml/2006/main">
              <a:ext uri="{FF2B5EF4-FFF2-40B4-BE49-F238E27FC236}">
                <a16:creationId xmlns:a16="http://schemas.microsoft.com/office/drawing/2014/main" id="{E8D2C3BA-3DA8-42C8-875C-98F97A9BBEBC}"/>
              </a:ext>
            </a:extLst>
          </p:cNvPr>
          <p:cNvSpPr>
            <a:spLocks xmlns:a="http://schemas.openxmlformats.org/drawingml/2006/main" noGrp="1"/>
          </p:cNvSpPr>
          <p:nvPr/>
        </p:nvSpPr>
        <p:spPr>
          <a:xfrm xmlns:a="http://schemas.openxmlformats.org/drawingml/2006/main">
            <a:off x="3848100" y="3752850"/>
            <a:ext cx="2133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3,852 rows · compare</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candidates</a:t>
            </a:r>
          </a:p>
        </p:txBody>
      </p:sp>
      <p:sp>
        <p:nvSpPr>
          <p:cNvPr id="16" name="Right Arrow 15">
            <a:extLst xmlns:a="http://schemas.openxmlformats.org/drawingml/2006/main">
              <a:ext uri="{FF2B5EF4-FFF2-40B4-BE49-F238E27FC236}">
                <a16:creationId xmlns:a16="http://schemas.microsoft.com/office/drawing/2014/main" id="{71A28E90-E01B-4E75-BA56-9F484A92BE2C}"/>
              </a:ext>
            </a:extLst>
          </p:cNvPr>
          <p:cNvSpPr>
            <a:spLocks xmlns:a="http://schemas.openxmlformats.org/drawingml/2006/main" noGrp="1"/>
          </p:cNvSpPr>
          <p:nvPr/>
        </p:nvSpPr>
        <p:spPr>
          <a:xfrm xmlns:a="http://schemas.openxmlformats.org/drawingml/2006/main">
            <a:off x="6219825" y="2171700"/>
            <a:ext cx="419100" cy="152400"/>
          </a:xfrm>
          <a:prstGeom xmlns:a="http://schemas.openxmlformats.org/drawingml/2006/main" prst="rightArrow">
            <a:avLst/>
          </a:prstGeom>
          <a:solidFill xmlns:a="http://schemas.openxmlformats.org/drawingml/2006/main">
            <a:srgbClr val="64877F"/>
          </a:solidFill>
          <a:ln xmlns:a="http://schemas.openxmlformats.org/drawingml/2006/main" w="0">
            <a:noFill/>
            <a:prstDash val="solid"/>
          </a:ln>
        </p:spPr>
      </p:sp>
      <p:sp>
        <p:nvSpPr>
          <p:cNvPr id="17" name="Right Arrow 16">
            <a:extLst xmlns:a="http://schemas.openxmlformats.org/drawingml/2006/main">
              <a:ext uri="{FF2B5EF4-FFF2-40B4-BE49-F238E27FC236}">
                <a16:creationId xmlns:a16="http://schemas.microsoft.com/office/drawing/2014/main" id="{6B4BE43D-A215-45D2-ADDD-E28E37FB891F}"/>
              </a:ext>
            </a:extLst>
          </p:cNvPr>
          <p:cNvSpPr>
            <a:spLocks xmlns:a="http://schemas.openxmlformats.org/drawingml/2006/main" noGrp="1"/>
          </p:cNvSpPr>
          <p:nvPr/>
        </p:nvSpPr>
        <p:spPr>
          <a:xfrm xmlns:a="http://schemas.openxmlformats.org/drawingml/2006/main">
            <a:off x="6219825" y="3705225"/>
            <a:ext cx="419100" cy="152400"/>
          </a:xfrm>
          <a:prstGeom xmlns:a="http://schemas.openxmlformats.org/drawingml/2006/main" prst="rightArrow">
            <a:avLst/>
          </a:prstGeom>
          <a:solidFill xmlns:a="http://schemas.openxmlformats.org/drawingml/2006/main">
            <a:srgbClr val="64877F"/>
          </a:solidFill>
          <a:ln xmlns:a="http://schemas.openxmlformats.org/drawingml/2006/main" w="0">
            <a:noFill/>
            <a:prstDash val="solid"/>
          </a:ln>
        </p:spPr>
      </p:sp>
      <p:sp>
        <p:nvSpPr>
          <p:cNvPr id="18" name="Rounded Rectangle 17">
            <a:extLst xmlns:a="http://schemas.openxmlformats.org/drawingml/2006/main">
              <a:ext uri="{FF2B5EF4-FFF2-40B4-BE49-F238E27FC236}">
                <a16:creationId xmlns:a16="http://schemas.microsoft.com/office/drawing/2014/main" id="{1376721D-3593-4927-AEAE-BC11E39D38A9}"/>
              </a:ext>
            </a:extLst>
          </p:cNvPr>
          <p:cNvSpPr>
            <a:spLocks xmlns:a="http://schemas.openxmlformats.org/drawingml/2006/main" noGrp="1"/>
          </p:cNvSpPr>
          <p:nvPr/>
        </p:nvSpPr>
        <p:spPr>
          <a:xfrm xmlns:a="http://schemas.openxmlformats.org/drawingml/2006/main">
            <a:off x="6762750" y="2381250"/>
            <a:ext cx="2095500" cy="1381125"/>
          </a:xfrm>
          <a:prstGeom xmlns:a="http://schemas.openxmlformats.org/drawingml/2006/main" prst="roundRect">
            <a:avLst>
              <a:gd name="adj" fmla="val 5517"/>
            </a:avLst>
          </a:prstGeom>
          <a:solidFill xmlns:a="http://schemas.openxmlformats.org/drawingml/2006/main">
            <a:srgbClr val="DCE7ED"/>
          </a:solidFill>
          <a:ln xmlns:a="http://schemas.openxmlformats.org/drawingml/2006/main" w="9525">
            <a:solidFill>
              <a:srgbClr val="CBD5DA"/>
            </a:solidFill>
            <a:prstDash val="solid"/>
          </a:ln>
        </p:spPr>
      </p:sp>
      <p:sp>
        <p:nvSpPr>
          <p:cNvPr id="19" name="Rectangle 18">
            <a:extLst xmlns:a="http://schemas.openxmlformats.org/drawingml/2006/main">
              <a:ext uri="{FF2B5EF4-FFF2-40B4-BE49-F238E27FC236}">
                <a16:creationId xmlns:a16="http://schemas.microsoft.com/office/drawing/2014/main" id="{7B56A0E8-0073-410A-BB4E-15AECE598C0D}"/>
              </a:ext>
            </a:extLst>
          </p:cNvPr>
          <p:cNvSpPr>
            <a:spLocks xmlns:a="http://schemas.openxmlformats.org/drawingml/2006/main" noGrp="1"/>
          </p:cNvSpPr>
          <p:nvPr/>
        </p:nvSpPr>
        <p:spPr>
          <a:xfrm xmlns:a="http://schemas.openxmlformats.org/drawingml/2006/main">
            <a:off x="6877050" y="2495550"/>
            <a:ext cx="18669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Freeze settings</a:t>
            </a:r>
          </a:p>
        </p:txBody>
      </p:sp>
      <p:sp>
        <p:nvSpPr>
          <p:cNvPr id="20" name="Rectangle 19">
            <a:extLst xmlns:a="http://schemas.openxmlformats.org/drawingml/2006/main">
              <a:ext uri="{FF2B5EF4-FFF2-40B4-BE49-F238E27FC236}">
                <a16:creationId xmlns:a16="http://schemas.microsoft.com/office/drawing/2014/main" id="{1F42E3B0-D213-4E1E-B53D-649C40B6F031}"/>
              </a:ext>
            </a:extLst>
          </p:cNvPr>
          <p:cNvSpPr>
            <a:spLocks xmlns:a="http://schemas.openxmlformats.org/drawingml/2006/main" noGrp="1"/>
          </p:cNvSpPr>
          <p:nvPr/>
        </p:nvSpPr>
        <p:spPr>
          <a:xfrm xmlns:a="http://schemas.openxmlformats.org/drawingml/2006/main">
            <a:off x="6896100" y="2895600"/>
            <a:ext cx="18288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Select without using</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final held-out labels</a:t>
            </a:r>
          </a:p>
        </p:txBody>
      </p:sp>
      <p:sp>
        <p:nvSpPr>
          <p:cNvPr id="21" name="Right Arrow 20">
            <a:extLst xmlns:a="http://schemas.openxmlformats.org/drawingml/2006/main">
              <a:ext uri="{FF2B5EF4-FFF2-40B4-BE49-F238E27FC236}">
                <a16:creationId xmlns:a16="http://schemas.microsoft.com/office/drawing/2014/main" id="{6AF2A2A8-16D1-4561-80B1-466B1B14AE23}"/>
              </a:ext>
            </a:extLst>
          </p:cNvPr>
          <p:cNvSpPr>
            <a:spLocks xmlns:a="http://schemas.openxmlformats.org/drawingml/2006/main" noGrp="1"/>
          </p:cNvSpPr>
          <p:nvPr/>
        </p:nvSpPr>
        <p:spPr>
          <a:xfrm xmlns:a="http://schemas.openxmlformats.org/drawingml/2006/main">
            <a:off x="8963025" y="2990850"/>
            <a:ext cx="381000" cy="152400"/>
          </a:xfrm>
          <a:prstGeom xmlns:a="http://schemas.openxmlformats.org/drawingml/2006/main" prst="rightArrow">
            <a:avLst/>
          </a:prstGeom>
          <a:solidFill xmlns:a="http://schemas.openxmlformats.org/drawingml/2006/main">
            <a:srgbClr val="64877F"/>
          </a:solidFill>
          <a:ln xmlns:a="http://schemas.openxmlformats.org/drawingml/2006/main" w="0">
            <a:noFill/>
            <a:prstDash val="solid"/>
          </a:ln>
        </p:spPr>
      </p:sp>
      <p:sp>
        <p:nvSpPr>
          <p:cNvPr id="22" name="Rounded Rectangle 21">
            <a:extLst xmlns:a="http://schemas.openxmlformats.org/drawingml/2006/main">
              <a:ext uri="{FF2B5EF4-FFF2-40B4-BE49-F238E27FC236}">
                <a16:creationId xmlns:a16="http://schemas.microsoft.com/office/drawing/2014/main" id="{F8BD75DB-48C0-45D7-BD28-1900E097C634}"/>
              </a:ext>
            </a:extLst>
          </p:cNvPr>
          <p:cNvSpPr>
            <a:spLocks xmlns:a="http://schemas.openxmlformats.org/drawingml/2006/main" noGrp="1"/>
          </p:cNvSpPr>
          <p:nvPr/>
        </p:nvSpPr>
        <p:spPr>
          <a:xfrm xmlns:a="http://schemas.openxmlformats.org/drawingml/2006/main">
            <a:off x="9496425" y="2381250"/>
            <a:ext cx="2038350" cy="1381125"/>
          </a:xfrm>
          <a:prstGeom xmlns:a="http://schemas.openxmlformats.org/drawingml/2006/main" prst="roundRect">
            <a:avLst>
              <a:gd name="adj" fmla="val 5517"/>
            </a:avLst>
          </a:prstGeom>
          <a:solidFill xmlns:a="http://schemas.openxmlformats.org/drawingml/2006/main">
            <a:srgbClr val="C7DBD1"/>
          </a:solidFill>
          <a:ln xmlns:a="http://schemas.openxmlformats.org/drawingml/2006/main" w="9525">
            <a:solidFill>
              <a:srgbClr val="CBD5DA"/>
            </a:solidFill>
            <a:prstDash val="solid"/>
          </a:ln>
        </p:spPr>
      </p:sp>
      <p:sp>
        <p:nvSpPr>
          <p:cNvPr id="23" name="Rectangle 22">
            <a:extLst xmlns:a="http://schemas.openxmlformats.org/drawingml/2006/main">
              <a:ext uri="{FF2B5EF4-FFF2-40B4-BE49-F238E27FC236}">
                <a16:creationId xmlns:a16="http://schemas.microsoft.com/office/drawing/2014/main" id="{1703B22A-5647-4A5F-9C8D-804ADAC2247E}"/>
              </a:ext>
            </a:extLst>
          </p:cNvPr>
          <p:cNvSpPr>
            <a:spLocks xmlns:a="http://schemas.openxmlformats.org/drawingml/2006/main" noGrp="1"/>
          </p:cNvSpPr>
          <p:nvPr/>
        </p:nvSpPr>
        <p:spPr>
          <a:xfrm xmlns:a="http://schemas.openxmlformats.org/drawingml/2006/main">
            <a:off x="9610725" y="2495550"/>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Final evaluation</a:t>
            </a:r>
          </a:p>
        </p:txBody>
      </p:sp>
      <p:sp>
        <p:nvSpPr>
          <p:cNvPr id="24" name="Rectangle 23">
            <a:extLst xmlns:a="http://schemas.openxmlformats.org/drawingml/2006/main">
              <a:ext uri="{FF2B5EF4-FFF2-40B4-BE49-F238E27FC236}">
                <a16:creationId xmlns:a16="http://schemas.microsoft.com/office/drawing/2014/main" id="{8E3FD712-969A-4269-8B69-0FBA39ECCC7A}"/>
              </a:ext>
            </a:extLst>
          </p:cNvPr>
          <p:cNvSpPr>
            <a:spLocks xmlns:a="http://schemas.openxmlformats.org/drawingml/2006/main" noGrp="1"/>
          </p:cNvSpPr>
          <p:nvPr/>
        </p:nvSpPr>
        <p:spPr>
          <a:xfrm xmlns:a="http://schemas.openxmlformats.org/drawingml/2006/main">
            <a:off x="9629775" y="2895600"/>
            <a:ext cx="17716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1,111 supplied</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held-out rows</a:t>
            </a:r>
          </a:p>
        </p:txBody>
      </p:sp>
      <p:sp>
        <p:nvSpPr>
          <p:cNvPr id="25" name="Rectangle 24">
            <a:extLst xmlns:a="http://schemas.openxmlformats.org/drawingml/2006/main">
              <a:ext uri="{FF2B5EF4-FFF2-40B4-BE49-F238E27FC236}">
                <a16:creationId xmlns:a16="http://schemas.microsoft.com/office/drawing/2014/main" id="{D1DFAF94-A8CB-4FD4-8638-00E0E61155CB}"/>
              </a:ext>
            </a:extLst>
          </p:cNvPr>
          <p:cNvSpPr>
            <a:spLocks xmlns:a="http://schemas.openxmlformats.org/drawingml/2006/main" noGrp="1"/>
          </p:cNvSpPr>
          <p:nvPr/>
        </p:nvSpPr>
        <p:spPr>
          <a:xfrm xmlns:a="http://schemas.openxmlformats.org/drawingml/2006/main">
            <a:off x="3028950" y="4829175"/>
            <a:ext cx="5953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575" b="1">
                <a:solidFill>
                  <a:srgbClr val="243A50"/>
                </a:solidFill>
                <a:latin typeface="Helvetica Neue"/>
                <a:ea typeface="Helvetica Neue"/>
                <a:cs typeface="Helvetica Neue"/>
              </a:defRPr>
            </a:defPPr>
            <a:lvl1pPr algn="ctr">
              <a:buNone/>
              <a:defRPr sz="1575" b="1">
                <a:solidFill>
                  <a:srgbClr val="243A50"/>
                </a:solidFill>
                <a:latin typeface="Helvetica Neue"/>
                <a:ea typeface="Helvetica Neue"/>
                <a:cs typeface="Helvetica Neue"/>
              </a:defRPr>
            </a:lvl1pPr>
            <a:lvl2pPr algn="ctr">
              <a:buNone/>
              <a:defRPr sz="1575" b="1">
                <a:solidFill>
                  <a:srgbClr val="243A50"/>
                </a:solidFill>
                <a:latin typeface="Helvetica Neue"/>
                <a:ea typeface="Helvetica Neue"/>
                <a:cs typeface="Helvetica Neue"/>
              </a:defRPr>
            </a:lvl2pPr>
            <a:lvl3pPr algn="ctr">
              <a:buNone/>
              <a:defRPr sz="1575" b="1">
                <a:solidFill>
                  <a:srgbClr val="243A50"/>
                </a:solidFill>
                <a:latin typeface="Helvetica Neue"/>
                <a:ea typeface="Helvetica Neue"/>
                <a:cs typeface="Helvetica Neue"/>
              </a:defRPr>
            </a:lvl3pPr>
            <a:lvl4pPr algn="ctr">
              <a:buNone/>
              <a:defRPr sz="1575" b="1">
                <a:solidFill>
                  <a:srgbClr val="243A50"/>
                </a:solidFill>
                <a:latin typeface="Helvetica Neue"/>
                <a:ea typeface="Helvetica Neue"/>
                <a:cs typeface="Helvetica Neue"/>
              </a:defRPr>
            </a:lvl4pPr>
            <a:lvl5pPr algn="ctr">
              <a:buNone/>
              <a:defRPr sz="1575" b="1">
                <a:solidFill>
                  <a:srgbClr val="243A50"/>
                </a:solidFill>
                <a:latin typeface="Helvetica Neue"/>
                <a:ea typeface="Helvetica Neue"/>
                <a:cs typeface="Helvetica Neue"/>
              </a:defRPr>
            </a:lvl5pPr>
            <a:lvl6pPr algn="ctr">
              <a:buNone/>
              <a:defRPr sz="1575" b="1">
                <a:solidFill>
                  <a:srgbClr val="243A50"/>
                </a:solidFill>
                <a:latin typeface="Helvetica Neue"/>
                <a:ea typeface="Helvetica Neue"/>
                <a:cs typeface="Helvetica Neue"/>
              </a:defRPr>
            </a:lvl6pPr>
            <a:lvl7pPr algn="ctr">
              <a:buNone/>
              <a:defRPr sz="1575" b="1">
                <a:solidFill>
                  <a:srgbClr val="243A50"/>
                </a:solidFill>
                <a:latin typeface="Helvetica Neue"/>
                <a:ea typeface="Helvetica Neue"/>
                <a:cs typeface="Helvetica Neue"/>
              </a:defRPr>
            </a:lvl7pPr>
            <a:lvl8pPr algn="ctr">
              <a:buNone/>
              <a:defRPr sz="1575" b="1">
                <a:solidFill>
                  <a:srgbClr val="243A50"/>
                </a:solidFill>
                <a:latin typeface="Helvetica Neue"/>
                <a:ea typeface="Helvetica Neue"/>
                <a:cs typeface="Helvetica Neue"/>
              </a:defRPr>
            </a:lvl8pPr>
            <a:lvl9pPr algn="ctr">
              <a:buNone/>
              <a:defRPr sz="1575" b="1">
                <a:solidFill>
                  <a:srgbClr val="243A50"/>
                </a:solidFill>
                <a:latin typeface="Helvetica Neue"/>
                <a:ea typeface="Helvetica Neue"/>
                <a:cs typeface="Helvetica Neue"/>
              </a:defRPr>
            </a:lvl9pPr>
          </a:lstStyle>
          <a:p xmlns:a="http://schemas.openxmlformats.org/drawingml/2006/main">
            <a:pPr algn="ctr">
              <a:buNone/>
              <a:defRPr sz="1575" b="1">
                <a:solidFill>
                  <a:srgbClr val="243A50"/>
                </a:solidFill>
                <a:latin typeface="Helvetica Neue"/>
                <a:ea typeface="Helvetica Neue"/>
                <a:cs typeface="Helvetica Neue"/>
              </a:defRPr>
            </a:pPr>
            <a:r>
              <a:rPr sz="1575" b="1">
                <a:solidFill>
                  <a:srgbClr val="243A50"/>
                </a:solidFill>
                <a:latin typeface="Helvetica Neue"/>
                <a:ea typeface="Helvetica Neue"/>
                <a:cs typeface="Helvetica Neue"/>
              </a:rPr>
              <a:t>Group key: BUILDINGID + FLOOR + SPACEID</a:t>
            </a:r>
          </a:p>
        </p:txBody>
      </p:sp>
      <p:sp>
        <p:nvSpPr>
          <p:cNvPr id="26" name="Rectangle 25">
            <a:extLst xmlns:a="http://schemas.openxmlformats.org/drawingml/2006/main">
              <a:ext uri="{FF2B5EF4-FFF2-40B4-BE49-F238E27FC236}">
                <a16:creationId xmlns:a16="http://schemas.microsoft.com/office/drawing/2014/main" id="{15D7B2F7-48B8-4C71-AC9B-A5898F9F8780}"/>
              </a:ext>
            </a:extLst>
          </p:cNvPr>
          <p:cNvSpPr>
            <a:spLocks xmlns:a="http://schemas.openxmlformats.org/drawingml/2006/main" noGrp="1"/>
          </p:cNvSpPr>
          <p:nvPr/>
        </p:nvSpPr>
        <p:spPr>
          <a:xfrm xmlns:a="http://schemas.openxmlformats.org/drawingml/2006/main">
            <a:off x="1152525" y="5314950"/>
            <a:ext cx="988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ctr">
              <a:defRPr sz="1275" b="0">
                <a:solidFill>
                  <a:srgbClr val="63788A"/>
                </a:solidFill>
                <a:latin typeface="Helvetica Neue"/>
                <a:ea typeface="Helvetica Neue"/>
                <a:cs typeface="Helvetica Neue"/>
              </a:defRPr>
            </a:defPPr>
            <a:lvl1pPr algn="ctr">
              <a:buNone/>
              <a:defRPr sz="1275" b="0">
                <a:solidFill>
                  <a:srgbClr val="63788A"/>
                </a:solidFill>
                <a:latin typeface="Helvetica Neue"/>
                <a:ea typeface="Helvetica Neue"/>
                <a:cs typeface="Helvetica Neue"/>
              </a:defRPr>
            </a:lvl1pPr>
            <a:lvl2pPr algn="ctr">
              <a:buNone/>
              <a:defRPr sz="1275" b="0">
                <a:solidFill>
                  <a:srgbClr val="63788A"/>
                </a:solidFill>
                <a:latin typeface="Helvetica Neue"/>
                <a:ea typeface="Helvetica Neue"/>
                <a:cs typeface="Helvetica Neue"/>
              </a:defRPr>
            </a:lvl2pPr>
            <a:lvl3pPr algn="ctr">
              <a:buNone/>
              <a:defRPr sz="1275" b="0">
                <a:solidFill>
                  <a:srgbClr val="63788A"/>
                </a:solidFill>
                <a:latin typeface="Helvetica Neue"/>
                <a:ea typeface="Helvetica Neue"/>
                <a:cs typeface="Helvetica Neue"/>
              </a:defRPr>
            </a:lvl3pPr>
            <a:lvl4pPr algn="ctr">
              <a:buNone/>
              <a:defRPr sz="1275" b="0">
                <a:solidFill>
                  <a:srgbClr val="63788A"/>
                </a:solidFill>
                <a:latin typeface="Helvetica Neue"/>
                <a:ea typeface="Helvetica Neue"/>
                <a:cs typeface="Helvetica Neue"/>
              </a:defRPr>
            </a:lvl4pPr>
            <a:lvl5pPr algn="ctr">
              <a:buNone/>
              <a:defRPr sz="1275" b="0">
                <a:solidFill>
                  <a:srgbClr val="63788A"/>
                </a:solidFill>
                <a:latin typeface="Helvetica Neue"/>
                <a:ea typeface="Helvetica Neue"/>
                <a:cs typeface="Helvetica Neue"/>
              </a:defRPr>
            </a:lvl5pPr>
            <a:lvl6pPr algn="ctr">
              <a:buNone/>
              <a:defRPr sz="1275" b="0">
                <a:solidFill>
                  <a:srgbClr val="63788A"/>
                </a:solidFill>
                <a:latin typeface="Helvetica Neue"/>
                <a:ea typeface="Helvetica Neue"/>
                <a:cs typeface="Helvetica Neue"/>
              </a:defRPr>
            </a:lvl6pPr>
            <a:lvl7pPr algn="ctr">
              <a:buNone/>
              <a:defRPr sz="1275" b="0">
                <a:solidFill>
                  <a:srgbClr val="63788A"/>
                </a:solidFill>
                <a:latin typeface="Helvetica Neue"/>
                <a:ea typeface="Helvetica Neue"/>
                <a:cs typeface="Helvetica Neue"/>
              </a:defRPr>
            </a:lvl7pPr>
            <a:lvl8pPr algn="ctr">
              <a:buNone/>
              <a:defRPr sz="1275" b="0">
                <a:solidFill>
                  <a:srgbClr val="63788A"/>
                </a:solidFill>
                <a:latin typeface="Helvetica Neue"/>
                <a:ea typeface="Helvetica Neue"/>
                <a:cs typeface="Helvetica Neue"/>
              </a:defRPr>
            </a:lvl8pPr>
            <a:lvl9pPr algn="ctr">
              <a:buNone/>
              <a:defRPr sz="1275" b="0">
                <a:solidFill>
                  <a:srgbClr val="63788A"/>
                </a:solidFill>
                <a:latin typeface="Helvetica Neue"/>
                <a:ea typeface="Helvetica Neue"/>
                <a:cs typeface="Helvetica Neue"/>
              </a:defRPr>
            </a:lvl9pPr>
          </a:lstStyle>
          <a:p xmlns:a="http://schemas.openxmlformats.org/drawingml/2006/main">
            <a:pPr algn="ctr">
              <a:buNone/>
              <a:defRPr sz="1275" b="0">
                <a:solidFill>
                  <a:srgbClr val="63788A"/>
                </a:solidFill>
                <a:latin typeface="Helvetica Neue"/>
                <a:ea typeface="Helvetica Neue"/>
                <a:cs typeface="Helvetica Neue"/>
              </a:defRPr>
            </a:pPr>
            <a:r>
              <a:rPr sz="1275" b="0">
                <a:solidFill>
                  <a:srgbClr val="63788A"/>
                </a:solidFill>
                <a:latin typeface="Helvetica Neue"/>
                <a:ea typeface="Helvetica Neue"/>
                <a:cs typeface="Helvetica Neue"/>
              </a:rPr>
              <a:t>Seed 42 · 588 / 147 disjoint composite groups · no scaler fit on held-out rows</a:t>
            </a:r>
          </a:p>
        </p:txBody>
      </p:sp>
    </p:spTree>
    <p:extLst>
      <p:ext uri="{BB962C8B-B14F-4D97-AF65-F5344CB8AC3E}">
        <p14:creationId xmlns:p14="http://schemas.microsoft.com/office/powerpoint/2010/main" val="690633187"/>
      </p:ext>
    </p:extLst>
  </p:cSld>
</p:sld>
</file>

<file path=ppt/slides/slide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8F6E5B5A-8A5A-47C1-8E44-6CF4221B163E}"/>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C7DBD1"/>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AB8A197F-E252-42A7-9DFF-A8A16FF6D538}"/>
              </a:ext>
            </a:extLst>
          </p:cNvPr>
          <p:cNvSpPr>
            <a:spLocks xmlns:a="http://schemas.openxmlformats.org/drawingml/2006/main" noGrp="1"/>
          </p:cNvSpPr>
          <p:nvPr/>
        </p:nvSpPr>
        <p:spPr>
          <a:xfrm xmlns:a="http://schemas.openxmlformats.org/drawingml/2006/main">
            <a:off x="609600" y="37147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625" b="1">
                <a:solidFill>
                  <a:srgbClr val="243A50"/>
                </a:solidFill>
                <a:latin typeface="Helvetica Neue"/>
                <a:ea typeface="Helvetica Neue"/>
                <a:cs typeface="Helvetica Neue"/>
              </a:defRPr>
            </a:defPPr>
            <a:lvl1pPr algn="l">
              <a:buNone/>
              <a:defRPr sz="2625" b="1">
                <a:solidFill>
                  <a:srgbClr val="243A50"/>
                </a:solidFill>
                <a:latin typeface="Helvetica Neue"/>
                <a:ea typeface="Helvetica Neue"/>
                <a:cs typeface="Helvetica Neue"/>
              </a:defRPr>
            </a:lvl1pPr>
            <a:lvl2pPr algn="l">
              <a:buNone/>
              <a:defRPr sz="2625" b="1">
                <a:solidFill>
                  <a:srgbClr val="243A50"/>
                </a:solidFill>
                <a:latin typeface="Helvetica Neue"/>
                <a:ea typeface="Helvetica Neue"/>
                <a:cs typeface="Helvetica Neue"/>
              </a:defRPr>
            </a:lvl2pPr>
            <a:lvl3pPr algn="l">
              <a:buNone/>
              <a:defRPr sz="2625" b="1">
                <a:solidFill>
                  <a:srgbClr val="243A50"/>
                </a:solidFill>
                <a:latin typeface="Helvetica Neue"/>
                <a:ea typeface="Helvetica Neue"/>
                <a:cs typeface="Helvetica Neue"/>
              </a:defRPr>
            </a:lvl3pPr>
            <a:lvl4pPr algn="l">
              <a:buNone/>
              <a:defRPr sz="2625" b="1">
                <a:solidFill>
                  <a:srgbClr val="243A50"/>
                </a:solidFill>
                <a:latin typeface="Helvetica Neue"/>
                <a:ea typeface="Helvetica Neue"/>
                <a:cs typeface="Helvetica Neue"/>
              </a:defRPr>
            </a:lvl4pPr>
            <a:lvl5pPr algn="l">
              <a:buNone/>
              <a:defRPr sz="2625" b="1">
                <a:solidFill>
                  <a:srgbClr val="243A50"/>
                </a:solidFill>
                <a:latin typeface="Helvetica Neue"/>
                <a:ea typeface="Helvetica Neue"/>
                <a:cs typeface="Helvetica Neue"/>
              </a:defRPr>
            </a:lvl5pPr>
            <a:lvl6pPr algn="l">
              <a:buNone/>
              <a:defRPr sz="2625" b="1">
                <a:solidFill>
                  <a:srgbClr val="243A50"/>
                </a:solidFill>
                <a:latin typeface="Helvetica Neue"/>
                <a:ea typeface="Helvetica Neue"/>
                <a:cs typeface="Helvetica Neue"/>
              </a:defRPr>
            </a:lvl6pPr>
            <a:lvl7pPr algn="l">
              <a:buNone/>
              <a:defRPr sz="2625" b="1">
                <a:solidFill>
                  <a:srgbClr val="243A50"/>
                </a:solidFill>
                <a:latin typeface="Helvetica Neue"/>
                <a:ea typeface="Helvetica Neue"/>
                <a:cs typeface="Helvetica Neue"/>
              </a:defRPr>
            </a:lvl7pPr>
            <a:lvl8pPr algn="l">
              <a:buNone/>
              <a:defRPr sz="2625" b="1">
                <a:solidFill>
                  <a:srgbClr val="243A50"/>
                </a:solidFill>
                <a:latin typeface="Helvetica Neue"/>
                <a:ea typeface="Helvetica Neue"/>
                <a:cs typeface="Helvetica Neue"/>
              </a:defRPr>
            </a:lvl8pPr>
            <a:lvl9pPr algn="l">
              <a:buNone/>
              <a:defRPr sz="2625" b="1">
                <a:solidFill>
                  <a:srgbClr val="243A50"/>
                </a:solidFill>
                <a:latin typeface="Helvetica Neue"/>
                <a:ea typeface="Helvetica Neue"/>
                <a:cs typeface="Helvetica Neue"/>
              </a:defRPr>
            </a:lvl9pPr>
          </a:lstStyle>
          <a:p xmlns:a="http://schemas.openxmlformats.org/drawingml/2006/main">
            <a:pPr algn="l">
              <a:buNone/>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1 · Dataset quality and EDA</a:t>
            </a:r>
          </a:p>
        </p:txBody>
      </p:sp>
      <p:sp>
        <p:nvSpPr>
          <p:cNvPr id="3" name="Rectangle 2">
            <a:extLst xmlns:a="http://schemas.openxmlformats.org/drawingml/2006/main">
              <a:ext uri="{FF2B5EF4-FFF2-40B4-BE49-F238E27FC236}">
                <a16:creationId xmlns:a16="http://schemas.microsoft.com/office/drawing/2014/main" id="{AF73AF44-BB9D-4F6B-9FF3-94CF89C8039B}"/>
              </a:ext>
            </a:extLst>
          </p:cNvPr>
          <p:cNvSpPr>
            <a:spLocks xmlns:a="http://schemas.openxmlformats.org/drawingml/2006/main" noGrp="1"/>
          </p:cNvSpPr>
          <p:nvPr/>
        </p:nvSpPr>
        <p:spPr>
          <a:xfrm xmlns:a="http://schemas.openxmlformats.org/drawingml/2006/main">
            <a:off x="628650" y="904875"/>
            <a:ext cx="10839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A scan is a sparse fingerprint: absence is the dominant signal state.</a:t>
            </a:r>
          </a:p>
        </p:txBody>
      </p:sp>
      <p:sp>
        <p:nvSpPr>
          <p:cNvPr id="4" name="Straight Connector 3">
            <a:extLst xmlns:a="http://schemas.openxmlformats.org/drawingml/2006/main">
              <a:ext uri="{FF2B5EF4-FFF2-40B4-BE49-F238E27FC236}">
                <a16:creationId xmlns:a16="http://schemas.microsoft.com/office/drawing/2014/main" id="{7689E29F-728F-475B-B28E-372C11F0F58F}"/>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BD5DA"/>
            </a:solidFill>
            <a:prstDash val="solid"/>
          </a:ln>
        </p:spPr>
      </p:sp>
      <p:sp>
        <p:nvSpPr>
          <p:cNvPr id="5" name="Rectangle 4">
            <a:extLst xmlns:a="http://schemas.openxmlformats.org/drawingml/2006/main">
              <a:ext uri="{FF2B5EF4-FFF2-40B4-BE49-F238E27FC236}">
                <a16:creationId xmlns:a16="http://schemas.microsoft.com/office/drawing/2014/main" id="{E5D2E1CF-632F-4C8E-A73A-4593E03A3536}"/>
              </a:ext>
            </a:extLst>
          </p:cNvPr>
          <p:cNvSpPr>
            <a:spLocks xmlns:a="http://schemas.openxmlformats.org/drawingml/2006/main" noGrp="1"/>
          </p:cNvSpPr>
          <p:nvPr/>
        </p:nvSpPr>
        <p:spPr>
          <a:xfrm xmlns:a="http://schemas.openxmlformats.org/drawingml/2006/main">
            <a:off x="609600" y="64770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900" b="0">
                <a:solidFill>
                  <a:srgbClr val="63788A"/>
                </a:solidFill>
                <a:latin typeface="Helvetica Neue"/>
                <a:ea typeface="Helvetica Neue"/>
                <a:cs typeface="Helvetica Neue"/>
              </a:defRPr>
            </a:defPPr>
            <a:lvl1pPr algn="r">
              <a:buNone/>
              <a:defRPr sz="900" b="0">
                <a:solidFill>
                  <a:srgbClr val="63788A"/>
                </a:solidFill>
                <a:latin typeface="Helvetica Neue"/>
                <a:ea typeface="Helvetica Neue"/>
                <a:cs typeface="Helvetica Neue"/>
              </a:defRPr>
            </a:lvl1pPr>
            <a:lvl2pPr algn="r">
              <a:buNone/>
              <a:defRPr sz="900" b="0">
                <a:solidFill>
                  <a:srgbClr val="63788A"/>
                </a:solidFill>
                <a:latin typeface="Helvetica Neue"/>
                <a:ea typeface="Helvetica Neue"/>
                <a:cs typeface="Helvetica Neue"/>
              </a:defRPr>
            </a:lvl2pPr>
            <a:lvl3pPr algn="r">
              <a:buNone/>
              <a:defRPr sz="900" b="0">
                <a:solidFill>
                  <a:srgbClr val="63788A"/>
                </a:solidFill>
                <a:latin typeface="Helvetica Neue"/>
                <a:ea typeface="Helvetica Neue"/>
                <a:cs typeface="Helvetica Neue"/>
              </a:defRPr>
            </a:lvl3pPr>
            <a:lvl4pPr algn="r">
              <a:buNone/>
              <a:defRPr sz="900" b="0">
                <a:solidFill>
                  <a:srgbClr val="63788A"/>
                </a:solidFill>
                <a:latin typeface="Helvetica Neue"/>
                <a:ea typeface="Helvetica Neue"/>
                <a:cs typeface="Helvetica Neue"/>
              </a:defRPr>
            </a:lvl4pPr>
            <a:lvl5pPr algn="r">
              <a:buNone/>
              <a:defRPr sz="900" b="0">
                <a:solidFill>
                  <a:srgbClr val="63788A"/>
                </a:solidFill>
                <a:latin typeface="Helvetica Neue"/>
                <a:ea typeface="Helvetica Neue"/>
                <a:cs typeface="Helvetica Neue"/>
              </a:defRPr>
            </a:lvl5pPr>
            <a:lvl6pPr algn="r">
              <a:buNone/>
              <a:defRPr sz="900" b="0">
                <a:solidFill>
                  <a:srgbClr val="63788A"/>
                </a:solidFill>
                <a:latin typeface="Helvetica Neue"/>
                <a:ea typeface="Helvetica Neue"/>
                <a:cs typeface="Helvetica Neue"/>
              </a:defRPr>
            </a:lvl6pPr>
            <a:lvl7pPr algn="r">
              <a:buNone/>
              <a:defRPr sz="900" b="0">
                <a:solidFill>
                  <a:srgbClr val="63788A"/>
                </a:solidFill>
                <a:latin typeface="Helvetica Neue"/>
                <a:ea typeface="Helvetica Neue"/>
                <a:cs typeface="Helvetica Neue"/>
              </a:defRPr>
            </a:lvl7pPr>
            <a:lvl8pPr algn="r">
              <a:buNone/>
              <a:defRPr sz="900" b="0">
                <a:solidFill>
                  <a:srgbClr val="63788A"/>
                </a:solidFill>
                <a:latin typeface="Helvetica Neue"/>
                <a:ea typeface="Helvetica Neue"/>
                <a:cs typeface="Helvetica Neue"/>
              </a:defRPr>
            </a:lvl8pPr>
            <a:lvl9pPr algn="r">
              <a:buNone/>
              <a:defRPr sz="900" b="0">
                <a:solidFill>
                  <a:srgbClr val="63788A"/>
                </a:solidFill>
                <a:latin typeface="Helvetica Neue"/>
                <a:ea typeface="Helvetica Neue"/>
                <a:cs typeface="Helvetica Neue"/>
              </a:defRPr>
            </a:lvl9pPr>
          </a:lstStyle>
          <a:p xmlns:a="http://schemas.openxmlformats.org/drawingml/2006/main">
            <a:pPr algn="r">
              <a:buNone/>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04</a:t>
            </a:r>
          </a:p>
        </p:txBody>
      </p:sp>
      <p:pic>
        <p:nvPicPr>
          <p:cNvPr id="6" name="Picture 5">
            <a:extLst xmlns:a="http://schemas.openxmlformats.org/drawingml/2006/main">
              <a:ext uri="{FF2B5EF4-FFF2-40B4-BE49-F238E27FC236}">
                <a16:creationId xmlns:a16="http://schemas.microsoft.com/office/drawing/2014/main" id="{40EDFED4-C649-4E01-A4BE-95E27F9641A0}"/>
              </a:ext>
            </a:extLst>
          </p:cNvPr>
          <p:cNvPicPr>
            <a:picLocks xmlns:a="http://schemas.openxmlformats.org/drawingml/2006/main" noChangeAspect="1"/>
          </p:cNvPicPr>
          <p:nvPr/>
        </p:nvPicPr>
        <p:blipFill>
          <a:blip xmlns:r="http://schemas.openxmlformats.org/officeDocument/2006/relationships" xmlns:a="http://schemas.openxmlformats.org/drawingml/2006/main" r:embed="R25a630cae02c4134"/>
          <a:stretch xmlns:a="http://schemas.openxmlformats.org/drawingml/2006/main"/>
        </p:blipFill>
        <p:spPr>
          <a:xfrm xmlns:a="http://schemas.openxmlformats.org/drawingml/2006/main">
            <a:off x="1019403" y="1438275"/>
            <a:ext cx="6514645" cy="449580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84DEB8DB-83B0-43A1-BAA0-6D94F18B326A}"/>
              </a:ext>
            </a:extLst>
          </p:cNvPr>
          <p:cNvSpPr>
            <a:spLocks xmlns:a="http://schemas.openxmlformats.org/drawingml/2006/main" noGrp="1"/>
          </p:cNvSpPr>
          <p:nvPr/>
        </p:nvSpPr>
        <p:spPr>
          <a:xfrm xmlns:a="http://schemas.openxmlformats.org/drawingml/2006/main">
            <a:off x="8334375" y="1790700"/>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3750" b="1">
                <a:solidFill>
                  <a:srgbClr val="64877F"/>
                </a:solidFill>
                <a:latin typeface="Helvetica Neue"/>
                <a:ea typeface="Helvetica Neue"/>
                <a:cs typeface="Helvetica Neue"/>
              </a:defRPr>
            </a:defPPr>
            <a:lvl1pPr algn="l">
              <a:buNone/>
              <a:defRPr sz="3750" b="1">
                <a:solidFill>
                  <a:srgbClr val="64877F"/>
                </a:solidFill>
                <a:latin typeface="Helvetica Neue"/>
                <a:ea typeface="Helvetica Neue"/>
                <a:cs typeface="Helvetica Neue"/>
              </a:defRPr>
            </a:lvl1pPr>
            <a:lvl2pPr algn="l">
              <a:buNone/>
              <a:defRPr sz="3750" b="1">
                <a:solidFill>
                  <a:srgbClr val="64877F"/>
                </a:solidFill>
                <a:latin typeface="Helvetica Neue"/>
                <a:ea typeface="Helvetica Neue"/>
                <a:cs typeface="Helvetica Neue"/>
              </a:defRPr>
            </a:lvl2pPr>
            <a:lvl3pPr algn="l">
              <a:buNone/>
              <a:defRPr sz="3750" b="1">
                <a:solidFill>
                  <a:srgbClr val="64877F"/>
                </a:solidFill>
                <a:latin typeface="Helvetica Neue"/>
                <a:ea typeface="Helvetica Neue"/>
                <a:cs typeface="Helvetica Neue"/>
              </a:defRPr>
            </a:lvl3pPr>
            <a:lvl4pPr algn="l">
              <a:buNone/>
              <a:defRPr sz="3750" b="1">
                <a:solidFill>
                  <a:srgbClr val="64877F"/>
                </a:solidFill>
                <a:latin typeface="Helvetica Neue"/>
                <a:ea typeface="Helvetica Neue"/>
                <a:cs typeface="Helvetica Neue"/>
              </a:defRPr>
            </a:lvl4pPr>
            <a:lvl5pPr algn="l">
              <a:buNone/>
              <a:defRPr sz="3750" b="1">
                <a:solidFill>
                  <a:srgbClr val="64877F"/>
                </a:solidFill>
                <a:latin typeface="Helvetica Neue"/>
                <a:ea typeface="Helvetica Neue"/>
                <a:cs typeface="Helvetica Neue"/>
              </a:defRPr>
            </a:lvl5pPr>
            <a:lvl6pPr algn="l">
              <a:buNone/>
              <a:defRPr sz="3750" b="1">
                <a:solidFill>
                  <a:srgbClr val="64877F"/>
                </a:solidFill>
                <a:latin typeface="Helvetica Neue"/>
                <a:ea typeface="Helvetica Neue"/>
                <a:cs typeface="Helvetica Neue"/>
              </a:defRPr>
            </a:lvl6pPr>
            <a:lvl7pPr algn="l">
              <a:buNone/>
              <a:defRPr sz="3750" b="1">
                <a:solidFill>
                  <a:srgbClr val="64877F"/>
                </a:solidFill>
                <a:latin typeface="Helvetica Neue"/>
                <a:ea typeface="Helvetica Neue"/>
                <a:cs typeface="Helvetica Neue"/>
              </a:defRPr>
            </a:lvl7pPr>
            <a:lvl8pPr algn="l">
              <a:buNone/>
              <a:defRPr sz="3750" b="1">
                <a:solidFill>
                  <a:srgbClr val="64877F"/>
                </a:solidFill>
                <a:latin typeface="Helvetica Neue"/>
                <a:ea typeface="Helvetica Neue"/>
                <a:cs typeface="Helvetica Neue"/>
              </a:defRPr>
            </a:lvl8pPr>
            <a:lvl9pPr algn="l">
              <a:buNone/>
              <a:defRPr sz="3750" b="1">
                <a:solidFill>
                  <a:srgbClr val="64877F"/>
                </a:solidFill>
                <a:latin typeface="Helvetica Neue"/>
                <a:ea typeface="Helvetica Neue"/>
                <a:cs typeface="Helvetica Neue"/>
              </a:defRPr>
            </a:lvl9pPr>
          </a:lstStyle>
          <a:p xmlns:a="http://schemas.openxmlformats.org/drawingml/2006/main">
            <a:pPr algn="l">
              <a:buNone/>
              <a:defRPr sz="3750" b="1">
                <a:solidFill>
                  <a:srgbClr val="64877F"/>
                </a:solidFill>
                <a:latin typeface="Helvetica Neue"/>
                <a:ea typeface="Helvetica Neue"/>
                <a:cs typeface="Helvetica Neue"/>
              </a:defRPr>
            </a:pPr>
            <a:r>
              <a:rPr sz="3750" b="1">
                <a:solidFill>
                  <a:srgbClr val="64877F"/>
                </a:solidFill>
                <a:latin typeface="Helvetica Neue"/>
                <a:ea typeface="Helvetica Neue"/>
                <a:cs typeface="Helvetica Neue"/>
              </a:rPr>
              <a:t>96.54%</a:t>
            </a:r>
          </a:p>
        </p:txBody>
      </p:sp>
      <p:sp>
        <p:nvSpPr>
          <p:cNvPr id="8" name="Rectangle 7">
            <a:extLst xmlns:a="http://schemas.openxmlformats.org/drawingml/2006/main">
              <a:ext uri="{FF2B5EF4-FFF2-40B4-BE49-F238E27FC236}">
                <a16:creationId xmlns:a16="http://schemas.microsoft.com/office/drawing/2014/main" id="{241A0A7A-0C4B-4CF3-A76E-A3B909F907EC}"/>
              </a:ext>
            </a:extLst>
          </p:cNvPr>
          <p:cNvSpPr>
            <a:spLocks xmlns:a="http://schemas.openxmlformats.org/drawingml/2006/main" noGrp="1"/>
          </p:cNvSpPr>
          <p:nvPr/>
        </p:nvSpPr>
        <p:spPr>
          <a:xfrm xmlns:a="http://schemas.openxmlformats.org/drawingml/2006/main">
            <a:off x="8334375" y="24574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training WAP entries use sentinel 100</a:t>
            </a:r>
          </a:p>
        </p:txBody>
      </p:sp>
      <p:sp>
        <p:nvSpPr>
          <p:cNvPr id="9" name="Rectangle 8">
            <a:extLst xmlns:a="http://schemas.openxmlformats.org/drawingml/2006/main">
              <a:ext uri="{FF2B5EF4-FFF2-40B4-BE49-F238E27FC236}">
                <a16:creationId xmlns:a16="http://schemas.microsoft.com/office/drawing/2014/main" id="{D960E703-D9C0-4E16-B59F-FB6F5196C885}"/>
              </a:ext>
            </a:extLst>
          </p:cNvPr>
          <p:cNvSpPr>
            <a:spLocks xmlns:a="http://schemas.openxmlformats.org/drawingml/2006/main" noGrp="1"/>
          </p:cNvSpPr>
          <p:nvPr/>
        </p:nvSpPr>
        <p:spPr>
          <a:xfrm xmlns:a="http://schemas.openxmlformats.org/drawingml/2006/main">
            <a:off x="8334375" y="3048000"/>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3750" b="1">
                <a:solidFill>
                  <a:srgbClr val="243A50"/>
                </a:solidFill>
                <a:latin typeface="Helvetica Neue"/>
                <a:ea typeface="Helvetica Neue"/>
                <a:cs typeface="Helvetica Neue"/>
              </a:defRPr>
            </a:defPPr>
            <a:lvl1pPr algn="l">
              <a:buNone/>
              <a:defRPr sz="3750" b="1">
                <a:solidFill>
                  <a:srgbClr val="243A50"/>
                </a:solidFill>
                <a:latin typeface="Helvetica Neue"/>
                <a:ea typeface="Helvetica Neue"/>
                <a:cs typeface="Helvetica Neue"/>
              </a:defRPr>
            </a:lvl1pPr>
            <a:lvl2pPr algn="l">
              <a:buNone/>
              <a:defRPr sz="3750" b="1">
                <a:solidFill>
                  <a:srgbClr val="243A50"/>
                </a:solidFill>
                <a:latin typeface="Helvetica Neue"/>
                <a:ea typeface="Helvetica Neue"/>
                <a:cs typeface="Helvetica Neue"/>
              </a:defRPr>
            </a:lvl2pPr>
            <a:lvl3pPr algn="l">
              <a:buNone/>
              <a:defRPr sz="3750" b="1">
                <a:solidFill>
                  <a:srgbClr val="243A50"/>
                </a:solidFill>
                <a:latin typeface="Helvetica Neue"/>
                <a:ea typeface="Helvetica Neue"/>
                <a:cs typeface="Helvetica Neue"/>
              </a:defRPr>
            </a:lvl3pPr>
            <a:lvl4pPr algn="l">
              <a:buNone/>
              <a:defRPr sz="3750" b="1">
                <a:solidFill>
                  <a:srgbClr val="243A50"/>
                </a:solidFill>
                <a:latin typeface="Helvetica Neue"/>
                <a:ea typeface="Helvetica Neue"/>
                <a:cs typeface="Helvetica Neue"/>
              </a:defRPr>
            </a:lvl4pPr>
            <a:lvl5pPr algn="l">
              <a:buNone/>
              <a:defRPr sz="3750" b="1">
                <a:solidFill>
                  <a:srgbClr val="243A50"/>
                </a:solidFill>
                <a:latin typeface="Helvetica Neue"/>
                <a:ea typeface="Helvetica Neue"/>
                <a:cs typeface="Helvetica Neue"/>
              </a:defRPr>
            </a:lvl5pPr>
            <a:lvl6pPr algn="l">
              <a:buNone/>
              <a:defRPr sz="3750" b="1">
                <a:solidFill>
                  <a:srgbClr val="243A50"/>
                </a:solidFill>
                <a:latin typeface="Helvetica Neue"/>
                <a:ea typeface="Helvetica Neue"/>
                <a:cs typeface="Helvetica Neue"/>
              </a:defRPr>
            </a:lvl6pPr>
            <a:lvl7pPr algn="l">
              <a:buNone/>
              <a:defRPr sz="3750" b="1">
                <a:solidFill>
                  <a:srgbClr val="243A50"/>
                </a:solidFill>
                <a:latin typeface="Helvetica Neue"/>
                <a:ea typeface="Helvetica Neue"/>
                <a:cs typeface="Helvetica Neue"/>
              </a:defRPr>
            </a:lvl7pPr>
            <a:lvl8pPr algn="l">
              <a:buNone/>
              <a:defRPr sz="3750" b="1">
                <a:solidFill>
                  <a:srgbClr val="243A50"/>
                </a:solidFill>
                <a:latin typeface="Helvetica Neue"/>
                <a:ea typeface="Helvetica Neue"/>
                <a:cs typeface="Helvetica Neue"/>
              </a:defRPr>
            </a:lvl8pPr>
            <a:lvl9pPr algn="l">
              <a:buNone/>
              <a:defRPr sz="3750" b="1">
                <a:solidFill>
                  <a:srgbClr val="243A50"/>
                </a:solidFill>
                <a:latin typeface="Helvetica Neue"/>
                <a:ea typeface="Helvetica Neue"/>
                <a:cs typeface="Helvetica Neue"/>
              </a:defRPr>
            </a:lvl9pPr>
          </a:lstStyle>
          <a:p xmlns:a="http://schemas.openxmlformats.org/drawingml/2006/main">
            <a:pPr algn="l">
              <a:buNone/>
              <a:defRPr sz="3750" b="1">
                <a:solidFill>
                  <a:srgbClr val="243A50"/>
                </a:solidFill>
                <a:latin typeface="Helvetica Neue"/>
                <a:ea typeface="Helvetica Neue"/>
                <a:cs typeface="Helvetica Neue"/>
              </a:defRPr>
            </a:pPr>
            <a:r>
              <a:rPr sz="3750" b="1">
                <a:solidFill>
                  <a:srgbClr val="243A50"/>
                </a:solidFill>
                <a:latin typeface="Helvetica Neue"/>
                <a:ea typeface="Helvetica Neue"/>
                <a:cs typeface="Helvetica Neue"/>
              </a:rPr>
              <a:t>637</a:t>
            </a:r>
          </a:p>
        </p:txBody>
      </p:sp>
      <p:sp>
        <p:nvSpPr>
          <p:cNvPr id="10" name="Rectangle 9">
            <a:extLst xmlns:a="http://schemas.openxmlformats.org/drawingml/2006/main">
              <a:ext uri="{FF2B5EF4-FFF2-40B4-BE49-F238E27FC236}">
                <a16:creationId xmlns:a16="http://schemas.microsoft.com/office/drawing/2014/main" id="{01785F42-F135-4B8F-A5AC-C033DFDC48B9}"/>
              </a:ext>
            </a:extLst>
          </p:cNvPr>
          <p:cNvSpPr>
            <a:spLocks xmlns:a="http://schemas.openxmlformats.org/drawingml/2006/main" noGrp="1"/>
          </p:cNvSpPr>
          <p:nvPr/>
        </p:nvSpPr>
        <p:spPr>
          <a:xfrm xmlns:a="http://schemas.openxmlformats.org/drawingml/2006/main">
            <a:off x="8334375" y="37147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exact duplicate training rows retained</a:t>
            </a:r>
          </a:p>
        </p:txBody>
      </p:sp>
      <p:sp>
        <p:nvSpPr>
          <p:cNvPr id="11" name="Rectangle 10">
            <a:extLst xmlns:a="http://schemas.openxmlformats.org/drawingml/2006/main">
              <a:ext uri="{FF2B5EF4-FFF2-40B4-BE49-F238E27FC236}">
                <a16:creationId xmlns:a16="http://schemas.microsoft.com/office/drawing/2014/main" id="{11F6B0E0-49C0-4271-B2F5-33EADEF1675F}"/>
              </a:ext>
            </a:extLst>
          </p:cNvPr>
          <p:cNvSpPr>
            <a:spLocks xmlns:a="http://schemas.openxmlformats.org/drawingml/2006/main" noGrp="1"/>
          </p:cNvSpPr>
          <p:nvPr/>
        </p:nvSpPr>
        <p:spPr>
          <a:xfrm xmlns:a="http://schemas.openxmlformats.org/drawingml/2006/main">
            <a:off x="8334375" y="4295775"/>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3750" b="1">
                <a:solidFill>
                  <a:srgbClr val="A76F61"/>
                </a:solidFill>
                <a:latin typeface="Helvetica Neue"/>
                <a:ea typeface="Helvetica Neue"/>
                <a:cs typeface="Helvetica Neue"/>
              </a:defRPr>
            </a:defPPr>
            <a:lvl1pPr algn="l">
              <a:buNone/>
              <a:defRPr sz="3750" b="1">
                <a:solidFill>
                  <a:srgbClr val="A76F61"/>
                </a:solidFill>
                <a:latin typeface="Helvetica Neue"/>
                <a:ea typeface="Helvetica Neue"/>
                <a:cs typeface="Helvetica Neue"/>
              </a:defRPr>
            </a:lvl1pPr>
            <a:lvl2pPr algn="l">
              <a:buNone/>
              <a:defRPr sz="3750" b="1">
                <a:solidFill>
                  <a:srgbClr val="A76F61"/>
                </a:solidFill>
                <a:latin typeface="Helvetica Neue"/>
                <a:ea typeface="Helvetica Neue"/>
                <a:cs typeface="Helvetica Neue"/>
              </a:defRPr>
            </a:lvl2pPr>
            <a:lvl3pPr algn="l">
              <a:buNone/>
              <a:defRPr sz="3750" b="1">
                <a:solidFill>
                  <a:srgbClr val="A76F61"/>
                </a:solidFill>
                <a:latin typeface="Helvetica Neue"/>
                <a:ea typeface="Helvetica Neue"/>
                <a:cs typeface="Helvetica Neue"/>
              </a:defRPr>
            </a:lvl3pPr>
            <a:lvl4pPr algn="l">
              <a:buNone/>
              <a:defRPr sz="3750" b="1">
                <a:solidFill>
                  <a:srgbClr val="A76F61"/>
                </a:solidFill>
                <a:latin typeface="Helvetica Neue"/>
                <a:ea typeface="Helvetica Neue"/>
                <a:cs typeface="Helvetica Neue"/>
              </a:defRPr>
            </a:lvl4pPr>
            <a:lvl5pPr algn="l">
              <a:buNone/>
              <a:defRPr sz="3750" b="1">
                <a:solidFill>
                  <a:srgbClr val="A76F61"/>
                </a:solidFill>
                <a:latin typeface="Helvetica Neue"/>
                <a:ea typeface="Helvetica Neue"/>
                <a:cs typeface="Helvetica Neue"/>
              </a:defRPr>
            </a:lvl5pPr>
            <a:lvl6pPr algn="l">
              <a:buNone/>
              <a:defRPr sz="3750" b="1">
                <a:solidFill>
                  <a:srgbClr val="A76F61"/>
                </a:solidFill>
                <a:latin typeface="Helvetica Neue"/>
                <a:ea typeface="Helvetica Neue"/>
                <a:cs typeface="Helvetica Neue"/>
              </a:defRPr>
            </a:lvl6pPr>
            <a:lvl7pPr algn="l">
              <a:buNone/>
              <a:defRPr sz="3750" b="1">
                <a:solidFill>
                  <a:srgbClr val="A76F61"/>
                </a:solidFill>
                <a:latin typeface="Helvetica Neue"/>
                <a:ea typeface="Helvetica Neue"/>
                <a:cs typeface="Helvetica Neue"/>
              </a:defRPr>
            </a:lvl7pPr>
            <a:lvl8pPr algn="l">
              <a:buNone/>
              <a:defRPr sz="3750" b="1">
                <a:solidFill>
                  <a:srgbClr val="A76F61"/>
                </a:solidFill>
                <a:latin typeface="Helvetica Neue"/>
                <a:ea typeface="Helvetica Neue"/>
                <a:cs typeface="Helvetica Neue"/>
              </a:defRPr>
            </a:lvl8pPr>
            <a:lvl9pPr algn="l">
              <a:buNone/>
              <a:defRPr sz="3750" b="1">
                <a:solidFill>
                  <a:srgbClr val="A76F61"/>
                </a:solidFill>
                <a:latin typeface="Helvetica Neue"/>
                <a:ea typeface="Helvetica Neue"/>
                <a:cs typeface="Helvetica Neue"/>
              </a:defRPr>
            </a:lvl9pPr>
          </a:lstStyle>
          <a:p xmlns:a="http://schemas.openxmlformats.org/drawingml/2006/main">
            <a:pPr algn="l">
              <a:buNone/>
              <a:defRPr sz="3750" b="1">
                <a:solidFill>
                  <a:srgbClr val="A76F61"/>
                </a:solidFill>
                <a:latin typeface="Helvetica Neue"/>
                <a:ea typeface="Helvetica Neue"/>
                <a:cs typeface="Helvetica Neue"/>
              </a:defRPr>
            </a:pPr>
            <a:r>
              <a:rPr sz="3750" b="1">
                <a:solidFill>
                  <a:srgbClr val="A76F61"/>
                </a:solidFill>
                <a:latin typeface="Helvetica Neue"/>
                <a:ea typeface="Helvetica Neue"/>
                <a:cs typeface="Helvetica Neue"/>
              </a:rPr>
              <a:t>76</a:t>
            </a:r>
          </a:p>
        </p:txBody>
      </p:sp>
      <p:sp>
        <p:nvSpPr>
          <p:cNvPr id="12" name="Rectangle 11">
            <a:extLst xmlns:a="http://schemas.openxmlformats.org/drawingml/2006/main">
              <a:ext uri="{FF2B5EF4-FFF2-40B4-BE49-F238E27FC236}">
                <a16:creationId xmlns:a16="http://schemas.microsoft.com/office/drawing/2014/main" id="{DD60318B-B501-401A-AC34-5D5D5F574312}"/>
              </a:ext>
            </a:extLst>
          </p:cNvPr>
          <p:cNvSpPr>
            <a:spLocks xmlns:a="http://schemas.openxmlformats.org/drawingml/2006/main" noGrp="1"/>
          </p:cNvSpPr>
          <p:nvPr/>
        </p:nvSpPr>
        <p:spPr>
          <a:xfrm xmlns:a="http://schemas.openxmlformats.org/drawingml/2006/main">
            <a:off x="8334375" y="4962525"/>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all-absent training scans retained</a:t>
            </a:r>
          </a:p>
        </p:txBody>
      </p:sp>
      <p:sp>
        <p:nvSpPr>
          <p:cNvPr id="13" name="Rectangle 12">
            <a:extLst xmlns:a="http://schemas.openxmlformats.org/drawingml/2006/main">
              <a:ext uri="{FF2B5EF4-FFF2-40B4-BE49-F238E27FC236}">
                <a16:creationId xmlns:a16="http://schemas.microsoft.com/office/drawing/2014/main" id="{8DBC0854-BBEC-45C2-8328-6583F30597C6}"/>
              </a:ext>
            </a:extLst>
          </p:cNvPr>
          <p:cNvSpPr>
            <a:spLocks xmlns:a="http://schemas.openxmlformats.org/drawingml/2006/main" noGrp="1"/>
          </p:cNvSpPr>
          <p:nvPr/>
        </p:nvSpPr>
        <p:spPr>
          <a:xfrm xmlns:a="http://schemas.openxmlformats.org/drawingml/2006/main">
            <a:off x="8334375" y="5591175"/>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00" b="0">
                <a:solidFill>
                  <a:srgbClr val="63788A"/>
                </a:solidFill>
                <a:latin typeface="Helvetica Neue"/>
                <a:ea typeface="Helvetica Neue"/>
                <a:cs typeface="Helvetica Neue"/>
              </a:defRPr>
            </a:defPPr>
            <a:lvl1pPr algn="l">
              <a:buNone/>
              <a:defRPr sz="1200" b="0">
                <a:solidFill>
                  <a:srgbClr val="63788A"/>
                </a:solidFill>
                <a:latin typeface="Helvetica Neue"/>
                <a:ea typeface="Helvetica Neue"/>
                <a:cs typeface="Helvetica Neue"/>
              </a:defRPr>
            </a:lvl1pPr>
            <a:lvl2pPr algn="l">
              <a:buNone/>
              <a:defRPr sz="1200" b="0">
                <a:solidFill>
                  <a:srgbClr val="63788A"/>
                </a:solidFill>
                <a:latin typeface="Helvetica Neue"/>
                <a:ea typeface="Helvetica Neue"/>
                <a:cs typeface="Helvetica Neue"/>
              </a:defRPr>
            </a:lvl2pPr>
            <a:lvl3pPr algn="l">
              <a:buNone/>
              <a:defRPr sz="1200" b="0">
                <a:solidFill>
                  <a:srgbClr val="63788A"/>
                </a:solidFill>
                <a:latin typeface="Helvetica Neue"/>
                <a:ea typeface="Helvetica Neue"/>
                <a:cs typeface="Helvetica Neue"/>
              </a:defRPr>
            </a:lvl3pPr>
            <a:lvl4pPr algn="l">
              <a:buNone/>
              <a:defRPr sz="1200" b="0">
                <a:solidFill>
                  <a:srgbClr val="63788A"/>
                </a:solidFill>
                <a:latin typeface="Helvetica Neue"/>
                <a:ea typeface="Helvetica Neue"/>
                <a:cs typeface="Helvetica Neue"/>
              </a:defRPr>
            </a:lvl4pPr>
            <a:lvl5pPr algn="l">
              <a:buNone/>
              <a:defRPr sz="1200" b="0">
                <a:solidFill>
                  <a:srgbClr val="63788A"/>
                </a:solidFill>
                <a:latin typeface="Helvetica Neue"/>
                <a:ea typeface="Helvetica Neue"/>
                <a:cs typeface="Helvetica Neue"/>
              </a:defRPr>
            </a:lvl5pPr>
            <a:lvl6pPr algn="l">
              <a:buNone/>
              <a:defRPr sz="1200" b="0">
                <a:solidFill>
                  <a:srgbClr val="63788A"/>
                </a:solidFill>
                <a:latin typeface="Helvetica Neue"/>
                <a:ea typeface="Helvetica Neue"/>
                <a:cs typeface="Helvetica Neue"/>
              </a:defRPr>
            </a:lvl6pPr>
            <a:lvl7pPr algn="l">
              <a:buNone/>
              <a:defRPr sz="1200" b="0">
                <a:solidFill>
                  <a:srgbClr val="63788A"/>
                </a:solidFill>
                <a:latin typeface="Helvetica Neue"/>
                <a:ea typeface="Helvetica Neue"/>
                <a:cs typeface="Helvetica Neue"/>
              </a:defRPr>
            </a:lvl7pPr>
            <a:lvl8pPr algn="l">
              <a:buNone/>
              <a:defRPr sz="1200" b="0">
                <a:solidFill>
                  <a:srgbClr val="63788A"/>
                </a:solidFill>
                <a:latin typeface="Helvetica Neue"/>
                <a:ea typeface="Helvetica Neue"/>
                <a:cs typeface="Helvetica Neue"/>
              </a:defRPr>
            </a:lvl8pPr>
            <a:lvl9pPr algn="l">
              <a:buNone/>
              <a:defRPr sz="1200" b="0">
                <a:solidFill>
                  <a:srgbClr val="63788A"/>
                </a:solidFill>
                <a:latin typeface="Helvetica Neue"/>
                <a:ea typeface="Helvetica Neue"/>
                <a:cs typeface="Helvetica Neue"/>
              </a:defRPr>
            </a:lvl9pPr>
          </a:lstStyle>
          <a:p xmlns:a="http://schemas.openxmlformats.org/drawingml/2006/main">
            <a:pPr algn="l">
              <a:buNone/>
              <a:defRPr sz="1200" b="0">
                <a:solidFill>
                  <a:srgbClr val="63788A"/>
                </a:solidFill>
                <a:latin typeface="Helvetica Neue"/>
                <a:ea typeface="Helvetica Neue"/>
                <a:cs typeface="Helvetica Neue"/>
              </a:defRPr>
            </a:pPr>
            <a:r>
              <a:rPr sz="1200" b="0">
                <a:solidFill>
                  <a:srgbClr val="63788A"/>
                </a:solidFill>
                <a:latin typeface="Helvetica Neue"/>
                <a:ea typeface="Helvetica Neue"/>
                <a:cs typeface="Helvetica Neue"/>
              </a:rPr>
              <a:t>No blank cells in the supplied files</a:t>
            </a:r>
          </a:p>
        </p:txBody>
      </p:sp>
    </p:spTree>
    <p:extLst>
      <p:ext uri="{BB962C8B-B14F-4D97-AF65-F5344CB8AC3E}">
        <p14:creationId xmlns:p14="http://schemas.microsoft.com/office/powerpoint/2010/main" val="1841727056"/>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26" name="Rectangle 25">
            <a:extLst xmlns:a="http://schemas.openxmlformats.org/drawingml/2006/main">
              <a:ext uri="{FF2B5EF4-FFF2-40B4-BE49-F238E27FC236}">
                <a16:creationId xmlns:a16="http://schemas.microsoft.com/office/drawing/2014/main" id="{00DD0AA5-F29C-45A3-AA92-6BF82B741B44}"/>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C7DBD1"/>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B2330F30-A7E5-46C3-9D09-F8A77C0C13DA}"/>
              </a:ext>
            </a:extLst>
          </p:cNvPr>
          <p:cNvSpPr>
            <a:spLocks xmlns:a="http://schemas.openxmlformats.org/drawingml/2006/main" noGrp="1"/>
          </p:cNvSpPr>
          <p:nvPr/>
        </p:nvSpPr>
        <p:spPr>
          <a:xfrm xmlns:a="http://schemas.openxmlformats.org/drawingml/2006/main">
            <a:off x="609600" y="37147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625" b="1">
                <a:solidFill>
                  <a:srgbClr val="243A50"/>
                </a:solidFill>
                <a:latin typeface="Helvetica Neue"/>
                <a:ea typeface="Helvetica Neue"/>
                <a:cs typeface="Helvetica Neue"/>
              </a:defRPr>
            </a:defPPr>
            <a:lvl1pPr algn="l">
              <a:buNone/>
              <a:defRPr sz="2625" b="1">
                <a:solidFill>
                  <a:srgbClr val="243A50"/>
                </a:solidFill>
                <a:latin typeface="Helvetica Neue"/>
                <a:ea typeface="Helvetica Neue"/>
                <a:cs typeface="Helvetica Neue"/>
              </a:defRPr>
            </a:lvl1pPr>
            <a:lvl2pPr algn="l">
              <a:buNone/>
              <a:defRPr sz="2625" b="1">
                <a:solidFill>
                  <a:srgbClr val="243A50"/>
                </a:solidFill>
                <a:latin typeface="Helvetica Neue"/>
                <a:ea typeface="Helvetica Neue"/>
                <a:cs typeface="Helvetica Neue"/>
              </a:defRPr>
            </a:lvl2pPr>
            <a:lvl3pPr algn="l">
              <a:buNone/>
              <a:defRPr sz="2625" b="1">
                <a:solidFill>
                  <a:srgbClr val="243A50"/>
                </a:solidFill>
                <a:latin typeface="Helvetica Neue"/>
                <a:ea typeface="Helvetica Neue"/>
                <a:cs typeface="Helvetica Neue"/>
              </a:defRPr>
            </a:lvl3pPr>
            <a:lvl4pPr algn="l">
              <a:buNone/>
              <a:defRPr sz="2625" b="1">
                <a:solidFill>
                  <a:srgbClr val="243A50"/>
                </a:solidFill>
                <a:latin typeface="Helvetica Neue"/>
                <a:ea typeface="Helvetica Neue"/>
                <a:cs typeface="Helvetica Neue"/>
              </a:defRPr>
            </a:lvl4pPr>
            <a:lvl5pPr algn="l">
              <a:buNone/>
              <a:defRPr sz="2625" b="1">
                <a:solidFill>
                  <a:srgbClr val="243A50"/>
                </a:solidFill>
                <a:latin typeface="Helvetica Neue"/>
                <a:ea typeface="Helvetica Neue"/>
                <a:cs typeface="Helvetica Neue"/>
              </a:defRPr>
            </a:lvl5pPr>
            <a:lvl6pPr algn="l">
              <a:buNone/>
              <a:defRPr sz="2625" b="1">
                <a:solidFill>
                  <a:srgbClr val="243A50"/>
                </a:solidFill>
                <a:latin typeface="Helvetica Neue"/>
                <a:ea typeface="Helvetica Neue"/>
                <a:cs typeface="Helvetica Neue"/>
              </a:defRPr>
            </a:lvl6pPr>
            <a:lvl7pPr algn="l">
              <a:buNone/>
              <a:defRPr sz="2625" b="1">
                <a:solidFill>
                  <a:srgbClr val="243A50"/>
                </a:solidFill>
                <a:latin typeface="Helvetica Neue"/>
                <a:ea typeface="Helvetica Neue"/>
                <a:cs typeface="Helvetica Neue"/>
              </a:defRPr>
            </a:lvl7pPr>
            <a:lvl8pPr algn="l">
              <a:buNone/>
              <a:defRPr sz="2625" b="1">
                <a:solidFill>
                  <a:srgbClr val="243A50"/>
                </a:solidFill>
                <a:latin typeface="Helvetica Neue"/>
                <a:ea typeface="Helvetica Neue"/>
                <a:cs typeface="Helvetica Neue"/>
              </a:defRPr>
            </a:lvl8pPr>
            <a:lvl9pPr algn="l">
              <a:buNone/>
              <a:defRPr sz="2625" b="1">
                <a:solidFill>
                  <a:srgbClr val="243A50"/>
                </a:solidFill>
                <a:latin typeface="Helvetica Neue"/>
                <a:ea typeface="Helvetica Neue"/>
                <a:cs typeface="Helvetica Neue"/>
              </a:defRPr>
            </a:lvl9pPr>
          </a:lstStyle>
          <a:p xmlns:a="http://schemas.openxmlformats.org/drawingml/2006/main">
            <a:pPr algn="l">
              <a:buNone/>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1 · Missing-aware preprocessing</a:t>
            </a:r>
          </a:p>
        </p:txBody>
      </p:sp>
      <p:sp>
        <p:nvSpPr>
          <p:cNvPr id="3" name="Rectangle 2">
            <a:extLst xmlns:a="http://schemas.openxmlformats.org/drawingml/2006/main">
              <a:ext uri="{FF2B5EF4-FFF2-40B4-BE49-F238E27FC236}">
                <a16:creationId xmlns:a16="http://schemas.microsoft.com/office/drawing/2014/main" id="{EE5AF7E1-7192-4CF4-8B81-E53D55592BD2}"/>
              </a:ext>
            </a:extLst>
          </p:cNvPr>
          <p:cNvSpPr>
            <a:spLocks xmlns:a="http://schemas.openxmlformats.org/drawingml/2006/main" noGrp="1"/>
          </p:cNvSpPr>
          <p:nvPr/>
        </p:nvSpPr>
        <p:spPr>
          <a:xfrm xmlns:a="http://schemas.openxmlformats.org/drawingml/2006/main">
            <a:off x="628650" y="904875"/>
            <a:ext cx="10839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Keep signal strength and signal presence as separate information.</a:t>
            </a:r>
          </a:p>
        </p:txBody>
      </p:sp>
      <p:sp>
        <p:nvSpPr>
          <p:cNvPr id="4" name="Straight Connector 3">
            <a:extLst xmlns:a="http://schemas.openxmlformats.org/drawingml/2006/main">
              <a:ext uri="{FF2B5EF4-FFF2-40B4-BE49-F238E27FC236}">
                <a16:creationId xmlns:a16="http://schemas.microsoft.com/office/drawing/2014/main" id="{2AC0644A-DA2C-47DC-B7F6-CB288822509F}"/>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BD5DA"/>
            </a:solidFill>
            <a:prstDash val="solid"/>
          </a:ln>
        </p:spPr>
      </p:sp>
      <p:sp>
        <p:nvSpPr>
          <p:cNvPr id="5" name="Rectangle 4">
            <a:extLst xmlns:a="http://schemas.openxmlformats.org/drawingml/2006/main">
              <a:ext uri="{FF2B5EF4-FFF2-40B4-BE49-F238E27FC236}">
                <a16:creationId xmlns:a16="http://schemas.microsoft.com/office/drawing/2014/main" id="{63F07985-8070-43E8-B6E4-1C896A274021}"/>
              </a:ext>
            </a:extLst>
          </p:cNvPr>
          <p:cNvSpPr>
            <a:spLocks xmlns:a="http://schemas.openxmlformats.org/drawingml/2006/main" noGrp="1"/>
          </p:cNvSpPr>
          <p:nvPr/>
        </p:nvSpPr>
        <p:spPr>
          <a:xfrm xmlns:a="http://schemas.openxmlformats.org/drawingml/2006/main">
            <a:off x="609600" y="64770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900" b="0">
                <a:solidFill>
                  <a:srgbClr val="63788A"/>
                </a:solidFill>
                <a:latin typeface="Helvetica Neue"/>
                <a:ea typeface="Helvetica Neue"/>
                <a:cs typeface="Helvetica Neue"/>
              </a:defRPr>
            </a:defPPr>
            <a:lvl1pPr algn="r">
              <a:buNone/>
              <a:defRPr sz="900" b="0">
                <a:solidFill>
                  <a:srgbClr val="63788A"/>
                </a:solidFill>
                <a:latin typeface="Helvetica Neue"/>
                <a:ea typeface="Helvetica Neue"/>
                <a:cs typeface="Helvetica Neue"/>
              </a:defRPr>
            </a:lvl1pPr>
            <a:lvl2pPr algn="r">
              <a:buNone/>
              <a:defRPr sz="900" b="0">
                <a:solidFill>
                  <a:srgbClr val="63788A"/>
                </a:solidFill>
                <a:latin typeface="Helvetica Neue"/>
                <a:ea typeface="Helvetica Neue"/>
                <a:cs typeface="Helvetica Neue"/>
              </a:defRPr>
            </a:lvl2pPr>
            <a:lvl3pPr algn="r">
              <a:buNone/>
              <a:defRPr sz="900" b="0">
                <a:solidFill>
                  <a:srgbClr val="63788A"/>
                </a:solidFill>
                <a:latin typeface="Helvetica Neue"/>
                <a:ea typeface="Helvetica Neue"/>
                <a:cs typeface="Helvetica Neue"/>
              </a:defRPr>
            </a:lvl3pPr>
            <a:lvl4pPr algn="r">
              <a:buNone/>
              <a:defRPr sz="900" b="0">
                <a:solidFill>
                  <a:srgbClr val="63788A"/>
                </a:solidFill>
                <a:latin typeface="Helvetica Neue"/>
                <a:ea typeface="Helvetica Neue"/>
                <a:cs typeface="Helvetica Neue"/>
              </a:defRPr>
            </a:lvl4pPr>
            <a:lvl5pPr algn="r">
              <a:buNone/>
              <a:defRPr sz="900" b="0">
                <a:solidFill>
                  <a:srgbClr val="63788A"/>
                </a:solidFill>
                <a:latin typeface="Helvetica Neue"/>
                <a:ea typeface="Helvetica Neue"/>
                <a:cs typeface="Helvetica Neue"/>
              </a:defRPr>
            </a:lvl5pPr>
            <a:lvl6pPr algn="r">
              <a:buNone/>
              <a:defRPr sz="900" b="0">
                <a:solidFill>
                  <a:srgbClr val="63788A"/>
                </a:solidFill>
                <a:latin typeface="Helvetica Neue"/>
                <a:ea typeface="Helvetica Neue"/>
                <a:cs typeface="Helvetica Neue"/>
              </a:defRPr>
            </a:lvl6pPr>
            <a:lvl7pPr algn="r">
              <a:buNone/>
              <a:defRPr sz="900" b="0">
                <a:solidFill>
                  <a:srgbClr val="63788A"/>
                </a:solidFill>
                <a:latin typeface="Helvetica Neue"/>
                <a:ea typeface="Helvetica Neue"/>
                <a:cs typeface="Helvetica Neue"/>
              </a:defRPr>
            </a:lvl7pPr>
            <a:lvl8pPr algn="r">
              <a:buNone/>
              <a:defRPr sz="900" b="0">
                <a:solidFill>
                  <a:srgbClr val="63788A"/>
                </a:solidFill>
                <a:latin typeface="Helvetica Neue"/>
                <a:ea typeface="Helvetica Neue"/>
                <a:cs typeface="Helvetica Neue"/>
              </a:defRPr>
            </a:lvl8pPr>
            <a:lvl9pPr algn="r">
              <a:buNone/>
              <a:defRPr sz="900" b="0">
                <a:solidFill>
                  <a:srgbClr val="63788A"/>
                </a:solidFill>
                <a:latin typeface="Helvetica Neue"/>
                <a:ea typeface="Helvetica Neue"/>
                <a:cs typeface="Helvetica Neue"/>
              </a:defRPr>
            </a:lvl9pPr>
          </a:lstStyle>
          <a:p xmlns:a="http://schemas.openxmlformats.org/drawingml/2006/main">
            <a:pPr algn="r">
              <a:buNone/>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05</a:t>
            </a:r>
          </a:p>
        </p:txBody>
      </p:sp>
      <p:sp>
        <p:nvSpPr>
          <p:cNvPr id="6" name="Rounded Rectangle 5">
            <a:extLst xmlns:a="http://schemas.openxmlformats.org/drawingml/2006/main">
              <a:ext uri="{FF2B5EF4-FFF2-40B4-BE49-F238E27FC236}">
                <a16:creationId xmlns:a16="http://schemas.microsoft.com/office/drawing/2014/main" id="{8DCB325C-6097-4E6B-8D0A-52F33074DA43}"/>
              </a:ext>
            </a:extLst>
          </p:cNvPr>
          <p:cNvSpPr>
            <a:spLocks xmlns:a="http://schemas.openxmlformats.org/drawingml/2006/main" noGrp="1"/>
          </p:cNvSpPr>
          <p:nvPr/>
        </p:nvSpPr>
        <p:spPr>
          <a:xfrm xmlns:a="http://schemas.openxmlformats.org/drawingml/2006/main">
            <a:off x="590550" y="2038350"/>
            <a:ext cx="1962150" cy="1562100"/>
          </a:xfrm>
          <a:prstGeom xmlns:a="http://schemas.openxmlformats.org/drawingml/2006/main" prst="roundRect">
            <a:avLst>
              <a:gd name="adj" fmla="val 4878"/>
            </a:avLst>
          </a:prstGeom>
          <a:solidFill xmlns:a="http://schemas.openxmlformats.org/drawingml/2006/main">
            <a:srgbClr val="E8EFF4"/>
          </a:solidFill>
          <a:ln xmlns:a="http://schemas.openxmlformats.org/drawingml/2006/main" w="9525">
            <a:solidFill>
              <a:srgbClr val="CBD5DA"/>
            </a:solidFill>
            <a:prstDash val="solid"/>
          </a:ln>
        </p:spPr>
      </p:sp>
      <p:sp>
        <p:nvSpPr>
          <p:cNvPr id="7" name="Rectangle 6">
            <a:extLst xmlns:a="http://schemas.openxmlformats.org/drawingml/2006/main">
              <a:ext uri="{FF2B5EF4-FFF2-40B4-BE49-F238E27FC236}">
                <a16:creationId xmlns:a16="http://schemas.microsoft.com/office/drawing/2014/main" id="{A2C731D6-CBBD-4EDA-BDE3-FEABB10FC92F}"/>
              </a:ext>
            </a:extLst>
          </p:cNvPr>
          <p:cNvSpPr>
            <a:spLocks xmlns:a="http://schemas.openxmlformats.org/drawingml/2006/main" noGrp="1"/>
          </p:cNvSpPr>
          <p:nvPr/>
        </p:nvSpPr>
        <p:spPr>
          <a:xfrm xmlns:a="http://schemas.openxmlformats.org/drawingml/2006/main">
            <a:off x="704850" y="2152650"/>
            <a:ext cx="17335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Raw WAP values</a:t>
            </a:r>
          </a:p>
        </p:txBody>
      </p:sp>
      <p:sp>
        <p:nvSpPr>
          <p:cNvPr id="8" name="Rectangle 7">
            <a:extLst xmlns:a="http://schemas.openxmlformats.org/drawingml/2006/main">
              <a:ext uri="{FF2B5EF4-FFF2-40B4-BE49-F238E27FC236}">
                <a16:creationId xmlns:a16="http://schemas.microsoft.com/office/drawing/2014/main" id="{55F76A1C-79F7-40FF-A8D0-80223176C519}"/>
              </a:ext>
            </a:extLst>
          </p:cNvPr>
          <p:cNvSpPr>
            <a:spLocks xmlns:a="http://schemas.openxmlformats.org/drawingml/2006/main" noGrp="1"/>
          </p:cNvSpPr>
          <p:nvPr/>
        </p:nvSpPr>
        <p:spPr>
          <a:xfrm xmlns:a="http://schemas.openxmlformats.org/drawingml/2006/main">
            <a:off x="723900" y="2552700"/>
            <a:ext cx="16954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520 columns</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100 means absent</a:t>
            </a:r>
          </a:p>
        </p:txBody>
      </p:sp>
      <p:sp>
        <p:nvSpPr>
          <p:cNvPr id="9" name="Right Arrow 8">
            <a:extLst xmlns:a="http://schemas.openxmlformats.org/drawingml/2006/main">
              <a:ext uri="{FF2B5EF4-FFF2-40B4-BE49-F238E27FC236}">
                <a16:creationId xmlns:a16="http://schemas.microsoft.com/office/drawing/2014/main" id="{64FE77A6-3D51-4F75-AB0D-66C79747C441}"/>
              </a:ext>
            </a:extLst>
          </p:cNvPr>
          <p:cNvSpPr>
            <a:spLocks xmlns:a="http://schemas.openxmlformats.org/drawingml/2006/main" noGrp="1"/>
          </p:cNvSpPr>
          <p:nvPr/>
        </p:nvSpPr>
        <p:spPr>
          <a:xfrm xmlns:a="http://schemas.openxmlformats.org/drawingml/2006/main">
            <a:off x="2647950" y="2733675"/>
            <a:ext cx="342900" cy="152400"/>
          </a:xfrm>
          <a:prstGeom xmlns:a="http://schemas.openxmlformats.org/drawingml/2006/main" prst="rightArrow">
            <a:avLst/>
          </a:prstGeom>
          <a:solidFill xmlns:a="http://schemas.openxmlformats.org/drawingml/2006/main">
            <a:srgbClr val="64877F"/>
          </a:solidFill>
          <a:ln xmlns:a="http://schemas.openxmlformats.org/drawingml/2006/main" w="0">
            <a:noFill/>
            <a:prstDash val="solid"/>
          </a:ln>
        </p:spPr>
      </p:sp>
      <p:sp>
        <p:nvSpPr>
          <p:cNvPr id="10" name="Rounded Rectangle 9">
            <a:extLst xmlns:a="http://schemas.openxmlformats.org/drawingml/2006/main">
              <a:ext uri="{FF2B5EF4-FFF2-40B4-BE49-F238E27FC236}">
                <a16:creationId xmlns:a16="http://schemas.microsoft.com/office/drawing/2014/main" id="{241DD316-8AC0-4E2C-8724-8CBD02EAAA00}"/>
              </a:ext>
            </a:extLst>
          </p:cNvPr>
          <p:cNvSpPr>
            <a:spLocks xmlns:a="http://schemas.openxmlformats.org/drawingml/2006/main" noGrp="1"/>
          </p:cNvSpPr>
          <p:nvPr/>
        </p:nvSpPr>
        <p:spPr>
          <a:xfrm xmlns:a="http://schemas.openxmlformats.org/drawingml/2006/main">
            <a:off x="3105150" y="2038350"/>
            <a:ext cx="2114550" cy="1562100"/>
          </a:xfrm>
          <a:prstGeom xmlns:a="http://schemas.openxmlformats.org/drawingml/2006/main" prst="roundRect">
            <a:avLst>
              <a:gd name="adj" fmla="val 4878"/>
            </a:avLst>
          </a:prstGeom>
          <a:solidFill xmlns:a="http://schemas.openxmlformats.org/drawingml/2006/main">
            <a:srgbClr val="F1E9DB"/>
          </a:solidFill>
          <a:ln xmlns:a="http://schemas.openxmlformats.org/drawingml/2006/main" w="9525">
            <a:solidFill>
              <a:srgbClr val="CBD5DA"/>
            </a:solidFill>
            <a:prstDash val="solid"/>
          </a:ln>
        </p:spPr>
      </p:sp>
      <p:sp>
        <p:nvSpPr>
          <p:cNvPr id="11" name="Rectangle 10">
            <a:extLst xmlns:a="http://schemas.openxmlformats.org/drawingml/2006/main">
              <a:ext uri="{FF2B5EF4-FFF2-40B4-BE49-F238E27FC236}">
                <a16:creationId xmlns:a16="http://schemas.microsoft.com/office/drawing/2014/main" id="{D246D5F7-E22A-4F39-8149-A9D9158FFD2F}"/>
              </a:ext>
            </a:extLst>
          </p:cNvPr>
          <p:cNvSpPr>
            <a:spLocks xmlns:a="http://schemas.openxmlformats.org/drawingml/2006/main" noGrp="1"/>
          </p:cNvSpPr>
          <p:nvPr/>
        </p:nvSpPr>
        <p:spPr>
          <a:xfrm xmlns:a="http://schemas.openxmlformats.org/drawingml/2006/main">
            <a:off x="3219450" y="2152650"/>
            <a:ext cx="1885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Decode absence</a:t>
            </a:r>
          </a:p>
        </p:txBody>
      </p:sp>
      <p:sp>
        <p:nvSpPr>
          <p:cNvPr id="12" name="Rectangle 11">
            <a:extLst xmlns:a="http://schemas.openxmlformats.org/drawingml/2006/main">
              <a:ext uri="{FF2B5EF4-FFF2-40B4-BE49-F238E27FC236}">
                <a16:creationId xmlns:a16="http://schemas.microsoft.com/office/drawing/2014/main" id="{98E8923E-2664-4F8B-A3CF-817ED1E0AA46}"/>
              </a:ext>
            </a:extLst>
          </p:cNvPr>
          <p:cNvSpPr>
            <a:spLocks xmlns:a="http://schemas.openxmlformats.org/drawingml/2006/main" noGrp="1"/>
          </p:cNvSpPr>
          <p:nvPr/>
        </p:nvSpPr>
        <p:spPr>
          <a:xfrm xmlns:a="http://schemas.openxmlformats.org/drawingml/2006/main">
            <a:off x="3238500" y="2552700"/>
            <a:ext cx="18478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replace sentinel 100</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with missing state</a:t>
            </a:r>
          </a:p>
        </p:txBody>
      </p:sp>
      <p:sp>
        <p:nvSpPr>
          <p:cNvPr id="13" name="Right Arrow 12">
            <a:extLst xmlns:a="http://schemas.openxmlformats.org/drawingml/2006/main">
              <a:ext uri="{FF2B5EF4-FFF2-40B4-BE49-F238E27FC236}">
                <a16:creationId xmlns:a16="http://schemas.microsoft.com/office/drawing/2014/main" id="{2E463BF6-982D-46DF-BF46-C77C3948F22C}"/>
              </a:ext>
            </a:extLst>
          </p:cNvPr>
          <p:cNvSpPr>
            <a:spLocks xmlns:a="http://schemas.openxmlformats.org/drawingml/2006/main" noGrp="1"/>
          </p:cNvSpPr>
          <p:nvPr/>
        </p:nvSpPr>
        <p:spPr>
          <a:xfrm xmlns:a="http://schemas.openxmlformats.org/drawingml/2006/main">
            <a:off x="5314950" y="2733675"/>
            <a:ext cx="342900" cy="152400"/>
          </a:xfrm>
          <a:prstGeom xmlns:a="http://schemas.openxmlformats.org/drawingml/2006/main" prst="rightArrow">
            <a:avLst/>
          </a:prstGeom>
          <a:solidFill xmlns:a="http://schemas.openxmlformats.org/drawingml/2006/main">
            <a:srgbClr val="64877F"/>
          </a:solidFill>
          <a:ln xmlns:a="http://schemas.openxmlformats.org/drawingml/2006/main" w="0">
            <a:noFill/>
            <a:prstDash val="solid"/>
          </a:ln>
        </p:spPr>
      </p:sp>
      <p:sp>
        <p:nvSpPr>
          <p:cNvPr id="14" name="Rounded Rectangle 13">
            <a:extLst xmlns:a="http://schemas.openxmlformats.org/drawingml/2006/main">
              <a:ext uri="{FF2B5EF4-FFF2-40B4-BE49-F238E27FC236}">
                <a16:creationId xmlns:a16="http://schemas.microsoft.com/office/drawing/2014/main" id="{079EDD81-F36E-4C02-92F8-A01D8AB99A37}"/>
              </a:ext>
            </a:extLst>
          </p:cNvPr>
          <p:cNvSpPr>
            <a:spLocks xmlns:a="http://schemas.openxmlformats.org/drawingml/2006/main" noGrp="1"/>
          </p:cNvSpPr>
          <p:nvPr/>
        </p:nvSpPr>
        <p:spPr>
          <a:xfrm xmlns:a="http://schemas.openxmlformats.org/drawingml/2006/main">
            <a:off x="5772150" y="1685925"/>
            <a:ext cx="2305050" cy="1352550"/>
          </a:xfrm>
          <a:prstGeom xmlns:a="http://schemas.openxmlformats.org/drawingml/2006/main" prst="roundRect">
            <a:avLst>
              <a:gd name="adj" fmla="val 5634"/>
            </a:avLst>
          </a:prstGeom>
          <a:solidFill xmlns:a="http://schemas.openxmlformats.org/drawingml/2006/main">
            <a:srgbClr val="C7DBD1"/>
          </a:solidFill>
          <a:ln xmlns:a="http://schemas.openxmlformats.org/drawingml/2006/main" w="9525">
            <a:solidFill>
              <a:srgbClr val="CBD5DA"/>
            </a:solidFill>
            <a:prstDash val="solid"/>
          </a:ln>
        </p:spPr>
      </p:sp>
      <p:sp>
        <p:nvSpPr>
          <p:cNvPr id="15" name="Rectangle 14">
            <a:extLst xmlns:a="http://schemas.openxmlformats.org/drawingml/2006/main">
              <a:ext uri="{FF2B5EF4-FFF2-40B4-BE49-F238E27FC236}">
                <a16:creationId xmlns:a16="http://schemas.microsoft.com/office/drawing/2014/main" id="{701CA00C-1110-4959-9DD0-5088C88F4BEC}"/>
              </a:ext>
            </a:extLst>
          </p:cNvPr>
          <p:cNvSpPr>
            <a:spLocks xmlns:a="http://schemas.openxmlformats.org/drawingml/2006/main" noGrp="1"/>
          </p:cNvSpPr>
          <p:nvPr/>
        </p:nvSpPr>
        <p:spPr>
          <a:xfrm xmlns:a="http://schemas.openxmlformats.org/drawingml/2006/main">
            <a:off x="5886450" y="1800225"/>
            <a:ext cx="20764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Scale observed RSSI</a:t>
            </a:r>
          </a:p>
        </p:txBody>
      </p:sp>
      <p:sp>
        <p:nvSpPr>
          <p:cNvPr id="16" name="Rectangle 15">
            <a:extLst xmlns:a="http://schemas.openxmlformats.org/drawingml/2006/main">
              <a:ext uri="{FF2B5EF4-FFF2-40B4-BE49-F238E27FC236}">
                <a16:creationId xmlns:a16="http://schemas.microsoft.com/office/drawing/2014/main" id="{146D667A-157D-4F3C-960E-DC0B714A686F}"/>
              </a:ext>
            </a:extLst>
          </p:cNvPr>
          <p:cNvSpPr>
            <a:spLocks xmlns:a="http://schemas.openxmlformats.org/drawingml/2006/main" noGrp="1"/>
          </p:cNvSpPr>
          <p:nvPr/>
        </p:nvSpPr>
        <p:spPr>
          <a:xfrm xmlns:a="http://schemas.openxmlformats.org/drawingml/2006/main">
            <a:off x="5905500" y="2200275"/>
            <a:ext cx="2038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per-WAP statistics</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from internal train only</a:t>
            </a:r>
          </a:p>
        </p:txBody>
      </p:sp>
      <p:sp>
        <p:nvSpPr>
          <p:cNvPr id="17" name="Rounded Rectangle 16">
            <a:extLst xmlns:a="http://schemas.openxmlformats.org/drawingml/2006/main">
              <a:ext uri="{FF2B5EF4-FFF2-40B4-BE49-F238E27FC236}">
                <a16:creationId xmlns:a16="http://schemas.microsoft.com/office/drawing/2014/main" id="{70C83047-C88B-44CB-BD79-13E91C8F1526}"/>
              </a:ext>
            </a:extLst>
          </p:cNvPr>
          <p:cNvSpPr>
            <a:spLocks xmlns:a="http://schemas.openxmlformats.org/drawingml/2006/main" noGrp="1"/>
          </p:cNvSpPr>
          <p:nvPr/>
        </p:nvSpPr>
        <p:spPr>
          <a:xfrm xmlns:a="http://schemas.openxmlformats.org/drawingml/2006/main">
            <a:off x="5772150" y="3267075"/>
            <a:ext cx="2305050" cy="1352550"/>
          </a:xfrm>
          <a:prstGeom xmlns:a="http://schemas.openxmlformats.org/drawingml/2006/main" prst="roundRect">
            <a:avLst>
              <a:gd name="adj" fmla="val 5634"/>
            </a:avLst>
          </a:prstGeom>
          <a:solidFill xmlns:a="http://schemas.openxmlformats.org/drawingml/2006/main">
            <a:srgbClr val="DCE7ED"/>
          </a:solidFill>
          <a:ln xmlns:a="http://schemas.openxmlformats.org/drawingml/2006/main" w="9525">
            <a:solidFill>
              <a:srgbClr val="CBD5DA"/>
            </a:solidFill>
            <a:prstDash val="solid"/>
          </a:ln>
        </p:spPr>
      </p:sp>
      <p:sp>
        <p:nvSpPr>
          <p:cNvPr id="18" name="Rectangle 17">
            <a:extLst xmlns:a="http://schemas.openxmlformats.org/drawingml/2006/main">
              <a:ext uri="{FF2B5EF4-FFF2-40B4-BE49-F238E27FC236}">
                <a16:creationId xmlns:a16="http://schemas.microsoft.com/office/drawing/2014/main" id="{36918782-88BA-400F-8C11-3CA9FF9C5AD7}"/>
              </a:ext>
            </a:extLst>
          </p:cNvPr>
          <p:cNvSpPr>
            <a:spLocks xmlns:a="http://schemas.openxmlformats.org/drawingml/2006/main" noGrp="1"/>
          </p:cNvSpPr>
          <p:nvPr/>
        </p:nvSpPr>
        <p:spPr>
          <a:xfrm xmlns:a="http://schemas.openxmlformats.org/drawingml/2006/main">
            <a:off x="5886450" y="3381375"/>
            <a:ext cx="20764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Presence masks</a:t>
            </a:r>
          </a:p>
        </p:txBody>
      </p:sp>
      <p:sp>
        <p:nvSpPr>
          <p:cNvPr id="19" name="Rectangle 18">
            <a:extLst xmlns:a="http://schemas.openxmlformats.org/drawingml/2006/main">
              <a:ext uri="{FF2B5EF4-FFF2-40B4-BE49-F238E27FC236}">
                <a16:creationId xmlns:a16="http://schemas.microsoft.com/office/drawing/2014/main" id="{2F9579C1-B2BB-4815-A126-DF80B154E79A}"/>
              </a:ext>
            </a:extLst>
          </p:cNvPr>
          <p:cNvSpPr>
            <a:spLocks xmlns:a="http://schemas.openxmlformats.org/drawingml/2006/main" noGrp="1"/>
          </p:cNvSpPr>
          <p:nvPr/>
        </p:nvSpPr>
        <p:spPr>
          <a:xfrm xmlns:a="http://schemas.openxmlformats.org/drawingml/2006/main">
            <a:off x="5905500" y="3781425"/>
            <a:ext cx="2038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one binary seen / absent</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flag per WAP</a:t>
            </a:r>
          </a:p>
        </p:txBody>
      </p:sp>
      <p:sp>
        <p:nvSpPr>
          <p:cNvPr id="20" name="Right Arrow 19">
            <a:extLst xmlns:a="http://schemas.openxmlformats.org/drawingml/2006/main">
              <a:ext uri="{FF2B5EF4-FFF2-40B4-BE49-F238E27FC236}">
                <a16:creationId xmlns:a16="http://schemas.microsoft.com/office/drawing/2014/main" id="{3B8EC9D4-C0EE-47A2-BFD2-B6B7B1286401}"/>
              </a:ext>
            </a:extLst>
          </p:cNvPr>
          <p:cNvSpPr>
            <a:spLocks xmlns:a="http://schemas.openxmlformats.org/drawingml/2006/main" noGrp="1"/>
          </p:cNvSpPr>
          <p:nvPr/>
        </p:nvSpPr>
        <p:spPr>
          <a:xfrm xmlns:a="http://schemas.openxmlformats.org/drawingml/2006/main">
            <a:off x="8172450" y="2733675"/>
            <a:ext cx="342900" cy="152400"/>
          </a:xfrm>
          <a:prstGeom xmlns:a="http://schemas.openxmlformats.org/drawingml/2006/main" prst="rightArrow">
            <a:avLst/>
          </a:prstGeom>
          <a:solidFill xmlns:a="http://schemas.openxmlformats.org/drawingml/2006/main">
            <a:srgbClr val="64877F"/>
          </a:solidFill>
          <a:ln xmlns:a="http://schemas.openxmlformats.org/drawingml/2006/main" w="0">
            <a:noFill/>
            <a:prstDash val="solid"/>
          </a:ln>
        </p:spPr>
      </p:sp>
      <p:sp>
        <p:nvSpPr>
          <p:cNvPr id="21" name="Rounded Rectangle 20">
            <a:extLst xmlns:a="http://schemas.openxmlformats.org/drawingml/2006/main">
              <a:ext uri="{FF2B5EF4-FFF2-40B4-BE49-F238E27FC236}">
                <a16:creationId xmlns:a16="http://schemas.microsoft.com/office/drawing/2014/main" id="{4A67536C-AB7A-4695-A76C-9DF749F65C89}"/>
              </a:ext>
            </a:extLst>
          </p:cNvPr>
          <p:cNvSpPr>
            <a:spLocks xmlns:a="http://schemas.openxmlformats.org/drawingml/2006/main" noGrp="1"/>
          </p:cNvSpPr>
          <p:nvPr/>
        </p:nvSpPr>
        <p:spPr>
          <a:xfrm xmlns:a="http://schemas.openxmlformats.org/drawingml/2006/main">
            <a:off x="8620125" y="2038350"/>
            <a:ext cx="2857500" cy="1562100"/>
          </a:xfrm>
          <a:prstGeom xmlns:a="http://schemas.openxmlformats.org/drawingml/2006/main" prst="roundRect">
            <a:avLst>
              <a:gd name="adj" fmla="val 4878"/>
            </a:avLst>
          </a:prstGeom>
          <a:solidFill xmlns:a="http://schemas.openxmlformats.org/drawingml/2006/main">
            <a:srgbClr val="C7DBD1"/>
          </a:solidFill>
          <a:ln xmlns:a="http://schemas.openxmlformats.org/drawingml/2006/main" w="9525">
            <a:solidFill>
              <a:srgbClr val="CBD5DA"/>
            </a:solidFill>
            <a:prstDash val="solid"/>
          </a:ln>
        </p:spPr>
      </p:sp>
      <p:sp>
        <p:nvSpPr>
          <p:cNvPr id="22" name="Rectangle 21">
            <a:extLst xmlns:a="http://schemas.openxmlformats.org/drawingml/2006/main">
              <a:ext uri="{FF2B5EF4-FFF2-40B4-BE49-F238E27FC236}">
                <a16:creationId xmlns:a16="http://schemas.microsoft.com/office/drawing/2014/main" id="{C0987382-00D0-4AD9-8E0D-1764300CDF87}"/>
              </a:ext>
            </a:extLst>
          </p:cNvPr>
          <p:cNvSpPr>
            <a:spLocks xmlns:a="http://schemas.openxmlformats.org/drawingml/2006/main" noGrp="1"/>
          </p:cNvSpPr>
          <p:nvPr/>
        </p:nvSpPr>
        <p:spPr>
          <a:xfrm xmlns:a="http://schemas.openxmlformats.org/drawingml/2006/main">
            <a:off x="8734425" y="2152650"/>
            <a:ext cx="26289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Shared model table</a:t>
            </a:r>
          </a:p>
        </p:txBody>
      </p:sp>
      <p:sp>
        <p:nvSpPr>
          <p:cNvPr id="23" name="Rectangle 22">
            <a:extLst xmlns:a="http://schemas.openxmlformats.org/drawingml/2006/main">
              <a:ext uri="{FF2B5EF4-FFF2-40B4-BE49-F238E27FC236}">
                <a16:creationId xmlns:a16="http://schemas.microsoft.com/office/drawing/2014/main" id="{616DE4C4-99F3-418D-9AB3-152607D4C991}"/>
              </a:ext>
            </a:extLst>
          </p:cNvPr>
          <p:cNvSpPr>
            <a:spLocks xmlns:a="http://schemas.openxmlformats.org/drawingml/2006/main" noGrp="1"/>
          </p:cNvSpPr>
          <p:nvPr/>
        </p:nvSpPr>
        <p:spPr>
          <a:xfrm xmlns:a="http://schemas.openxmlformats.org/drawingml/2006/main">
            <a:off x="8753475" y="2552700"/>
            <a:ext cx="2590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scaled RSSI + masks</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 raw-signal summaries</a:t>
            </a:r>
          </a:p>
        </p:txBody>
      </p:sp>
      <p:sp>
        <p:nvSpPr>
          <p:cNvPr id="24" name="Rectangle 23">
            <a:extLst xmlns:a="http://schemas.openxmlformats.org/drawingml/2006/main">
              <a:ext uri="{FF2B5EF4-FFF2-40B4-BE49-F238E27FC236}">
                <a16:creationId xmlns:a16="http://schemas.microsoft.com/office/drawing/2014/main" id="{A83546EB-1E4D-418F-AA8A-AB8A17443FA2}"/>
              </a:ext>
            </a:extLst>
          </p:cNvPr>
          <p:cNvSpPr>
            <a:spLocks xmlns:a="http://schemas.openxmlformats.org/drawingml/2006/main" noGrp="1"/>
          </p:cNvSpPr>
          <p:nvPr/>
        </p:nvSpPr>
        <p:spPr>
          <a:xfrm xmlns:a="http://schemas.openxmlformats.org/drawingml/2006/main">
            <a:off x="742950" y="508635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425" b="1">
                <a:solidFill>
                  <a:srgbClr val="243A50"/>
                </a:solidFill>
                <a:latin typeface="Helvetica Neue"/>
                <a:ea typeface="Helvetica Neue"/>
                <a:cs typeface="Helvetica Neue"/>
              </a:defRPr>
            </a:defPPr>
            <a:lvl1pPr algn="l">
              <a:buNone/>
              <a:defRPr sz="1425" b="1">
                <a:solidFill>
                  <a:srgbClr val="243A50"/>
                </a:solidFill>
                <a:latin typeface="Helvetica Neue"/>
                <a:ea typeface="Helvetica Neue"/>
                <a:cs typeface="Helvetica Neue"/>
              </a:defRPr>
            </a:lvl1pPr>
            <a:lvl2pPr algn="l">
              <a:buNone/>
              <a:defRPr sz="1425" b="1">
                <a:solidFill>
                  <a:srgbClr val="243A50"/>
                </a:solidFill>
                <a:latin typeface="Helvetica Neue"/>
                <a:ea typeface="Helvetica Neue"/>
                <a:cs typeface="Helvetica Neue"/>
              </a:defRPr>
            </a:lvl2pPr>
            <a:lvl3pPr algn="l">
              <a:buNone/>
              <a:defRPr sz="1425" b="1">
                <a:solidFill>
                  <a:srgbClr val="243A50"/>
                </a:solidFill>
                <a:latin typeface="Helvetica Neue"/>
                <a:ea typeface="Helvetica Neue"/>
                <a:cs typeface="Helvetica Neue"/>
              </a:defRPr>
            </a:lvl3pPr>
            <a:lvl4pPr algn="l">
              <a:buNone/>
              <a:defRPr sz="1425" b="1">
                <a:solidFill>
                  <a:srgbClr val="243A50"/>
                </a:solidFill>
                <a:latin typeface="Helvetica Neue"/>
                <a:ea typeface="Helvetica Neue"/>
                <a:cs typeface="Helvetica Neue"/>
              </a:defRPr>
            </a:lvl4pPr>
            <a:lvl5pPr algn="l">
              <a:buNone/>
              <a:defRPr sz="1425" b="1">
                <a:solidFill>
                  <a:srgbClr val="243A50"/>
                </a:solidFill>
                <a:latin typeface="Helvetica Neue"/>
                <a:ea typeface="Helvetica Neue"/>
                <a:cs typeface="Helvetica Neue"/>
              </a:defRPr>
            </a:lvl5pPr>
            <a:lvl6pPr algn="l">
              <a:buNone/>
              <a:defRPr sz="1425" b="1">
                <a:solidFill>
                  <a:srgbClr val="243A50"/>
                </a:solidFill>
                <a:latin typeface="Helvetica Neue"/>
                <a:ea typeface="Helvetica Neue"/>
                <a:cs typeface="Helvetica Neue"/>
              </a:defRPr>
            </a:lvl6pPr>
            <a:lvl7pPr algn="l">
              <a:buNone/>
              <a:defRPr sz="1425" b="1">
                <a:solidFill>
                  <a:srgbClr val="243A50"/>
                </a:solidFill>
                <a:latin typeface="Helvetica Neue"/>
                <a:ea typeface="Helvetica Neue"/>
                <a:cs typeface="Helvetica Neue"/>
              </a:defRPr>
            </a:lvl7pPr>
            <a:lvl8pPr algn="l">
              <a:buNone/>
              <a:defRPr sz="1425" b="1">
                <a:solidFill>
                  <a:srgbClr val="243A50"/>
                </a:solidFill>
                <a:latin typeface="Helvetica Neue"/>
                <a:ea typeface="Helvetica Neue"/>
                <a:cs typeface="Helvetica Neue"/>
              </a:defRPr>
            </a:lvl8pPr>
            <a:lvl9pPr algn="l">
              <a:buNone/>
              <a:defRPr sz="1425" b="1">
                <a:solidFill>
                  <a:srgbClr val="243A50"/>
                </a:solidFill>
                <a:latin typeface="Helvetica Neue"/>
                <a:ea typeface="Helvetica Neue"/>
                <a:cs typeface="Helvetica Neue"/>
              </a:defRPr>
            </a:lvl9pPr>
          </a:lstStyle>
          <a:p xmlns:a="http://schemas.openxmlformats.org/drawingml/2006/main">
            <a:pPr algn="l">
              <a:buNone/>
              <a:defRPr sz="1425" b="1">
                <a:solidFill>
                  <a:srgbClr val="243A50"/>
                </a:solidFill>
                <a:latin typeface="Helvetica Neue"/>
                <a:ea typeface="Helvetica Neue"/>
                <a:cs typeface="Helvetica Neue"/>
              </a:defRPr>
            </a:pPr>
            <a:r>
              <a:rPr sz="1425" b="1">
                <a:solidFill>
                  <a:srgbClr val="243A50"/>
                </a:solidFill>
                <a:latin typeface="Helvetica Neue"/>
                <a:ea typeface="Helvetica Neue"/>
                <a:cs typeface="Helvetica Neue"/>
              </a:rPr>
              <a:t>Apply the learned scaler unchanged to internal validation and held-out rows.</a:t>
            </a:r>
          </a:p>
        </p:txBody>
      </p:sp>
      <p:sp>
        <p:nvSpPr>
          <p:cNvPr id="25" name="Rectangle 24">
            <a:extLst xmlns:a="http://schemas.openxmlformats.org/drawingml/2006/main">
              <a:ext uri="{FF2B5EF4-FFF2-40B4-BE49-F238E27FC236}">
                <a16:creationId xmlns:a16="http://schemas.microsoft.com/office/drawing/2014/main" id="{FB48B7CF-5FA2-4C58-B6CE-BD12AF7FC8E0}"/>
              </a:ext>
            </a:extLst>
          </p:cNvPr>
          <p:cNvSpPr>
            <a:spLocks xmlns:a="http://schemas.openxmlformats.org/drawingml/2006/main" noGrp="1"/>
          </p:cNvSpPr>
          <p:nvPr/>
        </p:nvSpPr>
        <p:spPr>
          <a:xfrm xmlns:a="http://schemas.openxmlformats.org/drawingml/2006/main">
            <a:off x="742950" y="5524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63788A"/>
                </a:solidFill>
                <a:latin typeface="Helvetica Neue"/>
                <a:ea typeface="Helvetica Neue"/>
                <a:cs typeface="Helvetica Neue"/>
              </a:defRPr>
            </a:defPPr>
            <a:lvl1pPr algn="l">
              <a:buNone/>
              <a:defRPr sz="1275" b="0">
                <a:solidFill>
                  <a:srgbClr val="63788A"/>
                </a:solidFill>
                <a:latin typeface="Helvetica Neue"/>
                <a:ea typeface="Helvetica Neue"/>
                <a:cs typeface="Helvetica Neue"/>
              </a:defRPr>
            </a:lvl1pPr>
            <a:lvl2pPr algn="l">
              <a:buNone/>
              <a:defRPr sz="1275" b="0">
                <a:solidFill>
                  <a:srgbClr val="63788A"/>
                </a:solidFill>
                <a:latin typeface="Helvetica Neue"/>
                <a:ea typeface="Helvetica Neue"/>
                <a:cs typeface="Helvetica Neue"/>
              </a:defRPr>
            </a:lvl2pPr>
            <a:lvl3pPr algn="l">
              <a:buNone/>
              <a:defRPr sz="1275" b="0">
                <a:solidFill>
                  <a:srgbClr val="63788A"/>
                </a:solidFill>
                <a:latin typeface="Helvetica Neue"/>
                <a:ea typeface="Helvetica Neue"/>
                <a:cs typeface="Helvetica Neue"/>
              </a:defRPr>
            </a:lvl3pPr>
            <a:lvl4pPr algn="l">
              <a:buNone/>
              <a:defRPr sz="1275" b="0">
                <a:solidFill>
                  <a:srgbClr val="63788A"/>
                </a:solidFill>
                <a:latin typeface="Helvetica Neue"/>
                <a:ea typeface="Helvetica Neue"/>
                <a:cs typeface="Helvetica Neue"/>
              </a:defRPr>
            </a:lvl4pPr>
            <a:lvl5pPr algn="l">
              <a:buNone/>
              <a:defRPr sz="1275" b="0">
                <a:solidFill>
                  <a:srgbClr val="63788A"/>
                </a:solidFill>
                <a:latin typeface="Helvetica Neue"/>
                <a:ea typeface="Helvetica Neue"/>
                <a:cs typeface="Helvetica Neue"/>
              </a:defRPr>
            </a:lvl5pPr>
            <a:lvl6pPr algn="l">
              <a:buNone/>
              <a:defRPr sz="1275" b="0">
                <a:solidFill>
                  <a:srgbClr val="63788A"/>
                </a:solidFill>
                <a:latin typeface="Helvetica Neue"/>
                <a:ea typeface="Helvetica Neue"/>
                <a:cs typeface="Helvetica Neue"/>
              </a:defRPr>
            </a:lvl6pPr>
            <a:lvl7pPr algn="l">
              <a:buNone/>
              <a:defRPr sz="1275" b="0">
                <a:solidFill>
                  <a:srgbClr val="63788A"/>
                </a:solidFill>
                <a:latin typeface="Helvetica Neue"/>
                <a:ea typeface="Helvetica Neue"/>
                <a:cs typeface="Helvetica Neue"/>
              </a:defRPr>
            </a:lvl7pPr>
            <a:lvl8pPr algn="l">
              <a:buNone/>
              <a:defRPr sz="1275" b="0">
                <a:solidFill>
                  <a:srgbClr val="63788A"/>
                </a:solidFill>
                <a:latin typeface="Helvetica Neue"/>
                <a:ea typeface="Helvetica Neue"/>
                <a:cs typeface="Helvetica Neue"/>
              </a:defRPr>
            </a:lvl8pPr>
            <a:lvl9pPr algn="l">
              <a:buNone/>
              <a:defRPr sz="1275" b="0">
                <a:solidFill>
                  <a:srgbClr val="63788A"/>
                </a:solidFill>
                <a:latin typeface="Helvetica Neue"/>
                <a:ea typeface="Helvetica Neue"/>
                <a:cs typeface="Helvetica Neue"/>
              </a:defRPr>
            </a:lvl9pPr>
          </a:lstStyle>
          <a:p xmlns:a="http://schemas.openxmlformats.org/drawingml/2006/main">
            <a:pPr algn="l">
              <a:buNone/>
              <a:defRPr sz="1275" b="0">
                <a:solidFill>
                  <a:srgbClr val="63788A"/>
                </a:solidFill>
                <a:latin typeface="Helvetica Neue"/>
                <a:ea typeface="Helvetica Neue"/>
                <a:cs typeface="Helvetica Neue"/>
              </a:defRPr>
            </a:pPr>
            <a:r>
              <a:rPr sz="1275" b="0">
                <a:solidFill>
                  <a:srgbClr val="63788A"/>
                </a:solidFill>
                <a:latin typeface="Helvetica Neue"/>
                <a:ea typeface="Helvetica Neue"/>
                <a:cs typeface="Helvetica Neue"/>
              </a:rPr>
              <a:t>Targets, row IDs, user / phone IDs, and collection metadata stay outside the predictor allowlist.</a:t>
            </a:r>
          </a:p>
        </p:txBody>
      </p:sp>
    </p:spTree>
    <p:extLst>
      <p:ext uri="{BB962C8B-B14F-4D97-AF65-F5344CB8AC3E}">
        <p14:creationId xmlns:p14="http://schemas.microsoft.com/office/powerpoint/2010/main" val="1094596107"/>
      </p:ext>
    </p:extLst>
  </p:cSld>
</p:sld>
</file>

<file path=ppt/slides/slide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9" name="Rectangle 18">
            <a:extLst xmlns:a="http://schemas.openxmlformats.org/drawingml/2006/main">
              <a:ext uri="{FF2B5EF4-FFF2-40B4-BE49-F238E27FC236}">
                <a16:creationId xmlns:a16="http://schemas.microsoft.com/office/drawing/2014/main" id="{706C2F7F-6802-415F-90A1-8B4DD0A8BE83}"/>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C7DBD1"/>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A08F835D-7D25-473C-BB5E-FDABE16245D5}"/>
              </a:ext>
            </a:extLst>
          </p:cNvPr>
          <p:cNvSpPr>
            <a:spLocks xmlns:a="http://schemas.openxmlformats.org/drawingml/2006/main" noGrp="1"/>
          </p:cNvSpPr>
          <p:nvPr/>
        </p:nvSpPr>
        <p:spPr>
          <a:xfrm xmlns:a="http://schemas.openxmlformats.org/drawingml/2006/main">
            <a:off x="609600" y="37147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625" b="1">
                <a:solidFill>
                  <a:srgbClr val="243A50"/>
                </a:solidFill>
                <a:latin typeface="Helvetica Neue"/>
                <a:ea typeface="Helvetica Neue"/>
                <a:cs typeface="Helvetica Neue"/>
              </a:defRPr>
            </a:defPPr>
            <a:lvl1pPr algn="l">
              <a:buNone/>
              <a:defRPr sz="2625" b="1">
                <a:solidFill>
                  <a:srgbClr val="243A50"/>
                </a:solidFill>
                <a:latin typeface="Helvetica Neue"/>
                <a:ea typeface="Helvetica Neue"/>
                <a:cs typeface="Helvetica Neue"/>
              </a:defRPr>
            </a:lvl1pPr>
            <a:lvl2pPr algn="l">
              <a:buNone/>
              <a:defRPr sz="2625" b="1">
                <a:solidFill>
                  <a:srgbClr val="243A50"/>
                </a:solidFill>
                <a:latin typeface="Helvetica Neue"/>
                <a:ea typeface="Helvetica Neue"/>
                <a:cs typeface="Helvetica Neue"/>
              </a:defRPr>
            </a:lvl2pPr>
            <a:lvl3pPr algn="l">
              <a:buNone/>
              <a:defRPr sz="2625" b="1">
                <a:solidFill>
                  <a:srgbClr val="243A50"/>
                </a:solidFill>
                <a:latin typeface="Helvetica Neue"/>
                <a:ea typeface="Helvetica Neue"/>
                <a:cs typeface="Helvetica Neue"/>
              </a:defRPr>
            </a:lvl3pPr>
            <a:lvl4pPr algn="l">
              <a:buNone/>
              <a:defRPr sz="2625" b="1">
                <a:solidFill>
                  <a:srgbClr val="243A50"/>
                </a:solidFill>
                <a:latin typeface="Helvetica Neue"/>
                <a:ea typeface="Helvetica Neue"/>
                <a:cs typeface="Helvetica Neue"/>
              </a:defRPr>
            </a:lvl4pPr>
            <a:lvl5pPr algn="l">
              <a:buNone/>
              <a:defRPr sz="2625" b="1">
                <a:solidFill>
                  <a:srgbClr val="243A50"/>
                </a:solidFill>
                <a:latin typeface="Helvetica Neue"/>
                <a:ea typeface="Helvetica Neue"/>
                <a:cs typeface="Helvetica Neue"/>
              </a:defRPr>
            </a:lvl5pPr>
            <a:lvl6pPr algn="l">
              <a:buNone/>
              <a:defRPr sz="2625" b="1">
                <a:solidFill>
                  <a:srgbClr val="243A50"/>
                </a:solidFill>
                <a:latin typeface="Helvetica Neue"/>
                <a:ea typeface="Helvetica Neue"/>
                <a:cs typeface="Helvetica Neue"/>
              </a:defRPr>
            </a:lvl6pPr>
            <a:lvl7pPr algn="l">
              <a:buNone/>
              <a:defRPr sz="2625" b="1">
                <a:solidFill>
                  <a:srgbClr val="243A50"/>
                </a:solidFill>
                <a:latin typeface="Helvetica Neue"/>
                <a:ea typeface="Helvetica Neue"/>
                <a:cs typeface="Helvetica Neue"/>
              </a:defRPr>
            </a:lvl7pPr>
            <a:lvl8pPr algn="l">
              <a:buNone/>
              <a:defRPr sz="2625" b="1">
                <a:solidFill>
                  <a:srgbClr val="243A50"/>
                </a:solidFill>
                <a:latin typeface="Helvetica Neue"/>
                <a:ea typeface="Helvetica Neue"/>
                <a:cs typeface="Helvetica Neue"/>
              </a:defRPr>
            </a:lvl8pPr>
            <a:lvl9pPr algn="l">
              <a:buNone/>
              <a:defRPr sz="2625" b="1">
                <a:solidFill>
                  <a:srgbClr val="243A50"/>
                </a:solidFill>
                <a:latin typeface="Helvetica Neue"/>
                <a:ea typeface="Helvetica Neue"/>
                <a:cs typeface="Helvetica Neue"/>
              </a:defRPr>
            </a:lvl9pPr>
          </a:lstStyle>
          <a:p xmlns:a="http://schemas.openxmlformats.org/drawingml/2006/main">
            <a:pPr algn="l">
              <a:buNone/>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1 · Feature output and safeguards</a:t>
            </a:r>
          </a:p>
        </p:txBody>
      </p:sp>
      <p:sp>
        <p:nvSpPr>
          <p:cNvPr id="3" name="Rectangle 2">
            <a:extLst xmlns:a="http://schemas.openxmlformats.org/drawingml/2006/main">
              <a:ext uri="{FF2B5EF4-FFF2-40B4-BE49-F238E27FC236}">
                <a16:creationId xmlns:a16="http://schemas.microsoft.com/office/drawing/2014/main" id="{D136D47F-E7F0-464B-8CAE-B209AC3F7832}"/>
              </a:ext>
            </a:extLst>
          </p:cNvPr>
          <p:cNvSpPr>
            <a:spLocks xmlns:a="http://schemas.openxmlformats.org/drawingml/2006/main" noGrp="1"/>
          </p:cNvSpPr>
          <p:nvPr/>
        </p:nvSpPr>
        <p:spPr>
          <a:xfrm xmlns:a="http://schemas.openxmlformats.org/drawingml/2006/main">
            <a:off x="628650" y="904875"/>
            <a:ext cx="10839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One shared feature contract feeds all downstream models.</a:t>
            </a:r>
          </a:p>
        </p:txBody>
      </p:sp>
      <p:sp>
        <p:nvSpPr>
          <p:cNvPr id="4" name="Straight Connector 3">
            <a:extLst xmlns:a="http://schemas.openxmlformats.org/drawingml/2006/main">
              <a:ext uri="{FF2B5EF4-FFF2-40B4-BE49-F238E27FC236}">
                <a16:creationId xmlns:a16="http://schemas.microsoft.com/office/drawing/2014/main" id="{D19C72FE-F510-429D-BDFD-38D90C200933}"/>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BD5DA"/>
            </a:solidFill>
            <a:prstDash val="solid"/>
          </a:ln>
        </p:spPr>
      </p:sp>
      <p:sp>
        <p:nvSpPr>
          <p:cNvPr id="5" name="Rectangle 4">
            <a:extLst xmlns:a="http://schemas.openxmlformats.org/drawingml/2006/main">
              <a:ext uri="{FF2B5EF4-FFF2-40B4-BE49-F238E27FC236}">
                <a16:creationId xmlns:a16="http://schemas.microsoft.com/office/drawing/2014/main" id="{ED1A61E2-E793-41DF-A5E7-8E97B65DB2CD}"/>
              </a:ext>
            </a:extLst>
          </p:cNvPr>
          <p:cNvSpPr>
            <a:spLocks xmlns:a="http://schemas.openxmlformats.org/drawingml/2006/main" noGrp="1"/>
          </p:cNvSpPr>
          <p:nvPr/>
        </p:nvSpPr>
        <p:spPr>
          <a:xfrm xmlns:a="http://schemas.openxmlformats.org/drawingml/2006/main">
            <a:off x="609600" y="64770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900" b="0">
                <a:solidFill>
                  <a:srgbClr val="63788A"/>
                </a:solidFill>
                <a:latin typeface="Helvetica Neue"/>
                <a:ea typeface="Helvetica Neue"/>
                <a:cs typeface="Helvetica Neue"/>
              </a:defRPr>
            </a:defPPr>
            <a:lvl1pPr algn="r">
              <a:buNone/>
              <a:defRPr sz="900" b="0">
                <a:solidFill>
                  <a:srgbClr val="63788A"/>
                </a:solidFill>
                <a:latin typeface="Helvetica Neue"/>
                <a:ea typeface="Helvetica Neue"/>
                <a:cs typeface="Helvetica Neue"/>
              </a:defRPr>
            </a:lvl1pPr>
            <a:lvl2pPr algn="r">
              <a:buNone/>
              <a:defRPr sz="900" b="0">
                <a:solidFill>
                  <a:srgbClr val="63788A"/>
                </a:solidFill>
                <a:latin typeface="Helvetica Neue"/>
                <a:ea typeface="Helvetica Neue"/>
                <a:cs typeface="Helvetica Neue"/>
              </a:defRPr>
            </a:lvl2pPr>
            <a:lvl3pPr algn="r">
              <a:buNone/>
              <a:defRPr sz="900" b="0">
                <a:solidFill>
                  <a:srgbClr val="63788A"/>
                </a:solidFill>
                <a:latin typeface="Helvetica Neue"/>
                <a:ea typeface="Helvetica Neue"/>
                <a:cs typeface="Helvetica Neue"/>
              </a:defRPr>
            </a:lvl3pPr>
            <a:lvl4pPr algn="r">
              <a:buNone/>
              <a:defRPr sz="900" b="0">
                <a:solidFill>
                  <a:srgbClr val="63788A"/>
                </a:solidFill>
                <a:latin typeface="Helvetica Neue"/>
                <a:ea typeface="Helvetica Neue"/>
                <a:cs typeface="Helvetica Neue"/>
              </a:defRPr>
            </a:lvl4pPr>
            <a:lvl5pPr algn="r">
              <a:buNone/>
              <a:defRPr sz="900" b="0">
                <a:solidFill>
                  <a:srgbClr val="63788A"/>
                </a:solidFill>
                <a:latin typeface="Helvetica Neue"/>
                <a:ea typeface="Helvetica Neue"/>
                <a:cs typeface="Helvetica Neue"/>
              </a:defRPr>
            </a:lvl5pPr>
            <a:lvl6pPr algn="r">
              <a:buNone/>
              <a:defRPr sz="900" b="0">
                <a:solidFill>
                  <a:srgbClr val="63788A"/>
                </a:solidFill>
                <a:latin typeface="Helvetica Neue"/>
                <a:ea typeface="Helvetica Neue"/>
                <a:cs typeface="Helvetica Neue"/>
              </a:defRPr>
            </a:lvl6pPr>
            <a:lvl7pPr algn="r">
              <a:buNone/>
              <a:defRPr sz="900" b="0">
                <a:solidFill>
                  <a:srgbClr val="63788A"/>
                </a:solidFill>
                <a:latin typeface="Helvetica Neue"/>
                <a:ea typeface="Helvetica Neue"/>
                <a:cs typeface="Helvetica Neue"/>
              </a:defRPr>
            </a:lvl7pPr>
            <a:lvl8pPr algn="r">
              <a:buNone/>
              <a:defRPr sz="900" b="0">
                <a:solidFill>
                  <a:srgbClr val="63788A"/>
                </a:solidFill>
                <a:latin typeface="Helvetica Neue"/>
                <a:ea typeface="Helvetica Neue"/>
                <a:cs typeface="Helvetica Neue"/>
              </a:defRPr>
            </a:lvl8pPr>
            <a:lvl9pPr algn="r">
              <a:buNone/>
              <a:defRPr sz="900" b="0">
                <a:solidFill>
                  <a:srgbClr val="63788A"/>
                </a:solidFill>
                <a:latin typeface="Helvetica Neue"/>
                <a:ea typeface="Helvetica Neue"/>
                <a:cs typeface="Helvetica Neue"/>
              </a:defRPr>
            </a:lvl9pPr>
          </a:lstStyle>
          <a:p xmlns:a="http://schemas.openxmlformats.org/drawingml/2006/main">
            <a:pPr algn="r">
              <a:buNone/>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06</a:t>
            </a:r>
          </a:p>
        </p:txBody>
      </p:sp>
      <p:pic>
        <p:nvPicPr>
          <p:cNvPr id="6" name="Picture 5">
            <a:extLst xmlns:a="http://schemas.openxmlformats.org/drawingml/2006/main">
              <a:ext uri="{FF2B5EF4-FFF2-40B4-BE49-F238E27FC236}">
                <a16:creationId xmlns:a16="http://schemas.microsoft.com/office/drawing/2014/main" id="{8A680452-05AC-47A8-BDDA-C4A8D70BFBBB}"/>
              </a:ext>
            </a:extLst>
          </p:cNvPr>
          <p:cNvPicPr>
            <a:picLocks xmlns:a="http://schemas.openxmlformats.org/drawingml/2006/main" noChangeAspect="1"/>
          </p:cNvPicPr>
          <p:nvPr/>
        </p:nvPicPr>
        <p:blipFill>
          <a:blip xmlns:r="http://schemas.openxmlformats.org/officeDocument/2006/relationships" xmlns:a="http://schemas.openxmlformats.org/drawingml/2006/main" r:embed="Rd9534f64d57a4ff6"/>
          <a:stretch xmlns:a="http://schemas.openxmlformats.org/drawingml/2006/main"/>
        </p:blipFill>
        <p:spPr>
          <a:xfrm xmlns:a="http://schemas.openxmlformats.org/drawingml/2006/main">
            <a:off x="476250" y="2359891"/>
            <a:ext cx="5905500" cy="2185842"/>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0EC890E9-5CE8-4AD5-8AC4-3622B4C492B5}"/>
              </a:ext>
            </a:extLst>
          </p:cNvPr>
          <p:cNvSpPr>
            <a:spLocks xmlns:a="http://schemas.openxmlformats.org/drawingml/2006/main" noGrp="1"/>
          </p:cNvSpPr>
          <p:nvPr/>
        </p:nvSpPr>
        <p:spPr>
          <a:xfrm xmlns:a="http://schemas.openxmlformats.org/drawingml/2006/main">
            <a:off x="7000875" y="1666875"/>
            <a:ext cx="333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3600" b="1">
                <a:solidFill>
                  <a:srgbClr val="243A50"/>
                </a:solidFill>
                <a:latin typeface="Helvetica Neue"/>
                <a:ea typeface="Helvetica Neue"/>
                <a:cs typeface="Helvetica Neue"/>
              </a:defRPr>
            </a:defPPr>
            <a:lvl1pPr algn="l">
              <a:buNone/>
              <a:defRPr sz="3600" b="1">
                <a:solidFill>
                  <a:srgbClr val="243A50"/>
                </a:solidFill>
                <a:latin typeface="Helvetica Neue"/>
                <a:ea typeface="Helvetica Neue"/>
                <a:cs typeface="Helvetica Neue"/>
              </a:defRPr>
            </a:lvl1pPr>
            <a:lvl2pPr algn="l">
              <a:buNone/>
              <a:defRPr sz="3600" b="1">
                <a:solidFill>
                  <a:srgbClr val="243A50"/>
                </a:solidFill>
                <a:latin typeface="Helvetica Neue"/>
                <a:ea typeface="Helvetica Neue"/>
                <a:cs typeface="Helvetica Neue"/>
              </a:defRPr>
            </a:lvl2pPr>
            <a:lvl3pPr algn="l">
              <a:buNone/>
              <a:defRPr sz="3600" b="1">
                <a:solidFill>
                  <a:srgbClr val="243A50"/>
                </a:solidFill>
                <a:latin typeface="Helvetica Neue"/>
                <a:ea typeface="Helvetica Neue"/>
                <a:cs typeface="Helvetica Neue"/>
              </a:defRPr>
            </a:lvl3pPr>
            <a:lvl4pPr algn="l">
              <a:buNone/>
              <a:defRPr sz="3600" b="1">
                <a:solidFill>
                  <a:srgbClr val="243A50"/>
                </a:solidFill>
                <a:latin typeface="Helvetica Neue"/>
                <a:ea typeface="Helvetica Neue"/>
                <a:cs typeface="Helvetica Neue"/>
              </a:defRPr>
            </a:lvl4pPr>
            <a:lvl5pPr algn="l">
              <a:buNone/>
              <a:defRPr sz="3600" b="1">
                <a:solidFill>
                  <a:srgbClr val="243A50"/>
                </a:solidFill>
                <a:latin typeface="Helvetica Neue"/>
                <a:ea typeface="Helvetica Neue"/>
                <a:cs typeface="Helvetica Neue"/>
              </a:defRPr>
            </a:lvl5pPr>
            <a:lvl6pPr algn="l">
              <a:buNone/>
              <a:defRPr sz="3600" b="1">
                <a:solidFill>
                  <a:srgbClr val="243A50"/>
                </a:solidFill>
                <a:latin typeface="Helvetica Neue"/>
                <a:ea typeface="Helvetica Neue"/>
                <a:cs typeface="Helvetica Neue"/>
              </a:defRPr>
            </a:lvl6pPr>
            <a:lvl7pPr algn="l">
              <a:buNone/>
              <a:defRPr sz="3600" b="1">
                <a:solidFill>
                  <a:srgbClr val="243A50"/>
                </a:solidFill>
                <a:latin typeface="Helvetica Neue"/>
                <a:ea typeface="Helvetica Neue"/>
                <a:cs typeface="Helvetica Neue"/>
              </a:defRPr>
            </a:lvl7pPr>
            <a:lvl8pPr algn="l">
              <a:buNone/>
              <a:defRPr sz="3600" b="1">
                <a:solidFill>
                  <a:srgbClr val="243A50"/>
                </a:solidFill>
                <a:latin typeface="Helvetica Neue"/>
                <a:ea typeface="Helvetica Neue"/>
                <a:cs typeface="Helvetica Neue"/>
              </a:defRPr>
            </a:lvl8pPr>
            <a:lvl9pPr algn="l">
              <a:buNone/>
              <a:defRPr sz="3600" b="1">
                <a:solidFill>
                  <a:srgbClr val="243A50"/>
                </a:solidFill>
                <a:latin typeface="Helvetica Neue"/>
                <a:ea typeface="Helvetica Neue"/>
                <a:cs typeface="Helvetica Neue"/>
              </a:defRPr>
            </a:lvl9pPr>
          </a:lstStyle>
          <a:p xmlns:a="http://schemas.openxmlformats.org/drawingml/2006/main">
            <a:pPr algn="l">
              <a:buNone/>
              <a:defRPr sz="3600" b="1">
                <a:solidFill>
                  <a:srgbClr val="243A50"/>
                </a:solidFill>
                <a:latin typeface="Helvetica Neue"/>
                <a:ea typeface="Helvetica Neue"/>
                <a:cs typeface="Helvetica Neue"/>
              </a:defRPr>
            </a:pPr>
            <a:r>
              <a:rPr sz="3600" b="1">
                <a:solidFill>
                  <a:srgbClr val="243A50"/>
                </a:solidFill>
                <a:latin typeface="Helvetica Neue"/>
                <a:ea typeface="Helvetica Neue"/>
                <a:cs typeface="Helvetica Neue"/>
              </a:rPr>
              <a:t>1,046</a:t>
            </a:r>
          </a:p>
        </p:txBody>
      </p:sp>
      <p:sp>
        <p:nvSpPr>
          <p:cNvPr id="8" name="Rectangle 7">
            <a:extLst xmlns:a="http://schemas.openxmlformats.org/drawingml/2006/main">
              <a:ext uri="{FF2B5EF4-FFF2-40B4-BE49-F238E27FC236}">
                <a16:creationId xmlns:a16="http://schemas.microsoft.com/office/drawing/2014/main" id="{F2EFF506-4884-48ED-8A82-1A2EC299745E}"/>
              </a:ext>
            </a:extLst>
          </p:cNvPr>
          <p:cNvSpPr>
            <a:spLocks xmlns:a="http://schemas.openxmlformats.org/drawingml/2006/main" noGrp="1"/>
          </p:cNvSpPr>
          <p:nvPr/>
        </p:nvSpPr>
        <p:spPr>
          <a:xfrm xmlns:a="http://schemas.openxmlformats.org/drawingml/2006/main">
            <a:off x="7058025" y="223837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425" b="0">
                <a:solidFill>
                  <a:srgbClr val="63788A"/>
                </a:solidFill>
                <a:latin typeface="Helvetica Neue"/>
                <a:ea typeface="Helvetica Neue"/>
                <a:cs typeface="Helvetica Neue"/>
              </a:defRPr>
            </a:defPPr>
            <a:lvl1pPr algn="l">
              <a:buNone/>
              <a:defRPr sz="1425" b="0">
                <a:solidFill>
                  <a:srgbClr val="63788A"/>
                </a:solidFill>
                <a:latin typeface="Helvetica Neue"/>
                <a:ea typeface="Helvetica Neue"/>
                <a:cs typeface="Helvetica Neue"/>
              </a:defRPr>
            </a:lvl1pPr>
            <a:lvl2pPr algn="l">
              <a:buNone/>
              <a:defRPr sz="1425" b="0">
                <a:solidFill>
                  <a:srgbClr val="63788A"/>
                </a:solidFill>
                <a:latin typeface="Helvetica Neue"/>
                <a:ea typeface="Helvetica Neue"/>
                <a:cs typeface="Helvetica Neue"/>
              </a:defRPr>
            </a:lvl2pPr>
            <a:lvl3pPr algn="l">
              <a:buNone/>
              <a:defRPr sz="1425" b="0">
                <a:solidFill>
                  <a:srgbClr val="63788A"/>
                </a:solidFill>
                <a:latin typeface="Helvetica Neue"/>
                <a:ea typeface="Helvetica Neue"/>
                <a:cs typeface="Helvetica Neue"/>
              </a:defRPr>
            </a:lvl3pPr>
            <a:lvl4pPr algn="l">
              <a:buNone/>
              <a:defRPr sz="1425" b="0">
                <a:solidFill>
                  <a:srgbClr val="63788A"/>
                </a:solidFill>
                <a:latin typeface="Helvetica Neue"/>
                <a:ea typeface="Helvetica Neue"/>
                <a:cs typeface="Helvetica Neue"/>
              </a:defRPr>
            </a:lvl4pPr>
            <a:lvl5pPr algn="l">
              <a:buNone/>
              <a:defRPr sz="1425" b="0">
                <a:solidFill>
                  <a:srgbClr val="63788A"/>
                </a:solidFill>
                <a:latin typeface="Helvetica Neue"/>
                <a:ea typeface="Helvetica Neue"/>
                <a:cs typeface="Helvetica Neue"/>
              </a:defRPr>
            </a:lvl5pPr>
            <a:lvl6pPr algn="l">
              <a:buNone/>
              <a:defRPr sz="1425" b="0">
                <a:solidFill>
                  <a:srgbClr val="63788A"/>
                </a:solidFill>
                <a:latin typeface="Helvetica Neue"/>
                <a:ea typeface="Helvetica Neue"/>
                <a:cs typeface="Helvetica Neue"/>
              </a:defRPr>
            </a:lvl6pPr>
            <a:lvl7pPr algn="l">
              <a:buNone/>
              <a:defRPr sz="1425" b="0">
                <a:solidFill>
                  <a:srgbClr val="63788A"/>
                </a:solidFill>
                <a:latin typeface="Helvetica Neue"/>
                <a:ea typeface="Helvetica Neue"/>
                <a:cs typeface="Helvetica Neue"/>
              </a:defRPr>
            </a:lvl7pPr>
            <a:lvl8pPr algn="l">
              <a:buNone/>
              <a:defRPr sz="1425" b="0">
                <a:solidFill>
                  <a:srgbClr val="63788A"/>
                </a:solidFill>
                <a:latin typeface="Helvetica Neue"/>
                <a:ea typeface="Helvetica Neue"/>
                <a:cs typeface="Helvetica Neue"/>
              </a:defRPr>
            </a:lvl8pPr>
            <a:lvl9pPr algn="l">
              <a:buNone/>
              <a:defRPr sz="1425" b="0">
                <a:solidFill>
                  <a:srgbClr val="63788A"/>
                </a:solidFill>
                <a:latin typeface="Helvetica Neue"/>
                <a:ea typeface="Helvetica Neue"/>
                <a:cs typeface="Helvetica Neue"/>
              </a:defRPr>
            </a:lvl9pPr>
          </a:lstStyle>
          <a:p xmlns:a="http://schemas.openxmlformats.org/drawingml/2006/main">
            <a:pPr algn="l">
              <a:buNone/>
              <a:defRPr sz="1425" b="0">
                <a:solidFill>
                  <a:srgbClr val="63788A"/>
                </a:solidFill>
                <a:latin typeface="Helvetica Neue"/>
                <a:ea typeface="Helvetica Neue"/>
                <a:cs typeface="Helvetica Neue"/>
              </a:defRPr>
            </a:pPr>
            <a:r>
              <a:rPr sz="1425" b="0">
                <a:solidFill>
                  <a:srgbClr val="63788A"/>
                </a:solidFill>
                <a:latin typeface="Helvetica Neue"/>
                <a:ea typeface="Helvetica Neue"/>
                <a:cs typeface="Helvetica Neue"/>
              </a:rPr>
              <a:t>predictor columns</a:t>
            </a:r>
          </a:p>
        </p:txBody>
      </p:sp>
      <p:sp>
        <p:nvSpPr>
          <p:cNvPr id="9" name="Rectangle 8">
            <a:extLst xmlns:a="http://schemas.openxmlformats.org/drawingml/2006/main">
              <a:ext uri="{FF2B5EF4-FFF2-40B4-BE49-F238E27FC236}">
                <a16:creationId xmlns:a16="http://schemas.microsoft.com/office/drawing/2014/main" id="{B7CA1B8E-5058-4509-A75D-85AB3B06BCF0}"/>
              </a:ext>
            </a:extLst>
          </p:cNvPr>
          <p:cNvSpPr>
            <a:spLocks xmlns:a="http://schemas.openxmlformats.org/drawingml/2006/main" noGrp="1"/>
          </p:cNvSpPr>
          <p:nvPr/>
        </p:nvSpPr>
        <p:spPr>
          <a:xfrm xmlns:a="http://schemas.openxmlformats.org/drawingml/2006/main">
            <a:off x="7000875" y="2838450"/>
            <a:ext cx="209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650" b="1">
                <a:solidFill>
                  <a:srgbClr val="64877F"/>
                </a:solidFill>
                <a:latin typeface="Helvetica Neue"/>
                <a:ea typeface="Helvetica Neue"/>
                <a:cs typeface="Helvetica Neue"/>
              </a:defRPr>
            </a:defPPr>
            <a:lvl1pPr algn="l">
              <a:buNone/>
              <a:defRPr sz="1650" b="1">
                <a:solidFill>
                  <a:srgbClr val="64877F"/>
                </a:solidFill>
                <a:latin typeface="Helvetica Neue"/>
                <a:ea typeface="Helvetica Neue"/>
                <a:cs typeface="Helvetica Neue"/>
              </a:defRPr>
            </a:lvl1pPr>
            <a:lvl2pPr algn="l">
              <a:buNone/>
              <a:defRPr sz="1650" b="1">
                <a:solidFill>
                  <a:srgbClr val="64877F"/>
                </a:solidFill>
                <a:latin typeface="Helvetica Neue"/>
                <a:ea typeface="Helvetica Neue"/>
                <a:cs typeface="Helvetica Neue"/>
              </a:defRPr>
            </a:lvl2pPr>
            <a:lvl3pPr algn="l">
              <a:buNone/>
              <a:defRPr sz="1650" b="1">
                <a:solidFill>
                  <a:srgbClr val="64877F"/>
                </a:solidFill>
                <a:latin typeface="Helvetica Neue"/>
                <a:ea typeface="Helvetica Neue"/>
                <a:cs typeface="Helvetica Neue"/>
              </a:defRPr>
            </a:lvl3pPr>
            <a:lvl4pPr algn="l">
              <a:buNone/>
              <a:defRPr sz="1650" b="1">
                <a:solidFill>
                  <a:srgbClr val="64877F"/>
                </a:solidFill>
                <a:latin typeface="Helvetica Neue"/>
                <a:ea typeface="Helvetica Neue"/>
                <a:cs typeface="Helvetica Neue"/>
              </a:defRPr>
            </a:lvl4pPr>
            <a:lvl5pPr algn="l">
              <a:buNone/>
              <a:defRPr sz="1650" b="1">
                <a:solidFill>
                  <a:srgbClr val="64877F"/>
                </a:solidFill>
                <a:latin typeface="Helvetica Neue"/>
                <a:ea typeface="Helvetica Neue"/>
                <a:cs typeface="Helvetica Neue"/>
              </a:defRPr>
            </a:lvl5pPr>
            <a:lvl6pPr algn="l">
              <a:buNone/>
              <a:defRPr sz="1650" b="1">
                <a:solidFill>
                  <a:srgbClr val="64877F"/>
                </a:solidFill>
                <a:latin typeface="Helvetica Neue"/>
                <a:ea typeface="Helvetica Neue"/>
                <a:cs typeface="Helvetica Neue"/>
              </a:defRPr>
            </a:lvl6pPr>
            <a:lvl7pPr algn="l">
              <a:buNone/>
              <a:defRPr sz="1650" b="1">
                <a:solidFill>
                  <a:srgbClr val="64877F"/>
                </a:solidFill>
                <a:latin typeface="Helvetica Neue"/>
                <a:ea typeface="Helvetica Neue"/>
                <a:cs typeface="Helvetica Neue"/>
              </a:defRPr>
            </a:lvl7pPr>
            <a:lvl8pPr algn="l">
              <a:buNone/>
              <a:defRPr sz="1650" b="1">
                <a:solidFill>
                  <a:srgbClr val="64877F"/>
                </a:solidFill>
                <a:latin typeface="Helvetica Neue"/>
                <a:ea typeface="Helvetica Neue"/>
                <a:cs typeface="Helvetica Neue"/>
              </a:defRPr>
            </a:lvl8pPr>
            <a:lvl9pPr algn="l">
              <a:buNone/>
              <a:defRPr sz="1650" b="1">
                <a:solidFill>
                  <a:srgbClr val="64877F"/>
                </a:solidFill>
                <a:latin typeface="Helvetica Neue"/>
                <a:ea typeface="Helvetica Neue"/>
                <a:cs typeface="Helvetica Neue"/>
              </a:defRPr>
            </a:lvl9pPr>
          </a:lstStyle>
          <a:p xmlns:a="http://schemas.openxmlformats.org/drawingml/2006/main">
            <a:pPr algn="l">
              <a:buNone/>
              <a:defRPr sz="1650" b="1">
                <a:solidFill>
                  <a:srgbClr val="64877F"/>
                </a:solidFill>
                <a:latin typeface="Helvetica Neue"/>
                <a:ea typeface="Helvetica Neue"/>
                <a:cs typeface="Helvetica Neue"/>
              </a:defRPr>
            </a:pPr>
            <a:r>
              <a:rPr sz="1650" b="1">
                <a:solidFill>
                  <a:srgbClr val="64877F"/>
                </a:solidFill>
                <a:latin typeface="Helvetica Neue"/>
                <a:ea typeface="Helvetica Neue"/>
                <a:cs typeface="Helvetica Neue"/>
              </a:rPr>
              <a:t>•</a:t>
            </a:r>
          </a:p>
        </p:txBody>
      </p:sp>
      <p:sp>
        <p:nvSpPr>
          <p:cNvPr id="10" name="Rectangle 9">
            <a:extLst xmlns:a="http://schemas.openxmlformats.org/drawingml/2006/main">
              <a:ext uri="{FF2B5EF4-FFF2-40B4-BE49-F238E27FC236}">
                <a16:creationId xmlns:a16="http://schemas.microsoft.com/office/drawing/2014/main" id="{6FDB5951-B191-4DA8-8139-2A62779FD9A6}"/>
              </a:ext>
            </a:extLst>
          </p:cNvPr>
          <p:cNvSpPr>
            <a:spLocks xmlns:a="http://schemas.openxmlformats.org/drawingml/2006/main" noGrp="1"/>
          </p:cNvSpPr>
          <p:nvPr/>
        </p:nvSpPr>
        <p:spPr>
          <a:xfrm xmlns:a="http://schemas.openxmlformats.org/drawingml/2006/main">
            <a:off x="7267575" y="2838450"/>
            <a:ext cx="4210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425" b="1">
                <a:solidFill>
                  <a:srgbClr val="243A50"/>
                </a:solidFill>
                <a:latin typeface="Helvetica Neue"/>
                <a:ea typeface="Helvetica Neue"/>
                <a:cs typeface="Helvetica Neue"/>
              </a:defRPr>
            </a:defPPr>
            <a:lvl1pPr algn="l">
              <a:buNone/>
              <a:defRPr sz="1425" b="1">
                <a:solidFill>
                  <a:srgbClr val="243A50"/>
                </a:solidFill>
                <a:latin typeface="Helvetica Neue"/>
                <a:ea typeface="Helvetica Neue"/>
                <a:cs typeface="Helvetica Neue"/>
              </a:defRPr>
            </a:lvl1pPr>
            <a:lvl2pPr algn="l">
              <a:buNone/>
              <a:defRPr sz="1425" b="1">
                <a:solidFill>
                  <a:srgbClr val="243A50"/>
                </a:solidFill>
                <a:latin typeface="Helvetica Neue"/>
                <a:ea typeface="Helvetica Neue"/>
                <a:cs typeface="Helvetica Neue"/>
              </a:defRPr>
            </a:lvl2pPr>
            <a:lvl3pPr algn="l">
              <a:buNone/>
              <a:defRPr sz="1425" b="1">
                <a:solidFill>
                  <a:srgbClr val="243A50"/>
                </a:solidFill>
                <a:latin typeface="Helvetica Neue"/>
                <a:ea typeface="Helvetica Neue"/>
                <a:cs typeface="Helvetica Neue"/>
              </a:defRPr>
            </a:lvl3pPr>
            <a:lvl4pPr algn="l">
              <a:buNone/>
              <a:defRPr sz="1425" b="1">
                <a:solidFill>
                  <a:srgbClr val="243A50"/>
                </a:solidFill>
                <a:latin typeface="Helvetica Neue"/>
                <a:ea typeface="Helvetica Neue"/>
                <a:cs typeface="Helvetica Neue"/>
              </a:defRPr>
            </a:lvl4pPr>
            <a:lvl5pPr algn="l">
              <a:buNone/>
              <a:defRPr sz="1425" b="1">
                <a:solidFill>
                  <a:srgbClr val="243A50"/>
                </a:solidFill>
                <a:latin typeface="Helvetica Neue"/>
                <a:ea typeface="Helvetica Neue"/>
                <a:cs typeface="Helvetica Neue"/>
              </a:defRPr>
            </a:lvl5pPr>
            <a:lvl6pPr algn="l">
              <a:buNone/>
              <a:defRPr sz="1425" b="1">
                <a:solidFill>
                  <a:srgbClr val="243A50"/>
                </a:solidFill>
                <a:latin typeface="Helvetica Neue"/>
                <a:ea typeface="Helvetica Neue"/>
                <a:cs typeface="Helvetica Neue"/>
              </a:defRPr>
            </a:lvl6pPr>
            <a:lvl7pPr algn="l">
              <a:buNone/>
              <a:defRPr sz="1425" b="1">
                <a:solidFill>
                  <a:srgbClr val="243A50"/>
                </a:solidFill>
                <a:latin typeface="Helvetica Neue"/>
                <a:ea typeface="Helvetica Neue"/>
                <a:cs typeface="Helvetica Neue"/>
              </a:defRPr>
            </a:lvl7pPr>
            <a:lvl8pPr algn="l">
              <a:buNone/>
              <a:defRPr sz="1425" b="1">
                <a:solidFill>
                  <a:srgbClr val="243A50"/>
                </a:solidFill>
                <a:latin typeface="Helvetica Neue"/>
                <a:ea typeface="Helvetica Neue"/>
                <a:cs typeface="Helvetica Neue"/>
              </a:defRPr>
            </a:lvl8pPr>
            <a:lvl9pPr algn="l">
              <a:buNone/>
              <a:defRPr sz="1425" b="1">
                <a:solidFill>
                  <a:srgbClr val="243A50"/>
                </a:solidFill>
                <a:latin typeface="Helvetica Neue"/>
                <a:ea typeface="Helvetica Neue"/>
                <a:cs typeface="Helvetica Neue"/>
              </a:defRPr>
            </a:lvl9pPr>
          </a:lstStyle>
          <a:p xmlns:a="http://schemas.openxmlformats.org/drawingml/2006/main">
            <a:pPr algn="l">
              <a:buNone/>
              <a:defRPr sz="1425" b="1">
                <a:solidFill>
                  <a:srgbClr val="243A50"/>
                </a:solidFill>
                <a:latin typeface="Helvetica Neue"/>
                <a:ea typeface="Helvetica Neue"/>
                <a:cs typeface="Helvetica Neue"/>
              </a:defRPr>
            </a:pPr>
            <a:r>
              <a:rPr sz="1425" b="1">
                <a:solidFill>
                  <a:srgbClr val="243A50"/>
                </a:solidFill>
                <a:latin typeface="Helvetica Neue"/>
                <a:ea typeface="Helvetica Neue"/>
                <a:cs typeface="Helvetica Neue"/>
              </a:rPr>
              <a:t>520 standardized RSSI</a:t>
            </a:r>
          </a:p>
        </p:txBody>
      </p:sp>
      <p:sp>
        <p:nvSpPr>
          <p:cNvPr id="11" name="Rectangle 10">
            <a:extLst xmlns:a="http://schemas.openxmlformats.org/drawingml/2006/main">
              <a:ext uri="{FF2B5EF4-FFF2-40B4-BE49-F238E27FC236}">
                <a16:creationId xmlns:a16="http://schemas.microsoft.com/office/drawing/2014/main" id="{AF88E29E-B4AC-4FEE-8989-E7C0B94AF9D8}"/>
              </a:ext>
            </a:extLst>
          </p:cNvPr>
          <p:cNvSpPr>
            <a:spLocks xmlns:a="http://schemas.openxmlformats.org/drawingml/2006/main" noGrp="1"/>
          </p:cNvSpPr>
          <p:nvPr/>
        </p:nvSpPr>
        <p:spPr>
          <a:xfrm xmlns:a="http://schemas.openxmlformats.org/drawingml/2006/main">
            <a:off x="7267575" y="3124200"/>
            <a:ext cx="4191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00" b="0">
                <a:solidFill>
                  <a:srgbClr val="33485D"/>
                </a:solidFill>
                <a:latin typeface="Helvetica Neue"/>
                <a:ea typeface="Helvetica Neue"/>
                <a:cs typeface="Helvetica Neue"/>
              </a:defRPr>
            </a:defPPr>
            <a:lvl1pPr algn="l">
              <a:buNone/>
              <a:defRPr sz="1200" b="0">
                <a:solidFill>
                  <a:srgbClr val="33485D"/>
                </a:solidFill>
                <a:latin typeface="Helvetica Neue"/>
                <a:ea typeface="Helvetica Neue"/>
                <a:cs typeface="Helvetica Neue"/>
              </a:defRPr>
            </a:lvl1pPr>
            <a:lvl2pPr algn="l">
              <a:buNone/>
              <a:defRPr sz="1200" b="0">
                <a:solidFill>
                  <a:srgbClr val="33485D"/>
                </a:solidFill>
                <a:latin typeface="Helvetica Neue"/>
                <a:ea typeface="Helvetica Neue"/>
                <a:cs typeface="Helvetica Neue"/>
              </a:defRPr>
            </a:lvl2pPr>
            <a:lvl3pPr algn="l">
              <a:buNone/>
              <a:defRPr sz="1200" b="0">
                <a:solidFill>
                  <a:srgbClr val="33485D"/>
                </a:solidFill>
                <a:latin typeface="Helvetica Neue"/>
                <a:ea typeface="Helvetica Neue"/>
                <a:cs typeface="Helvetica Neue"/>
              </a:defRPr>
            </a:lvl3pPr>
            <a:lvl4pPr algn="l">
              <a:buNone/>
              <a:defRPr sz="1200" b="0">
                <a:solidFill>
                  <a:srgbClr val="33485D"/>
                </a:solidFill>
                <a:latin typeface="Helvetica Neue"/>
                <a:ea typeface="Helvetica Neue"/>
                <a:cs typeface="Helvetica Neue"/>
              </a:defRPr>
            </a:lvl4pPr>
            <a:lvl5pPr algn="l">
              <a:buNone/>
              <a:defRPr sz="1200" b="0">
                <a:solidFill>
                  <a:srgbClr val="33485D"/>
                </a:solidFill>
                <a:latin typeface="Helvetica Neue"/>
                <a:ea typeface="Helvetica Neue"/>
                <a:cs typeface="Helvetica Neue"/>
              </a:defRPr>
            </a:lvl5pPr>
            <a:lvl6pPr algn="l">
              <a:buNone/>
              <a:defRPr sz="1200" b="0">
                <a:solidFill>
                  <a:srgbClr val="33485D"/>
                </a:solidFill>
                <a:latin typeface="Helvetica Neue"/>
                <a:ea typeface="Helvetica Neue"/>
                <a:cs typeface="Helvetica Neue"/>
              </a:defRPr>
            </a:lvl6pPr>
            <a:lvl7pPr algn="l">
              <a:buNone/>
              <a:defRPr sz="1200" b="0">
                <a:solidFill>
                  <a:srgbClr val="33485D"/>
                </a:solidFill>
                <a:latin typeface="Helvetica Neue"/>
                <a:ea typeface="Helvetica Neue"/>
                <a:cs typeface="Helvetica Neue"/>
              </a:defRPr>
            </a:lvl7pPr>
            <a:lvl8pPr algn="l">
              <a:buNone/>
              <a:defRPr sz="1200" b="0">
                <a:solidFill>
                  <a:srgbClr val="33485D"/>
                </a:solidFill>
                <a:latin typeface="Helvetica Neue"/>
                <a:ea typeface="Helvetica Neue"/>
                <a:cs typeface="Helvetica Neue"/>
              </a:defRPr>
            </a:lvl8pPr>
            <a:lvl9pPr algn="l">
              <a:buNone/>
              <a:defRPr sz="1200" b="0">
                <a:solidFill>
                  <a:srgbClr val="33485D"/>
                </a:solidFill>
                <a:latin typeface="Helvetica Neue"/>
                <a:ea typeface="Helvetica Neue"/>
                <a:cs typeface="Helvetica Neue"/>
              </a:defRPr>
            </a:lvl9pPr>
          </a:lstStyle>
          <a:p xmlns:a="http://schemas.openxmlformats.org/drawingml/2006/main">
            <a:pPr algn="l">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Signal strength after train-only scaling.</a:t>
            </a:r>
          </a:p>
        </p:txBody>
      </p:sp>
      <p:sp>
        <p:nvSpPr>
          <p:cNvPr id="12" name="Rectangle 11">
            <a:extLst xmlns:a="http://schemas.openxmlformats.org/drawingml/2006/main">
              <a:ext uri="{FF2B5EF4-FFF2-40B4-BE49-F238E27FC236}">
                <a16:creationId xmlns:a16="http://schemas.microsoft.com/office/drawing/2014/main" id="{AA640CFF-8772-4F83-9655-E9A4BA67E96B}"/>
              </a:ext>
            </a:extLst>
          </p:cNvPr>
          <p:cNvSpPr>
            <a:spLocks xmlns:a="http://schemas.openxmlformats.org/drawingml/2006/main" noGrp="1"/>
          </p:cNvSpPr>
          <p:nvPr/>
        </p:nvSpPr>
        <p:spPr>
          <a:xfrm xmlns:a="http://schemas.openxmlformats.org/drawingml/2006/main">
            <a:off x="7000875" y="3714750"/>
            <a:ext cx="209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650" b="1">
                <a:solidFill>
                  <a:srgbClr val="64877F"/>
                </a:solidFill>
                <a:latin typeface="Helvetica Neue"/>
                <a:ea typeface="Helvetica Neue"/>
                <a:cs typeface="Helvetica Neue"/>
              </a:defRPr>
            </a:defPPr>
            <a:lvl1pPr algn="l">
              <a:buNone/>
              <a:defRPr sz="1650" b="1">
                <a:solidFill>
                  <a:srgbClr val="64877F"/>
                </a:solidFill>
                <a:latin typeface="Helvetica Neue"/>
                <a:ea typeface="Helvetica Neue"/>
                <a:cs typeface="Helvetica Neue"/>
              </a:defRPr>
            </a:lvl1pPr>
            <a:lvl2pPr algn="l">
              <a:buNone/>
              <a:defRPr sz="1650" b="1">
                <a:solidFill>
                  <a:srgbClr val="64877F"/>
                </a:solidFill>
                <a:latin typeface="Helvetica Neue"/>
                <a:ea typeface="Helvetica Neue"/>
                <a:cs typeface="Helvetica Neue"/>
              </a:defRPr>
            </a:lvl2pPr>
            <a:lvl3pPr algn="l">
              <a:buNone/>
              <a:defRPr sz="1650" b="1">
                <a:solidFill>
                  <a:srgbClr val="64877F"/>
                </a:solidFill>
                <a:latin typeface="Helvetica Neue"/>
                <a:ea typeface="Helvetica Neue"/>
                <a:cs typeface="Helvetica Neue"/>
              </a:defRPr>
            </a:lvl3pPr>
            <a:lvl4pPr algn="l">
              <a:buNone/>
              <a:defRPr sz="1650" b="1">
                <a:solidFill>
                  <a:srgbClr val="64877F"/>
                </a:solidFill>
                <a:latin typeface="Helvetica Neue"/>
                <a:ea typeface="Helvetica Neue"/>
                <a:cs typeface="Helvetica Neue"/>
              </a:defRPr>
            </a:lvl4pPr>
            <a:lvl5pPr algn="l">
              <a:buNone/>
              <a:defRPr sz="1650" b="1">
                <a:solidFill>
                  <a:srgbClr val="64877F"/>
                </a:solidFill>
                <a:latin typeface="Helvetica Neue"/>
                <a:ea typeface="Helvetica Neue"/>
                <a:cs typeface="Helvetica Neue"/>
              </a:defRPr>
            </a:lvl5pPr>
            <a:lvl6pPr algn="l">
              <a:buNone/>
              <a:defRPr sz="1650" b="1">
                <a:solidFill>
                  <a:srgbClr val="64877F"/>
                </a:solidFill>
                <a:latin typeface="Helvetica Neue"/>
                <a:ea typeface="Helvetica Neue"/>
                <a:cs typeface="Helvetica Neue"/>
              </a:defRPr>
            </a:lvl6pPr>
            <a:lvl7pPr algn="l">
              <a:buNone/>
              <a:defRPr sz="1650" b="1">
                <a:solidFill>
                  <a:srgbClr val="64877F"/>
                </a:solidFill>
                <a:latin typeface="Helvetica Neue"/>
                <a:ea typeface="Helvetica Neue"/>
                <a:cs typeface="Helvetica Neue"/>
              </a:defRPr>
            </a:lvl7pPr>
            <a:lvl8pPr algn="l">
              <a:buNone/>
              <a:defRPr sz="1650" b="1">
                <a:solidFill>
                  <a:srgbClr val="64877F"/>
                </a:solidFill>
                <a:latin typeface="Helvetica Neue"/>
                <a:ea typeface="Helvetica Neue"/>
                <a:cs typeface="Helvetica Neue"/>
              </a:defRPr>
            </a:lvl8pPr>
            <a:lvl9pPr algn="l">
              <a:buNone/>
              <a:defRPr sz="1650" b="1">
                <a:solidFill>
                  <a:srgbClr val="64877F"/>
                </a:solidFill>
                <a:latin typeface="Helvetica Neue"/>
                <a:ea typeface="Helvetica Neue"/>
                <a:cs typeface="Helvetica Neue"/>
              </a:defRPr>
            </a:lvl9pPr>
          </a:lstStyle>
          <a:p xmlns:a="http://schemas.openxmlformats.org/drawingml/2006/main">
            <a:pPr algn="l">
              <a:buNone/>
              <a:defRPr sz="1650" b="1">
                <a:solidFill>
                  <a:srgbClr val="64877F"/>
                </a:solidFill>
                <a:latin typeface="Helvetica Neue"/>
                <a:ea typeface="Helvetica Neue"/>
                <a:cs typeface="Helvetica Neue"/>
              </a:defRPr>
            </a:pPr>
            <a:r>
              <a:rPr sz="1650" b="1">
                <a:solidFill>
                  <a:srgbClr val="64877F"/>
                </a:solidFill>
                <a:latin typeface="Helvetica Neue"/>
                <a:ea typeface="Helvetica Neue"/>
                <a:cs typeface="Helvetica Neue"/>
              </a:rPr>
              <a:t>•</a:t>
            </a:r>
          </a:p>
        </p:txBody>
      </p:sp>
      <p:sp>
        <p:nvSpPr>
          <p:cNvPr id="13" name="Rectangle 12">
            <a:extLst xmlns:a="http://schemas.openxmlformats.org/drawingml/2006/main">
              <a:ext uri="{FF2B5EF4-FFF2-40B4-BE49-F238E27FC236}">
                <a16:creationId xmlns:a16="http://schemas.microsoft.com/office/drawing/2014/main" id="{91586240-5586-4236-99E6-6F3DA73BCAED}"/>
              </a:ext>
            </a:extLst>
          </p:cNvPr>
          <p:cNvSpPr>
            <a:spLocks xmlns:a="http://schemas.openxmlformats.org/drawingml/2006/main" noGrp="1"/>
          </p:cNvSpPr>
          <p:nvPr/>
        </p:nvSpPr>
        <p:spPr>
          <a:xfrm xmlns:a="http://schemas.openxmlformats.org/drawingml/2006/main">
            <a:off x="7267575" y="3714750"/>
            <a:ext cx="4210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425" b="1">
                <a:solidFill>
                  <a:srgbClr val="243A50"/>
                </a:solidFill>
                <a:latin typeface="Helvetica Neue"/>
                <a:ea typeface="Helvetica Neue"/>
                <a:cs typeface="Helvetica Neue"/>
              </a:defRPr>
            </a:defPPr>
            <a:lvl1pPr algn="l">
              <a:buNone/>
              <a:defRPr sz="1425" b="1">
                <a:solidFill>
                  <a:srgbClr val="243A50"/>
                </a:solidFill>
                <a:latin typeface="Helvetica Neue"/>
                <a:ea typeface="Helvetica Neue"/>
                <a:cs typeface="Helvetica Neue"/>
              </a:defRPr>
            </a:lvl1pPr>
            <a:lvl2pPr algn="l">
              <a:buNone/>
              <a:defRPr sz="1425" b="1">
                <a:solidFill>
                  <a:srgbClr val="243A50"/>
                </a:solidFill>
                <a:latin typeface="Helvetica Neue"/>
                <a:ea typeface="Helvetica Neue"/>
                <a:cs typeface="Helvetica Neue"/>
              </a:defRPr>
            </a:lvl2pPr>
            <a:lvl3pPr algn="l">
              <a:buNone/>
              <a:defRPr sz="1425" b="1">
                <a:solidFill>
                  <a:srgbClr val="243A50"/>
                </a:solidFill>
                <a:latin typeface="Helvetica Neue"/>
                <a:ea typeface="Helvetica Neue"/>
                <a:cs typeface="Helvetica Neue"/>
              </a:defRPr>
            </a:lvl3pPr>
            <a:lvl4pPr algn="l">
              <a:buNone/>
              <a:defRPr sz="1425" b="1">
                <a:solidFill>
                  <a:srgbClr val="243A50"/>
                </a:solidFill>
                <a:latin typeface="Helvetica Neue"/>
                <a:ea typeface="Helvetica Neue"/>
                <a:cs typeface="Helvetica Neue"/>
              </a:defRPr>
            </a:lvl4pPr>
            <a:lvl5pPr algn="l">
              <a:buNone/>
              <a:defRPr sz="1425" b="1">
                <a:solidFill>
                  <a:srgbClr val="243A50"/>
                </a:solidFill>
                <a:latin typeface="Helvetica Neue"/>
                <a:ea typeface="Helvetica Neue"/>
                <a:cs typeface="Helvetica Neue"/>
              </a:defRPr>
            </a:lvl5pPr>
            <a:lvl6pPr algn="l">
              <a:buNone/>
              <a:defRPr sz="1425" b="1">
                <a:solidFill>
                  <a:srgbClr val="243A50"/>
                </a:solidFill>
                <a:latin typeface="Helvetica Neue"/>
                <a:ea typeface="Helvetica Neue"/>
                <a:cs typeface="Helvetica Neue"/>
              </a:defRPr>
            </a:lvl6pPr>
            <a:lvl7pPr algn="l">
              <a:buNone/>
              <a:defRPr sz="1425" b="1">
                <a:solidFill>
                  <a:srgbClr val="243A50"/>
                </a:solidFill>
                <a:latin typeface="Helvetica Neue"/>
                <a:ea typeface="Helvetica Neue"/>
                <a:cs typeface="Helvetica Neue"/>
              </a:defRPr>
            </a:lvl7pPr>
            <a:lvl8pPr algn="l">
              <a:buNone/>
              <a:defRPr sz="1425" b="1">
                <a:solidFill>
                  <a:srgbClr val="243A50"/>
                </a:solidFill>
                <a:latin typeface="Helvetica Neue"/>
                <a:ea typeface="Helvetica Neue"/>
                <a:cs typeface="Helvetica Neue"/>
              </a:defRPr>
            </a:lvl8pPr>
            <a:lvl9pPr algn="l">
              <a:buNone/>
              <a:defRPr sz="1425" b="1">
                <a:solidFill>
                  <a:srgbClr val="243A50"/>
                </a:solidFill>
                <a:latin typeface="Helvetica Neue"/>
                <a:ea typeface="Helvetica Neue"/>
                <a:cs typeface="Helvetica Neue"/>
              </a:defRPr>
            </a:lvl9pPr>
          </a:lstStyle>
          <a:p xmlns:a="http://schemas.openxmlformats.org/drawingml/2006/main">
            <a:pPr algn="l">
              <a:buNone/>
              <a:defRPr sz="1425" b="1">
                <a:solidFill>
                  <a:srgbClr val="243A50"/>
                </a:solidFill>
                <a:latin typeface="Helvetica Neue"/>
                <a:ea typeface="Helvetica Neue"/>
                <a:cs typeface="Helvetica Neue"/>
              </a:defRPr>
            </a:pPr>
            <a:r>
              <a:rPr sz="1425" b="1">
                <a:solidFill>
                  <a:srgbClr val="243A50"/>
                </a:solidFill>
                <a:latin typeface="Helvetica Neue"/>
                <a:ea typeface="Helvetica Neue"/>
                <a:cs typeface="Helvetica Neue"/>
              </a:rPr>
              <a:t>520 presence indicators</a:t>
            </a:r>
          </a:p>
        </p:txBody>
      </p:sp>
      <p:sp>
        <p:nvSpPr>
          <p:cNvPr id="14" name="Rectangle 13">
            <a:extLst xmlns:a="http://schemas.openxmlformats.org/drawingml/2006/main">
              <a:ext uri="{FF2B5EF4-FFF2-40B4-BE49-F238E27FC236}">
                <a16:creationId xmlns:a16="http://schemas.microsoft.com/office/drawing/2014/main" id="{E507259A-C257-4D90-A39A-BCD14779969E}"/>
              </a:ext>
            </a:extLst>
          </p:cNvPr>
          <p:cNvSpPr>
            <a:spLocks xmlns:a="http://schemas.openxmlformats.org/drawingml/2006/main" noGrp="1"/>
          </p:cNvSpPr>
          <p:nvPr/>
        </p:nvSpPr>
        <p:spPr>
          <a:xfrm xmlns:a="http://schemas.openxmlformats.org/drawingml/2006/main">
            <a:off x="7267575" y="4000500"/>
            <a:ext cx="4191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00" b="0">
                <a:solidFill>
                  <a:srgbClr val="33485D"/>
                </a:solidFill>
                <a:latin typeface="Helvetica Neue"/>
                <a:ea typeface="Helvetica Neue"/>
                <a:cs typeface="Helvetica Neue"/>
              </a:defRPr>
            </a:defPPr>
            <a:lvl1pPr algn="l">
              <a:buNone/>
              <a:defRPr sz="1200" b="0">
                <a:solidFill>
                  <a:srgbClr val="33485D"/>
                </a:solidFill>
                <a:latin typeface="Helvetica Neue"/>
                <a:ea typeface="Helvetica Neue"/>
                <a:cs typeface="Helvetica Neue"/>
              </a:defRPr>
            </a:lvl1pPr>
            <a:lvl2pPr algn="l">
              <a:buNone/>
              <a:defRPr sz="1200" b="0">
                <a:solidFill>
                  <a:srgbClr val="33485D"/>
                </a:solidFill>
                <a:latin typeface="Helvetica Neue"/>
                <a:ea typeface="Helvetica Neue"/>
                <a:cs typeface="Helvetica Neue"/>
              </a:defRPr>
            </a:lvl2pPr>
            <a:lvl3pPr algn="l">
              <a:buNone/>
              <a:defRPr sz="1200" b="0">
                <a:solidFill>
                  <a:srgbClr val="33485D"/>
                </a:solidFill>
                <a:latin typeface="Helvetica Neue"/>
                <a:ea typeface="Helvetica Neue"/>
                <a:cs typeface="Helvetica Neue"/>
              </a:defRPr>
            </a:lvl3pPr>
            <a:lvl4pPr algn="l">
              <a:buNone/>
              <a:defRPr sz="1200" b="0">
                <a:solidFill>
                  <a:srgbClr val="33485D"/>
                </a:solidFill>
                <a:latin typeface="Helvetica Neue"/>
                <a:ea typeface="Helvetica Neue"/>
                <a:cs typeface="Helvetica Neue"/>
              </a:defRPr>
            </a:lvl4pPr>
            <a:lvl5pPr algn="l">
              <a:buNone/>
              <a:defRPr sz="1200" b="0">
                <a:solidFill>
                  <a:srgbClr val="33485D"/>
                </a:solidFill>
                <a:latin typeface="Helvetica Neue"/>
                <a:ea typeface="Helvetica Neue"/>
                <a:cs typeface="Helvetica Neue"/>
              </a:defRPr>
            </a:lvl5pPr>
            <a:lvl6pPr algn="l">
              <a:buNone/>
              <a:defRPr sz="1200" b="0">
                <a:solidFill>
                  <a:srgbClr val="33485D"/>
                </a:solidFill>
                <a:latin typeface="Helvetica Neue"/>
                <a:ea typeface="Helvetica Neue"/>
                <a:cs typeface="Helvetica Neue"/>
              </a:defRPr>
            </a:lvl6pPr>
            <a:lvl7pPr algn="l">
              <a:buNone/>
              <a:defRPr sz="1200" b="0">
                <a:solidFill>
                  <a:srgbClr val="33485D"/>
                </a:solidFill>
                <a:latin typeface="Helvetica Neue"/>
                <a:ea typeface="Helvetica Neue"/>
                <a:cs typeface="Helvetica Neue"/>
              </a:defRPr>
            </a:lvl7pPr>
            <a:lvl8pPr algn="l">
              <a:buNone/>
              <a:defRPr sz="1200" b="0">
                <a:solidFill>
                  <a:srgbClr val="33485D"/>
                </a:solidFill>
                <a:latin typeface="Helvetica Neue"/>
                <a:ea typeface="Helvetica Neue"/>
                <a:cs typeface="Helvetica Neue"/>
              </a:defRPr>
            </a:lvl8pPr>
            <a:lvl9pPr algn="l">
              <a:buNone/>
              <a:defRPr sz="1200" b="0">
                <a:solidFill>
                  <a:srgbClr val="33485D"/>
                </a:solidFill>
                <a:latin typeface="Helvetica Neue"/>
                <a:ea typeface="Helvetica Neue"/>
                <a:cs typeface="Helvetica Neue"/>
              </a:defRPr>
            </a:lvl9pPr>
          </a:lstStyle>
          <a:p xmlns:a="http://schemas.openxmlformats.org/drawingml/2006/main">
            <a:pPr algn="l">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Whether each WAP was observed.</a:t>
            </a:r>
          </a:p>
        </p:txBody>
      </p:sp>
      <p:sp>
        <p:nvSpPr>
          <p:cNvPr id="15" name="Rectangle 14">
            <a:extLst xmlns:a="http://schemas.openxmlformats.org/drawingml/2006/main">
              <a:ext uri="{FF2B5EF4-FFF2-40B4-BE49-F238E27FC236}">
                <a16:creationId xmlns:a16="http://schemas.microsoft.com/office/drawing/2014/main" id="{0B3A4D38-08E8-46B1-AF75-488528AD36AA}"/>
              </a:ext>
            </a:extLst>
          </p:cNvPr>
          <p:cNvSpPr>
            <a:spLocks xmlns:a="http://schemas.openxmlformats.org/drawingml/2006/main" noGrp="1"/>
          </p:cNvSpPr>
          <p:nvPr/>
        </p:nvSpPr>
        <p:spPr>
          <a:xfrm xmlns:a="http://schemas.openxmlformats.org/drawingml/2006/main">
            <a:off x="7000875" y="4591050"/>
            <a:ext cx="209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650" b="1">
                <a:solidFill>
                  <a:srgbClr val="64877F"/>
                </a:solidFill>
                <a:latin typeface="Helvetica Neue"/>
                <a:ea typeface="Helvetica Neue"/>
                <a:cs typeface="Helvetica Neue"/>
              </a:defRPr>
            </a:defPPr>
            <a:lvl1pPr algn="l">
              <a:buNone/>
              <a:defRPr sz="1650" b="1">
                <a:solidFill>
                  <a:srgbClr val="64877F"/>
                </a:solidFill>
                <a:latin typeface="Helvetica Neue"/>
                <a:ea typeface="Helvetica Neue"/>
                <a:cs typeface="Helvetica Neue"/>
              </a:defRPr>
            </a:lvl1pPr>
            <a:lvl2pPr algn="l">
              <a:buNone/>
              <a:defRPr sz="1650" b="1">
                <a:solidFill>
                  <a:srgbClr val="64877F"/>
                </a:solidFill>
                <a:latin typeface="Helvetica Neue"/>
                <a:ea typeface="Helvetica Neue"/>
                <a:cs typeface="Helvetica Neue"/>
              </a:defRPr>
            </a:lvl2pPr>
            <a:lvl3pPr algn="l">
              <a:buNone/>
              <a:defRPr sz="1650" b="1">
                <a:solidFill>
                  <a:srgbClr val="64877F"/>
                </a:solidFill>
                <a:latin typeface="Helvetica Neue"/>
                <a:ea typeface="Helvetica Neue"/>
                <a:cs typeface="Helvetica Neue"/>
              </a:defRPr>
            </a:lvl3pPr>
            <a:lvl4pPr algn="l">
              <a:buNone/>
              <a:defRPr sz="1650" b="1">
                <a:solidFill>
                  <a:srgbClr val="64877F"/>
                </a:solidFill>
                <a:latin typeface="Helvetica Neue"/>
                <a:ea typeface="Helvetica Neue"/>
                <a:cs typeface="Helvetica Neue"/>
              </a:defRPr>
            </a:lvl4pPr>
            <a:lvl5pPr algn="l">
              <a:buNone/>
              <a:defRPr sz="1650" b="1">
                <a:solidFill>
                  <a:srgbClr val="64877F"/>
                </a:solidFill>
                <a:latin typeface="Helvetica Neue"/>
                <a:ea typeface="Helvetica Neue"/>
                <a:cs typeface="Helvetica Neue"/>
              </a:defRPr>
            </a:lvl5pPr>
            <a:lvl6pPr algn="l">
              <a:buNone/>
              <a:defRPr sz="1650" b="1">
                <a:solidFill>
                  <a:srgbClr val="64877F"/>
                </a:solidFill>
                <a:latin typeface="Helvetica Neue"/>
                <a:ea typeface="Helvetica Neue"/>
                <a:cs typeface="Helvetica Neue"/>
              </a:defRPr>
            </a:lvl6pPr>
            <a:lvl7pPr algn="l">
              <a:buNone/>
              <a:defRPr sz="1650" b="1">
                <a:solidFill>
                  <a:srgbClr val="64877F"/>
                </a:solidFill>
                <a:latin typeface="Helvetica Neue"/>
                <a:ea typeface="Helvetica Neue"/>
                <a:cs typeface="Helvetica Neue"/>
              </a:defRPr>
            </a:lvl7pPr>
            <a:lvl8pPr algn="l">
              <a:buNone/>
              <a:defRPr sz="1650" b="1">
                <a:solidFill>
                  <a:srgbClr val="64877F"/>
                </a:solidFill>
                <a:latin typeface="Helvetica Neue"/>
                <a:ea typeface="Helvetica Neue"/>
                <a:cs typeface="Helvetica Neue"/>
              </a:defRPr>
            </a:lvl8pPr>
            <a:lvl9pPr algn="l">
              <a:buNone/>
              <a:defRPr sz="1650" b="1">
                <a:solidFill>
                  <a:srgbClr val="64877F"/>
                </a:solidFill>
                <a:latin typeface="Helvetica Neue"/>
                <a:ea typeface="Helvetica Neue"/>
                <a:cs typeface="Helvetica Neue"/>
              </a:defRPr>
            </a:lvl9pPr>
          </a:lstStyle>
          <a:p xmlns:a="http://schemas.openxmlformats.org/drawingml/2006/main">
            <a:pPr algn="l">
              <a:buNone/>
              <a:defRPr sz="1650" b="1">
                <a:solidFill>
                  <a:srgbClr val="64877F"/>
                </a:solidFill>
                <a:latin typeface="Helvetica Neue"/>
                <a:ea typeface="Helvetica Neue"/>
                <a:cs typeface="Helvetica Neue"/>
              </a:defRPr>
            </a:pPr>
            <a:r>
              <a:rPr sz="1650" b="1">
                <a:solidFill>
                  <a:srgbClr val="64877F"/>
                </a:solidFill>
                <a:latin typeface="Helvetica Neue"/>
                <a:ea typeface="Helvetica Neue"/>
                <a:cs typeface="Helvetica Neue"/>
              </a:rPr>
              <a:t>•</a:t>
            </a:r>
          </a:p>
        </p:txBody>
      </p:sp>
      <p:sp>
        <p:nvSpPr>
          <p:cNvPr id="16" name="Rectangle 15">
            <a:extLst xmlns:a="http://schemas.openxmlformats.org/drawingml/2006/main">
              <a:ext uri="{FF2B5EF4-FFF2-40B4-BE49-F238E27FC236}">
                <a16:creationId xmlns:a16="http://schemas.microsoft.com/office/drawing/2014/main" id="{EEFF7154-0108-47F3-AD22-C69CB99CD06A}"/>
              </a:ext>
            </a:extLst>
          </p:cNvPr>
          <p:cNvSpPr>
            <a:spLocks xmlns:a="http://schemas.openxmlformats.org/drawingml/2006/main" noGrp="1"/>
          </p:cNvSpPr>
          <p:nvPr/>
        </p:nvSpPr>
        <p:spPr>
          <a:xfrm xmlns:a="http://schemas.openxmlformats.org/drawingml/2006/main">
            <a:off x="7267575" y="4591050"/>
            <a:ext cx="4210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425" b="1">
                <a:solidFill>
                  <a:srgbClr val="243A50"/>
                </a:solidFill>
                <a:latin typeface="Helvetica Neue"/>
                <a:ea typeface="Helvetica Neue"/>
                <a:cs typeface="Helvetica Neue"/>
              </a:defRPr>
            </a:defPPr>
            <a:lvl1pPr algn="l">
              <a:buNone/>
              <a:defRPr sz="1425" b="1">
                <a:solidFill>
                  <a:srgbClr val="243A50"/>
                </a:solidFill>
                <a:latin typeface="Helvetica Neue"/>
                <a:ea typeface="Helvetica Neue"/>
                <a:cs typeface="Helvetica Neue"/>
              </a:defRPr>
            </a:lvl1pPr>
            <a:lvl2pPr algn="l">
              <a:buNone/>
              <a:defRPr sz="1425" b="1">
                <a:solidFill>
                  <a:srgbClr val="243A50"/>
                </a:solidFill>
                <a:latin typeface="Helvetica Neue"/>
                <a:ea typeface="Helvetica Neue"/>
                <a:cs typeface="Helvetica Neue"/>
              </a:defRPr>
            </a:lvl2pPr>
            <a:lvl3pPr algn="l">
              <a:buNone/>
              <a:defRPr sz="1425" b="1">
                <a:solidFill>
                  <a:srgbClr val="243A50"/>
                </a:solidFill>
                <a:latin typeface="Helvetica Neue"/>
                <a:ea typeface="Helvetica Neue"/>
                <a:cs typeface="Helvetica Neue"/>
              </a:defRPr>
            </a:lvl3pPr>
            <a:lvl4pPr algn="l">
              <a:buNone/>
              <a:defRPr sz="1425" b="1">
                <a:solidFill>
                  <a:srgbClr val="243A50"/>
                </a:solidFill>
                <a:latin typeface="Helvetica Neue"/>
                <a:ea typeface="Helvetica Neue"/>
                <a:cs typeface="Helvetica Neue"/>
              </a:defRPr>
            </a:lvl4pPr>
            <a:lvl5pPr algn="l">
              <a:buNone/>
              <a:defRPr sz="1425" b="1">
                <a:solidFill>
                  <a:srgbClr val="243A50"/>
                </a:solidFill>
                <a:latin typeface="Helvetica Neue"/>
                <a:ea typeface="Helvetica Neue"/>
                <a:cs typeface="Helvetica Neue"/>
              </a:defRPr>
            </a:lvl5pPr>
            <a:lvl6pPr algn="l">
              <a:buNone/>
              <a:defRPr sz="1425" b="1">
                <a:solidFill>
                  <a:srgbClr val="243A50"/>
                </a:solidFill>
                <a:latin typeface="Helvetica Neue"/>
                <a:ea typeface="Helvetica Neue"/>
                <a:cs typeface="Helvetica Neue"/>
              </a:defRPr>
            </a:lvl6pPr>
            <a:lvl7pPr algn="l">
              <a:buNone/>
              <a:defRPr sz="1425" b="1">
                <a:solidFill>
                  <a:srgbClr val="243A50"/>
                </a:solidFill>
                <a:latin typeface="Helvetica Neue"/>
                <a:ea typeface="Helvetica Neue"/>
                <a:cs typeface="Helvetica Neue"/>
              </a:defRPr>
            </a:lvl7pPr>
            <a:lvl8pPr algn="l">
              <a:buNone/>
              <a:defRPr sz="1425" b="1">
                <a:solidFill>
                  <a:srgbClr val="243A50"/>
                </a:solidFill>
                <a:latin typeface="Helvetica Neue"/>
                <a:ea typeface="Helvetica Neue"/>
                <a:cs typeface="Helvetica Neue"/>
              </a:defRPr>
            </a:lvl8pPr>
            <a:lvl9pPr algn="l">
              <a:buNone/>
              <a:defRPr sz="1425" b="1">
                <a:solidFill>
                  <a:srgbClr val="243A50"/>
                </a:solidFill>
                <a:latin typeface="Helvetica Neue"/>
                <a:ea typeface="Helvetica Neue"/>
                <a:cs typeface="Helvetica Neue"/>
              </a:defRPr>
            </a:lvl9pPr>
          </a:lstStyle>
          <a:p xmlns:a="http://schemas.openxmlformats.org/drawingml/2006/main">
            <a:pPr algn="l">
              <a:buNone/>
              <a:defRPr sz="1425" b="1">
                <a:solidFill>
                  <a:srgbClr val="243A50"/>
                </a:solidFill>
                <a:latin typeface="Helvetica Neue"/>
                <a:ea typeface="Helvetica Neue"/>
                <a:cs typeface="Helvetica Neue"/>
              </a:defRPr>
            </a:pPr>
            <a:r>
              <a:rPr sz="1425" b="1">
                <a:solidFill>
                  <a:srgbClr val="243A50"/>
                </a:solidFill>
                <a:latin typeface="Helvetica Neue"/>
                <a:ea typeface="Helvetica Neue"/>
                <a:cs typeface="Helvetica Neue"/>
              </a:rPr>
              <a:t>6 signal summaries</a:t>
            </a:r>
          </a:p>
        </p:txBody>
      </p:sp>
      <p:sp>
        <p:nvSpPr>
          <p:cNvPr id="17" name="Rectangle 16">
            <a:extLst xmlns:a="http://schemas.openxmlformats.org/drawingml/2006/main">
              <a:ext uri="{FF2B5EF4-FFF2-40B4-BE49-F238E27FC236}">
                <a16:creationId xmlns:a16="http://schemas.microsoft.com/office/drawing/2014/main" id="{B502C38C-EAB4-403D-B526-4C59708545AC}"/>
              </a:ext>
            </a:extLst>
          </p:cNvPr>
          <p:cNvSpPr>
            <a:spLocks xmlns:a="http://schemas.openxmlformats.org/drawingml/2006/main" noGrp="1"/>
          </p:cNvSpPr>
          <p:nvPr/>
        </p:nvSpPr>
        <p:spPr>
          <a:xfrm xmlns:a="http://schemas.openxmlformats.org/drawingml/2006/main">
            <a:off x="7267575" y="4876800"/>
            <a:ext cx="4191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00" b="0">
                <a:solidFill>
                  <a:srgbClr val="33485D"/>
                </a:solidFill>
                <a:latin typeface="Helvetica Neue"/>
                <a:ea typeface="Helvetica Neue"/>
                <a:cs typeface="Helvetica Neue"/>
              </a:defRPr>
            </a:defPPr>
            <a:lvl1pPr algn="l">
              <a:buNone/>
              <a:defRPr sz="1200" b="0">
                <a:solidFill>
                  <a:srgbClr val="33485D"/>
                </a:solidFill>
                <a:latin typeface="Helvetica Neue"/>
                <a:ea typeface="Helvetica Neue"/>
                <a:cs typeface="Helvetica Neue"/>
              </a:defRPr>
            </a:lvl1pPr>
            <a:lvl2pPr algn="l">
              <a:buNone/>
              <a:defRPr sz="1200" b="0">
                <a:solidFill>
                  <a:srgbClr val="33485D"/>
                </a:solidFill>
                <a:latin typeface="Helvetica Neue"/>
                <a:ea typeface="Helvetica Neue"/>
                <a:cs typeface="Helvetica Neue"/>
              </a:defRPr>
            </a:lvl2pPr>
            <a:lvl3pPr algn="l">
              <a:buNone/>
              <a:defRPr sz="1200" b="0">
                <a:solidFill>
                  <a:srgbClr val="33485D"/>
                </a:solidFill>
                <a:latin typeface="Helvetica Neue"/>
                <a:ea typeface="Helvetica Neue"/>
                <a:cs typeface="Helvetica Neue"/>
              </a:defRPr>
            </a:lvl3pPr>
            <a:lvl4pPr algn="l">
              <a:buNone/>
              <a:defRPr sz="1200" b="0">
                <a:solidFill>
                  <a:srgbClr val="33485D"/>
                </a:solidFill>
                <a:latin typeface="Helvetica Neue"/>
                <a:ea typeface="Helvetica Neue"/>
                <a:cs typeface="Helvetica Neue"/>
              </a:defRPr>
            </a:lvl4pPr>
            <a:lvl5pPr algn="l">
              <a:buNone/>
              <a:defRPr sz="1200" b="0">
                <a:solidFill>
                  <a:srgbClr val="33485D"/>
                </a:solidFill>
                <a:latin typeface="Helvetica Neue"/>
                <a:ea typeface="Helvetica Neue"/>
                <a:cs typeface="Helvetica Neue"/>
              </a:defRPr>
            </a:lvl5pPr>
            <a:lvl6pPr algn="l">
              <a:buNone/>
              <a:defRPr sz="1200" b="0">
                <a:solidFill>
                  <a:srgbClr val="33485D"/>
                </a:solidFill>
                <a:latin typeface="Helvetica Neue"/>
                <a:ea typeface="Helvetica Neue"/>
                <a:cs typeface="Helvetica Neue"/>
              </a:defRPr>
            </a:lvl6pPr>
            <a:lvl7pPr algn="l">
              <a:buNone/>
              <a:defRPr sz="1200" b="0">
                <a:solidFill>
                  <a:srgbClr val="33485D"/>
                </a:solidFill>
                <a:latin typeface="Helvetica Neue"/>
                <a:ea typeface="Helvetica Neue"/>
                <a:cs typeface="Helvetica Neue"/>
              </a:defRPr>
            </a:lvl7pPr>
            <a:lvl8pPr algn="l">
              <a:buNone/>
              <a:defRPr sz="1200" b="0">
                <a:solidFill>
                  <a:srgbClr val="33485D"/>
                </a:solidFill>
                <a:latin typeface="Helvetica Neue"/>
                <a:ea typeface="Helvetica Neue"/>
                <a:cs typeface="Helvetica Neue"/>
              </a:defRPr>
            </a:lvl8pPr>
            <a:lvl9pPr algn="l">
              <a:buNone/>
              <a:defRPr sz="1200" b="0">
                <a:solidFill>
                  <a:srgbClr val="33485D"/>
                </a:solidFill>
                <a:latin typeface="Helvetica Neue"/>
                <a:ea typeface="Helvetica Neue"/>
                <a:cs typeface="Helvetica Neue"/>
              </a:defRPr>
            </a:lvl9pPr>
          </a:lstStyle>
          <a:p xmlns:a="http://schemas.openxmlformats.org/drawingml/2006/main">
            <a:pPr algn="l">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Count heard, strongest RSSI, mean, standard deviation, strong-signal count, strongest WAP index.</a:t>
            </a:r>
          </a:p>
        </p:txBody>
      </p:sp>
      <p:sp>
        <p:nvSpPr>
          <p:cNvPr id="18" name="Rectangle 17">
            <a:extLst xmlns:a="http://schemas.openxmlformats.org/drawingml/2006/main">
              <a:ext uri="{FF2B5EF4-FFF2-40B4-BE49-F238E27FC236}">
                <a16:creationId xmlns:a16="http://schemas.microsoft.com/office/drawing/2014/main" id="{649E2DE2-15AD-4EF5-AC3A-236EB79AA2EB}"/>
              </a:ext>
            </a:extLst>
          </p:cNvPr>
          <p:cNvSpPr>
            <a:spLocks xmlns:a="http://schemas.openxmlformats.org/drawingml/2006/main" noGrp="1"/>
          </p:cNvSpPr>
          <p:nvPr/>
        </p:nvSpPr>
        <p:spPr>
          <a:xfrm xmlns:a="http://schemas.openxmlformats.org/drawingml/2006/main">
            <a:off x="6991350" y="5572125"/>
            <a:ext cx="45910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54"/>
          </a:bodyPr>
          <a:lstStyle xmlns:a="http://schemas.openxmlformats.org/drawingml/2006/main">
            <a:defPPr algn="l">
              <a:defRPr sz="1200" b="0">
                <a:solidFill>
                  <a:srgbClr val="33485D"/>
                </a:solidFill>
                <a:latin typeface="Helvetica Neue"/>
                <a:ea typeface="Helvetica Neue"/>
                <a:cs typeface="Helvetica Neue"/>
              </a:defRPr>
            </a:defPPr>
            <a:lvl1pPr algn="l">
              <a:buNone/>
              <a:defRPr sz="1200" b="0">
                <a:solidFill>
                  <a:srgbClr val="33485D"/>
                </a:solidFill>
                <a:latin typeface="Helvetica Neue"/>
                <a:ea typeface="Helvetica Neue"/>
                <a:cs typeface="Helvetica Neue"/>
              </a:defRPr>
            </a:lvl1pPr>
            <a:lvl2pPr algn="l">
              <a:buNone/>
              <a:defRPr sz="1200" b="0">
                <a:solidFill>
                  <a:srgbClr val="33485D"/>
                </a:solidFill>
                <a:latin typeface="Helvetica Neue"/>
                <a:ea typeface="Helvetica Neue"/>
                <a:cs typeface="Helvetica Neue"/>
              </a:defRPr>
            </a:lvl2pPr>
            <a:lvl3pPr algn="l">
              <a:buNone/>
              <a:defRPr sz="1200" b="0">
                <a:solidFill>
                  <a:srgbClr val="33485D"/>
                </a:solidFill>
                <a:latin typeface="Helvetica Neue"/>
                <a:ea typeface="Helvetica Neue"/>
                <a:cs typeface="Helvetica Neue"/>
              </a:defRPr>
            </a:lvl3pPr>
            <a:lvl4pPr algn="l">
              <a:buNone/>
              <a:defRPr sz="1200" b="0">
                <a:solidFill>
                  <a:srgbClr val="33485D"/>
                </a:solidFill>
                <a:latin typeface="Helvetica Neue"/>
                <a:ea typeface="Helvetica Neue"/>
                <a:cs typeface="Helvetica Neue"/>
              </a:defRPr>
            </a:lvl4pPr>
            <a:lvl5pPr algn="l">
              <a:buNone/>
              <a:defRPr sz="1200" b="0">
                <a:solidFill>
                  <a:srgbClr val="33485D"/>
                </a:solidFill>
                <a:latin typeface="Helvetica Neue"/>
                <a:ea typeface="Helvetica Neue"/>
                <a:cs typeface="Helvetica Neue"/>
              </a:defRPr>
            </a:lvl5pPr>
            <a:lvl6pPr algn="l">
              <a:buNone/>
              <a:defRPr sz="1200" b="0">
                <a:solidFill>
                  <a:srgbClr val="33485D"/>
                </a:solidFill>
                <a:latin typeface="Helvetica Neue"/>
                <a:ea typeface="Helvetica Neue"/>
                <a:cs typeface="Helvetica Neue"/>
              </a:defRPr>
            </a:lvl6pPr>
            <a:lvl7pPr algn="l">
              <a:buNone/>
              <a:defRPr sz="1200" b="0">
                <a:solidFill>
                  <a:srgbClr val="33485D"/>
                </a:solidFill>
                <a:latin typeface="Helvetica Neue"/>
                <a:ea typeface="Helvetica Neue"/>
                <a:cs typeface="Helvetica Neue"/>
              </a:defRPr>
            </a:lvl7pPr>
            <a:lvl8pPr algn="l">
              <a:buNone/>
              <a:defRPr sz="1200" b="0">
                <a:solidFill>
                  <a:srgbClr val="33485D"/>
                </a:solidFill>
                <a:latin typeface="Helvetica Neue"/>
                <a:ea typeface="Helvetica Neue"/>
                <a:cs typeface="Helvetica Neue"/>
              </a:defRPr>
            </a:lvl8pPr>
            <a:lvl9pPr algn="l">
              <a:buNone/>
              <a:defRPr sz="1200" b="0">
                <a:solidFill>
                  <a:srgbClr val="33485D"/>
                </a:solidFill>
                <a:latin typeface="Helvetica Neue"/>
                <a:ea typeface="Helvetica Neue"/>
                <a:cs typeface="Helvetica Neue"/>
              </a:defRPr>
            </a:lvl9pPr>
          </a:lstStyle>
          <a:p xmlns:a="http://schemas.openxmlformats.org/drawingml/2006/main">
            <a:pPr algn="l">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Output files retain targets and metadata beside predictors for auditing.</a:t>
            </a:r>
          </a:p>
        </p:txBody>
      </p:sp>
    </p:spTree>
    <p:extLst>
      <p:ext uri="{BB962C8B-B14F-4D97-AF65-F5344CB8AC3E}">
        <p14:creationId xmlns:p14="http://schemas.microsoft.com/office/powerpoint/2010/main" val="173238605"/>
      </p:ext>
    </p:extLst>
  </p:cSld>
</p:sld>
</file>

<file path=ppt/slides/slide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23" name="Rectangle 22">
            <a:extLst xmlns:a="http://schemas.openxmlformats.org/drawingml/2006/main">
              <a:ext uri="{FF2B5EF4-FFF2-40B4-BE49-F238E27FC236}">
                <a16:creationId xmlns:a16="http://schemas.microsoft.com/office/drawing/2014/main" id="{8939B888-0348-4320-80B5-0F0E86CC06C8}"/>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C7DBD1"/>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71E33576-D700-4B9F-A549-9FF9F6DB10FB}"/>
              </a:ext>
            </a:extLst>
          </p:cNvPr>
          <p:cNvSpPr>
            <a:spLocks xmlns:a="http://schemas.openxmlformats.org/drawingml/2006/main" noGrp="1"/>
          </p:cNvSpPr>
          <p:nvPr/>
        </p:nvSpPr>
        <p:spPr>
          <a:xfrm xmlns:a="http://schemas.openxmlformats.org/drawingml/2006/main">
            <a:off x="609600" y="37147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625" b="1">
                <a:solidFill>
                  <a:srgbClr val="243A50"/>
                </a:solidFill>
                <a:latin typeface="Helvetica Neue"/>
                <a:ea typeface="Helvetica Neue"/>
                <a:cs typeface="Helvetica Neue"/>
              </a:defRPr>
            </a:defPPr>
            <a:lvl1pPr algn="l">
              <a:buNone/>
              <a:defRPr sz="2625" b="1">
                <a:solidFill>
                  <a:srgbClr val="243A50"/>
                </a:solidFill>
                <a:latin typeface="Helvetica Neue"/>
                <a:ea typeface="Helvetica Neue"/>
                <a:cs typeface="Helvetica Neue"/>
              </a:defRPr>
            </a:lvl1pPr>
            <a:lvl2pPr algn="l">
              <a:buNone/>
              <a:defRPr sz="2625" b="1">
                <a:solidFill>
                  <a:srgbClr val="243A50"/>
                </a:solidFill>
                <a:latin typeface="Helvetica Neue"/>
                <a:ea typeface="Helvetica Neue"/>
                <a:cs typeface="Helvetica Neue"/>
              </a:defRPr>
            </a:lvl2pPr>
            <a:lvl3pPr algn="l">
              <a:buNone/>
              <a:defRPr sz="2625" b="1">
                <a:solidFill>
                  <a:srgbClr val="243A50"/>
                </a:solidFill>
                <a:latin typeface="Helvetica Neue"/>
                <a:ea typeface="Helvetica Neue"/>
                <a:cs typeface="Helvetica Neue"/>
              </a:defRPr>
            </a:lvl3pPr>
            <a:lvl4pPr algn="l">
              <a:buNone/>
              <a:defRPr sz="2625" b="1">
                <a:solidFill>
                  <a:srgbClr val="243A50"/>
                </a:solidFill>
                <a:latin typeface="Helvetica Neue"/>
                <a:ea typeface="Helvetica Neue"/>
                <a:cs typeface="Helvetica Neue"/>
              </a:defRPr>
            </a:lvl4pPr>
            <a:lvl5pPr algn="l">
              <a:buNone/>
              <a:defRPr sz="2625" b="1">
                <a:solidFill>
                  <a:srgbClr val="243A50"/>
                </a:solidFill>
                <a:latin typeface="Helvetica Neue"/>
                <a:ea typeface="Helvetica Neue"/>
                <a:cs typeface="Helvetica Neue"/>
              </a:defRPr>
            </a:lvl5pPr>
            <a:lvl6pPr algn="l">
              <a:buNone/>
              <a:defRPr sz="2625" b="1">
                <a:solidFill>
                  <a:srgbClr val="243A50"/>
                </a:solidFill>
                <a:latin typeface="Helvetica Neue"/>
                <a:ea typeface="Helvetica Neue"/>
                <a:cs typeface="Helvetica Neue"/>
              </a:defRPr>
            </a:lvl6pPr>
            <a:lvl7pPr algn="l">
              <a:buNone/>
              <a:defRPr sz="2625" b="1">
                <a:solidFill>
                  <a:srgbClr val="243A50"/>
                </a:solidFill>
                <a:latin typeface="Helvetica Neue"/>
                <a:ea typeface="Helvetica Neue"/>
                <a:cs typeface="Helvetica Neue"/>
              </a:defRPr>
            </a:lvl7pPr>
            <a:lvl8pPr algn="l">
              <a:buNone/>
              <a:defRPr sz="2625" b="1">
                <a:solidFill>
                  <a:srgbClr val="243A50"/>
                </a:solidFill>
                <a:latin typeface="Helvetica Neue"/>
                <a:ea typeface="Helvetica Neue"/>
                <a:cs typeface="Helvetica Neue"/>
              </a:defRPr>
            </a:lvl8pPr>
            <a:lvl9pPr algn="l">
              <a:buNone/>
              <a:defRPr sz="2625" b="1">
                <a:solidFill>
                  <a:srgbClr val="243A50"/>
                </a:solidFill>
                <a:latin typeface="Helvetica Neue"/>
                <a:ea typeface="Helvetica Neue"/>
                <a:cs typeface="Helvetica Neue"/>
              </a:defRPr>
            </a:lvl9pPr>
          </a:lstStyle>
          <a:p xmlns:a="http://schemas.openxmlformats.org/drawingml/2006/main">
            <a:pPr algn="l">
              <a:buNone/>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2 · Building model pipeline</a:t>
            </a:r>
          </a:p>
        </p:txBody>
      </p:sp>
      <p:sp>
        <p:nvSpPr>
          <p:cNvPr id="3" name="Rectangle 2">
            <a:extLst xmlns:a="http://schemas.openxmlformats.org/drawingml/2006/main">
              <a:ext uri="{FF2B5EF4-FFF2-40B4-BE49-F238E27FC236}">
                <a16:creationId xmlns:a16="http://schemas.microsoft.com/office/drawing/2014/main" id="{1A033938-DE61-48BB-AED9-5D824697BE79}"/>
              </a:ext>
            </a:extLst>
          </p:cNvPr>
          <p:cNvSpPr>
            <a:spLocks xmlns:a="http://schemas.openxmlformats.org/drawingml/2006/main" noGrp="1"/>
          </p:cNvSpPr>
          <p:nvPr/>
        </p:nvSpPr>
        <p:spPr>
          <a:xfrm xmlns:a="http://schemas.openxmlformats.org/drawingml/2006/main">
            <a:off x="628650" y="904875"/>
            <a:ext cx="10839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Train a building classifier on the shared feature matrix.</a:t>
            </a:r>
          </a:p>
        </p:txBody>
      </p:sp>
      <p:sp>
        <p:nvSpPr>
          <p:cNvPr id="4" name="Straight Connector 3">
            <a:extLst xmlns:a="http://schemas.openxmlformats.org/drawingml/2006/main">
              <a:ext uri="{FF2B5EF4-FFF2-40B4-BE49-F238E27FC236}">
                <a16:creationId xmlns:a16="http://schemas.microsoft.com/office/drawing/2014/main" id="{055698F7-92FC-4935-932D-07E94C4CCE9B}"/>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BD5DA"/>
            </a:solidFill>
            <a:prstDash val="solid"/>
          </a:ln>
        </p:spPr>
      </p:sp>
      <p:sp>
        <p:nvSpPr>
          <p:cNvPr id="5" name="Rectangle 4">
            <a:extLst xmlns:a="http://schemas.openxmlformats.org/drawingml/2006/main">
              <a:ext uri="{FF2B5EF4-FFF2-40B4-BE49-F238E27FC236}">
                <a16:creationId xmlns:a16="http://schemas.microsoft.com/office/drawing/2014/main" id="{9E366D7A-4BDA-4B89-B8AC-8EA1F78444C2}"/>
              </a:ext>
            </a:extLst>
          </p:cNvPr>
          <p:cNvSpPr>
            <a:spLocks xmlns:a="http://schemas.openxmlformats.org/drawingml/2006/main" noGrp="1"/>
          </p:cNvSpPr>
          <p:nvPr/>
        </p:nvSpPr>
        <p:spPr>
          <a:xfrm xmlns:a="http://schemas.openxmlformats.org/drawingml/2006/main">
            <a:off x="609600" y="64770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900" b="0">
                <a:solidFill>
                  <a:srgbClr val="63788A"/>
                </a:solidFill>
                <a:latin typeface="Helvetica Neue"/>
                <a:ea typeface="Helvetica Neue"/>
                <a:cs typeface="Helvetica Neue"/>
              </a:defRPr>
            </a:defPPr>
            <a:lvl1pPr algn="r">
              <a:buNone/>
              <a:defRPr sz="900" b="0">
                <a:solidFill>
                  <a:srgbClr val="63788A"/>
                </a:solidFill>
                <a:latin typeface="Helvetica Neue"/>
                <a:ea typeface="Helvetica Neue"/>
                <a:cs typeface="Helvetica Neue"/>
              </a:defRPr>
            </a:lvl1pPr>
            <a:lvl2pPr algn="r">
              <a:buNone/>
              <a:defRPr sz="900" b="0">
                <a:solidFill>
                  <a:srgbClr val="63788A"/>
                </a:solidFill>
                <a:latin typeface="Helvetica Neue"/>
                <a:ea typeface="Helvetica Neue"/>
                <a:cs typeface="Helvetica Neue"/>
              </a:defRPr>
            </a:lvl2pPr>
            <a:lvl3pPr algn="r">
              <a:buNone/>
              <a:defRPr sz="900" b="0">
                <a:solidFill>
                  <a:srgbClr val="63788A"/>
                </a:solidFill>
                <a:latin typeface="Helvetica Neue"/>
                <a:ea typeface="Helvetica Neue"/>
                <a:cs typeface="Helvetica Neue"/>
              </a:defRPr>
            </a:lvl3pPr>
            <a:lvl4pPr algn="r">
              <a:buNone/>
              <a:defRPr sz="900" b="0">
                <a:solidFill>
                  <a:srgbClr val="63788A"/>
                </a:solidFill>
                <a:latin typeface="Helvetica Neue"/>
                <a:ea typeface="Helvetica Neue"/>
                <a:cs typeface="Helvetica Neue"/>
              </a:defRPr>
            </a:lvl4pPr>
            <a:lvl5pPr algn="r">
              <a:buNone/>
              <a:defRPr sz="900" b="0">
                <a:solidFill>
                  <a:srgbClr val="63788A"/>
                </a:solidFill>
                <a:latin typeface="Helvetica Neue"/>
                <a:ea typeface="Helvetica Neue"/>
                <a:cs typeface="Helvetica Neue"/>
              </a:defRPr>
            </a:lvl5pPr>
            <a:lvl6pPr algn="r">
              <a:buNone/>
              <a:defRPr sz="900" b="0">
                <a:solidFill>
                  <a:srgbClr val="63788A"/>
                </a:solidFill>
                <a:latin typeface="Helvetica Neue"/>
                <a:ea typeface="Helvetica Neue"/>
                <a:cs typeface="Helvetica Neue"/>
              </a:defRPr>
            </a:lvl6pPr>
            <a:lvl7pPr algn="r">
              <a:buNone/>
              <a:defRPr sz="900" b="0">
                <a:solidFill>
                  <a:srgbClr val="63788A"/>
                </a:solidFill>
                <a:latin typeface="Helvetica Neue"/>
                <a:ea typeface="Helvetica Neue"/>
                <a:cs typeface="Helvetica Neue"/>
              </a:defRPr>
            </a:lvl7pPr>
            <a:lvl8pPr algn="r">
              <a:buNone/>
              <a:defRPr sz="900" b="0">
                <a:solidFill>
                  <a:srgbClr val="63788A"/>
                </a:solidFill>
                <a:latin typeface="Helvetica Neue"/>
                <a:ea typeface="Helvetica Neue"/>
                <a:cs typeface="Helvetica Neue"/>
              </a:defRPr>
            </a:lvl8pPr>
            <a:lvl9pPr algn="r">
              <a:buNone/>
              <a:defRPr sz="900" b="0">
                <a:solidFill>
                  <a:srgbClr val="63788A"/>
                </a:solidFill>
                <a:latin typeface="Helvetica Neue"/>
                <a:ea typeface="Helvetica Neue"/>
                <a:cs typeface="Helvetica Neue"/>
              </a:defRPr>
            </a:lvl9pPr>
          </a:lstStyle>
          <a:p xmlns:a="http://schemas.openxmlformats.org/drawingml/2006/main">
            <a:pPr algn="r">
              <a:buNone/>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07</a:t>
            </a:r>
          </a:p>
        </p:txBody>
      </p:sp>
      <p:sp>
        <p:nvSpPr>
          <p:cNvPr id="6" name="Rounded Rectangle 5">
            <a:extLst xmlns:a="http://schemas.openxmlformats.org/drawingml/2006/main">
              <a:ext uri="{FF2B5EF4-FFF2-40B4-BE49-F238E27FC236}">
                <a16:creationId xmlns:a16="http://schemas.microsoft.com/office/drawing/2014/main" id="{98C5CFBC-5BE5-4A25-8E85-2A9A99FC2448}"/>
              </a:ext>
            </a:extLst>
          </p:cNvPr>
          <p:cNvSpPr>
            <a:spLocks xmlns:a="http://schemas.openxmlformats.org/drawingml/2006/main" noGrp="1"/>
          </p:cNvSpPr>
          <p:nvPr/>
        </p:nvSpPr>
        <p:spPr>
          <a:xfrm xmlns:a="http://schemas.openxmlformats.org/drawingml/2006/main">
            <a:off x="647700" y="2095500"/>
            <a:ext cx="2143125" cy="1485900"/>
          </a:xfrm>
          <a:prstGeom xmlns:a="http://schemas.openxmlformats.org/drawingml/2006/main" prst="roundRect">
            <a:avLst>
              <a:gd name="adj" fmla="val 5128"/>
            </a:avLst>
          </a:prstGeom>
          <a:solidFill xmlns:a="http://schemas.openxmlformats.org/drawingml/2006/main">
            <a:srgbClr val="E8EFF4"/>
          </a:solidFill>
          <a:ln xmlns:a="http://schemas.openxmlformats.org/drawingml/2006/main" w="9525">
            <a:solidFill>
              <a:srgbClr val="CBD5DA"/>
            </a:solidFill>
            <a:prstDash val="solid"/>
          </a:ln>
        </p:spPr>
      </p:sp>
      <p:sp>
        <p:nvSpPr>
          <p:cNvPr id="7" name="Rectangle 6">
            <a:extLst xmlns:a="http://schemas.openxmlformats.org/drawingml/2006/main">
              <a:ext uri="{FF2B5EF4-FFF2-40B4-BE49-F238E27FC236}">
                <a16:creationId xmlns:a16="http://schemas.microsoft.com/office/drawing/2014/main" id="{66F8C904-9978-41B3-9BCC-C1158287A141}"/>
              </a:ext>
            </a:extLst>
          </p:cNvPr>
          <p:cNvSpPr>
            <a:spLocks xmlns:a="http://schemas.openxmlformats.org/drawingml/2006/main" noGrp="1"/>
          </p:cNvSpPr>
          <p:nvPr/>
        </p:nvSpPr>
        <p:spPr>
          <a:xfrm xmlns:a="http://schemas.openxmlformats.org/drawingml/2006/main">
            <a:off x="762000" y="2209800"/>
            <a:ext cx="19145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Inputs</a:t>
            </a:r>
          </a:p>
        </p:txBody>
      </p:sp>
      <p:sp>
        <p:nvSpPr>
          <p:cNvPr id="8" name="Rectangle 7">
            <a:extLst xmlns:a="http://schemas.openxmlformats.org/drawingml/2006/main">
              <a:ext uri="{FF2B5EF4-FFF2-40B4-BE49-F238E27FC236}">
                <a16:creationId xmlns:a16="http://schemas.microsoft.com/office/drawing/2014/main" id="{74F18160-5A3B-41EF-AAD6-6AC695335602}"/>
              </a:ext>
            </a:extLst>
          </p:cNvPr>
          <p:cNvSpPr>
            <a:spLocks xmlns:a="http://schemas.openxmlformats.org/drawingml/2006/main" noGrp="1"/>
          </p:cNvSpPr>
          <p:nvPr/>
        </p:nvSpPr>
        <p:spPr>
          <a:xfrm xmlns:a="http://schemas.openxmlformats.org/drawingml/2006/main">
            <a:off x="781050" y="2609850"/>
            <a:ext cx="18764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1,046 approved</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signal predictors</a:t>
            </a:r>
          </a:p>
        </p:txBody>
      </p:sp>
      <p:sp>
        <p:nvSpPr>
          <p:cNvPr id="9" name="Right Arrow 8">
            <a:extLst xmlns:a="http://schemas.openxmlformats.org/drawingml/2006/main">
              <a:ext uri="{FF2B5EF4-FFF2-40B4-BE49-F238E27FC236}">
                <a16:creationId xmlns:a16="http://schemas.microsoft.com/office/drawing/2014/main" id="{2404452C-2164-46CF-8FF7-07CF554EAF06}"/>
              </a:ext>
            </a:extLst>
          </p:cNvPr>
          <p:cNvSpPr>
            <a:spLocks xmlns:a="http://schemas.openxmlformats.org/drawingml/2006/main" noGrp="1"/>
          </p:cNvSpPr>
          <p:nvPr/>
        </p:nvSpPr>
        <p:spPr>
          <a:xfrm xmlns:a="http://schemas.openxmlformats.org/drawingml/2006/main">
            <a:off x="2924175" y="2733675"/>
            <a:ext cx="381000" cy="152400"/>
          </a:xfrm>
          <a:prstGeom xmlns:a="http://schemas.openxmlformats.org/drawingml/2006/main" prst="rightArrow">
            <a:avLst/>
          </a:prstGeom>
          <a:solidFill xmlns:a="http://schemas.openxmlformats.org/drawingml/2006/main">
            <a:srgbClr val="64877F"/>
          </a:solidFill>
          <a:ln xmlns:a="http://schemas.openxmlformats.org/drawingml/2006/main" w="0">
            <a:noFill/>
            <a:prstDash val="solid"/>
          </a:ln>
        </p:spPr>
      </p:sp>
      <p:sp>
        <p:nvSpPr>
          <p:cNvPr id="10" name="Rounded Rectangle 9">
            <a:extLst xmlns:a="http://schemas.openxmlformats.org/drawingml/2006/main">
              <a:ext uri="{FF2B5EF4-FFF2-40B4-BE49-F238E27FC236}">
                <a16:creationId xmlns:a16="http://schemas.microsoft.com/office/drawing/2014/main" id="{FDCAB14B-0FA6-49A4-AFD0-5556C6D3293D}"/>
              </a:ext>
            </a:extLst>
          </p:cNvPr>
          <p:cNvSpPr>
            <a:spLocks xmlns:a="http://schemas.openxmlformats.org/drawingml/2006/main" noGrp="1"/>
          </p:cNvSpPr>
          <p:nvPr/>
        </p:nvSpPr>
        <p:spPr>
          <a:xfrm xmlns:a="http://schemas.openxmlformats.org/drawingml/2006/main">
            <a:off x="3457575" y="2095500"/>
            <a:ext cx="2143125" cy="1485900"/>
          </a:xfrm>
          <a:prstGeom xmlns:a="http://schemas.openxmlformats.org/drawingml/2006/main" prst="roundRect">
            <a:avLst>
              <a:gd name="adj" fmla="val 5128"/>
            </a:avLst>
          </a:prstGeom>
          <a:solidFill xmlns:a="http://schemas.openxmlformats.org/drawingml/2006/main">
            <a:srgbClr val="F1E9DB"/>
          </a:solidFill>
          <a:ln xmlns:a="http://schemas.openxmlformats.org/drawingml/2006/main" w="9525">
            <a:solidFill>
              <a:srgbClr val="CBD5DA"/>
            </a:solidFill>
            <a:prstDash val="solid"/>
          </a:ln>
        </p:spPr>
      </p:sp>
      <p:sp>
        <p:nvSpPr>
          <p:cNvPr id="11" name="Rectangle 10">
            <a:extLst xmlns:a="http://schemas.openxmlformats.org/drawingml/2006/main">
              <a:ext uri="{FF2B5EF4-FFF2-40B4-BE49-F238E27FC236}">
                <a16:creationId xmlns:a16="http://schemas.microsoft.com/office/drawing/2014/main" id="{71EEEE48-8019-4A1B-BC9A-EC86DE035D24}"/>
              </a:ext>
            </a:extLst>
          </p:cNvPr>
          <p:cNvSpPr>
            <a:spLocks xmlns:a="http://schemas.openxmlformats.org/drawingml/2006/main" noGrp="1"/>
          </p:cNvSpPr>
          <p:nvPr/>
        </p:nvSpPr>
        <p:spPr>
          <a:xfrm xmlns:a="http://schemas.openxmlformats.org/drawingml/2006/main">
            <a:off x="3571875" y="2209800"/>
            <a:ext cx="19145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Candidate search</a:t>
            </a:r>
          </a:p>
        </p:txBody>
      </p:sp>
      <p:sp>
        <p:nvSpPr>
          <p:cNvPr id="12" name="Rectangle 11">
            <a:extLst xmlns:a="http://schemas.openxmlformats.org/drawingml/2006/main">
              <a:ext uri="{FF2B5EF4-FFF2-40B4-BE49-F238E27FC236}">
                <a16:creationId xmlns:a16="http://schemas.microsoft.com/office/drawing/2014/main" id="{3C238FDE-1A3F-486E-ADCC-1C7942610DD5}"/>
              </a:ext>
            </a:extLst>
          </p:cNvPr>
          <p:cNvSpPr>
            <a:spLocks xmlns:a="http://schemas.openxmlformats.org/drawingml/2006/main" noGrp="1"/>
          </p:cNvSpPr>
          <p:nvPr/>
        </p:nvSpPr>
        <p:spPr>
          <a:xfrm xmlns:a="http://schemas.openxmlformats.org/drawingml/2006/main">
            <a:off x="3590925" y="2609850"/>
            <a:ext cx="18764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18 Random Forest</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configurations</a:t>
            </a:r>
          </a:p>
        </p:txBody>
      </p:sp>
      <p:sp>
        <p:nvSpPr>
          <p:cNvPr id="13" name="Right Arrow 12">
            <a:extLst xmlns:a="http://schemas.openxmlformats.org/drawingml/2006/main">
              <a:ext uri="{FF2B5EF4-FFF2-40B4-BE49-F238E27FC236}">
                <a16:creationId xmlns:a16="http://schemas.microsoft.com/office/drawing/2014/main" id="{4AA54780-C19D-44AE-80BA-99A372394921}"/>
              </a:ext>
            </a:extLst>
          </p:cNvPr>
          <p:cNvSpPr>
            <a:spLocks xmlns:a="http://schemas.openxmlformats.org/drawingml/2006/main" noGrp="1"/>
          </p:cNvSpPr>
          <p:nvPr/>
        </p:nvSpPr>
        <p:spPr>
          <a:xfrm xmlns:a="http://schemas.openxmlformats.org/drawingml/2006/main">
            <a:off x="5734050" y="2733675"/>
            <a:ext cx="381000" cy="152400"/>
          </a:xfrm>
          <a:prstGeom xmlns:a="http://schemas.openxmlformats.org/drawingml/2006/main" prst="rightArrow">
            <a:avLst/>
          </a:prstGeom>
          <a:solidFill xmlns:a="http://schemas.openxmlformats.org/drawingml/2006/main">
            <a:srgbClr val="64877F"/>
          </a:solidFill>
          <a:ln xmlns:a="http://schemas.openxmlformats.org/drawingml/2006/main" w="0">
            <a:noFill/>
            <a:prstDash val="solid"/>
          </a:ln>
        </p:spPr>
      </p:sp>
      <p:sp>
        <p:nvSpPr>
          <p:cNvPr id="14" name="Rounded Rectangle 13">
            <a:extLst xmlns:a="http://schemas.openxmlformats.org/drawingml/2006/main">
              <a:ext uri="{FF2B5EF4-FFF2-40B4-BE49-F238E27FC236}">
                <a16:creationId xmlns:a16="http://schemas.microsoft.com/office/drawing/2014/main" id="{19EF1576-B057-4FA6-A336-573A3B45A6D5}"/>
              </a:ext>
            </a:extLst>
          </p:cNvPr>
          <p:cNvSpPr>
            <a:spLocks xmlns:a="http://schemas.openxmlformats.org/drawingml/2006/main" noGrp="1"/>
          </p:cNvSpPr>
          <p:nvPr/>
        </p:nvSpPr>
        <p:spPr>
          <a:xfrm xmlns:a="http://schemas.openxmlformats.org/drawingml/2006/main">
            <a:off x="6267450" y="2095500"/>
            <a:ext cx="2143125" cy="1485900"/>
          </a:xfrm>
          <a:prstGeom xmlns:a="http://schemas.openxmlformats.org/drawingml/2006/main" prst="roundRect">
            <a:avLst>
              <a:gd name="adj" fmla="val 5128"/>
            </a:avLst>
          </a:prstGeom>
          <a:solidFill xmlns:a="http://schemas.openxmlformats.org/drawingml/2006/main">
            <a:srgbClr val="C7DBD1"/>
          </a:solidFill>
          <a:ln xmlns:a="http://schemas.openxmlformats.org/drawingml/2006/main" w="9525">
            <a:solidFill>
              <a:srgbClr val="CBD5DA"/>
            </a:solidFill>
            <a:prstDash val="solid"/>
          </a:ln>
        </p:spPr>
      </p:sp>
      <p:sp>
        <p:nvSpPr>
          <p:cNvPr id="15" name="Rectangle 14">
            <a:extLst xmlns:a="http://schemas.openxmlformats.org/drawingml/2006/main">
              <a:ext uri="{FF2B5EF4-FFF2-40B4-BE49-F238E27FC236}">
                <a16:creationId xmlns:a16="http://schemas.microsoft.com/office/drawing/2014/main" id="{43E471E7-C5F9-465A-AB39-755CACD65E4C}"/>
              </a:ext>
            </a:extLst>
          </p:cNvPr>
          <p:cNvSpPr>
            <a:spLocks xmlns:a="http://schemas.openxmlformats.org/drawingml/2006/main" noGrp="1"/>
          </p:cNvSpPr>
          <p:nvPr/>
        </p:nvSpPr>
        <p:spPr>
          <a:xfrm xmlns:a="http://schemas.openxmlformats.org/drawingml/2006/main">
            <a:off x="6381750" y="2209800"/>
            <a:ext cx="19145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Selection rule</a:t>
            </a:r>
          </a:p>
        </p:txBody>
      </p:sp>
      <p:sp>
        <p:nvSpPr>
          <p:cNvPr id="16" name="Rectangle 15">
            <a:extLst xmlns:a="http://schemas.openxmlformats.org/drawingml/2006/main">
              <a:ext uri="{FF2B5EF4-FFF2-40B4-BE49-F238E27FC236}">
                <a16:creationId xmlns:a16="http://schemas.microsoft.com/office/drawing/2014/main" id="{1457C867-F75D-4D98-9933-5077E1924733}"/>
              </a:ext>
            </a:extLst>
          </p:cNvPr>
          <p:cNvSpPr>
            <a:spLocks xmlns:a="http://schemas.openxmlformats.org/drawingml/2006/main" noGrp="1"/>
          </p:cNvSpPr>
          <p:nvPr/>
        </p:nvSpPr>
        <p:spPr>
          <a:xfrm xmlns:a="http://schemas.openxmlformats.org/drawingml/2006/main">
            <a:off x="6400800" y="2609850"/>
            <a:ext cx="18764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best internal validation</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accuracy; macro F1 tie-break</a:t>
            </a:r>
          </a:p>
        </p:txBody>
      </p:sp>
      <p:sp>
        <p:nvSpPr>
          <p:cNvPr id="17" name="Right Arrow 16">
            <a:extLst xmlns:a="http://schemas.openxmlformats.org/drawingml/2006/main">
              <a:ext uri="{FF2B5EF4-FFF2-40B4-BE49-F238E27FC236}">
                <a16:creationId xmlns:a16="http://schemas.microsoft.com/office/drawing/2014/main" id="{05399FCC-6F5E-476D-9C02-66255429F2DF}"/>
              </a:ext>
            </a:extLst>
          </p:cNvPr>
          <p:cNvSpPr>
            <a:spLocks xmlns:a="http://schemas.openxmlformats.org/drawingml/2006/main" noGrp="1"/>
          </p:cNvSpPr>
          <p:nvPr/>
        </p:nvSpPr>
        <p:spPr>
          <a:xfrm xmlns:a="http://schemas.openxmlformats.org/drawingml/2006/main">
            <a:off x="8543925" y="2733675"/>
            <a:ext cx="381000" cy="152400"/>
          </a:xfrm>
          <a:prstGeom xmlns:a="http://schemas.openxmlformats.org/drawingml/2006/main" prst="rightArrow">
            <a:avLst/>
          </a:prstGeom>
          <a:solidFill xmlns:a="http://schemas.openxmlformats.org/drawingml/2006/main">
            <a:srgbClr val="64877F"/>
          </a:solidFill>
          <a:ln xmlns:a="http://schemas.openxmlformats.org/drawingml/2006/main" w="0">
            <a:noFill/>
            <a:prstDash val="solid"/>
          </a:ln>
        </p:spPr>
      </p:sp>
      <p:sp>
        <p:nvSpPr>
          <p:cNvPr id="18" name="Rounded Rectangle 17">
            <a:extLst xmlns:a="http://schemas.openxmlformats.org/drawingml/2006/main">
              <a:ext uri="{FF2B5EF4-FFF2-40B4-BE49-F238E27FC236}">
                <a16:creationId xmlns:a16="http://schemas.microsoft.com/office/drawing/2014/main" id="{85786A87-9740-4B4E-90EA-E5B0AC439880}"/>
              </a:ext>
            </a:extLst>
          </p:cNvPr>
          <p:cNvSpPr>
            <a:spLocks xmlns:a="http://schemas.openxmlformats.org/drawingml/2006/main" noGrp="1"/>
          </p:cNvSpPr>
          <p:nvPr/>
        </p:nvSpPr>
        <p:spPr>
          <a:xfrm xmlns:a="http://schemas.openxmlformats.org/drawingml/2006/main">
            <a:off x="9077325" y="2095500"/>
            <a:ext cx="2381250" cy="1485900"/>
          </a:xfrm>
          <a:prstGeom xmlns:a="http://schemas.openxmlformats.org/drawingml/2006/main" prst="roundRect">
            <a:avLst>
              <a:gd name="adj" fmla="val 5128"/>
            </a:avLst>
          </a:prstGeom>
          <a:solidFill xmlns:a="http://schemas.openxmlformats.org/drawingml/2006/main">
            <a:srgbClr val="DCE7ED"/>
          </a:solidFill>
          <a:ln xmlns:a="http://schemas.openxmlformats.org/drawingml/2006/main" w="9525">
            <a:solidFill>
              <a:srgbClr val="CBD5DA"/>
            </a:solidFill>
            <a:prstDash val="solid"/>
          </a:ln>
        </p:spPr>
      </p:sp>
      <p:sp>
        <p:nvSpPr>
          <p:cNvPr id="19" name="Rectangle 18">
            <a:extLst xmlns:a="http://schemas.openxmlformats.org/drawingml/2006/main">
              <a:ext uri="{FF2B5EF4-FFF2-40B4-BE49-F238E27FC236}">
                <a16:creationId xmlns:a16="http://schemas.microsoft.com/office/drawing/2014/main" id="{BD0B7F99-F93D-46A4-866D-7F29F052EEEA}"/>
              </a:ext>
            </a:extLst>
          </p:cNvPr>
          <p:cNvSpPr>
            <a:spLocks xmlns:a="http://schemas.openxmlformats.org/drawingml/2006/main" noGrp="1"/>
          </p:cNvSpPr>
          <p:nvPr/>
        </p:nvSpPr>
        <p:spPr>
          <a:xfrm xmlns:a="http://schemas.openxmlformats.org/drawingml/2006/main">
            <a:off x="9191625" y="2209800"/>
            <a:ext cx="21526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Final estimator</a:t>
            </a:r>
          </a:p>
        </p:txBody>
      </p:sp>
      <p:sp>
        <p:nvSpPr>
          <p:cNvPr id="20" name="Rectangle 19">
            <a:extLst xmlns:a="http://schemas.openxmlformats.org/drawingml/2006/main">
              <a:ext uri="{FF2B5EF4-FFF2-40B4-BE49-F238E27FC236}">
                <a16:creationId xmlns:a16="http://schemas.microsoft.com/office/drawing/2014/main" id="{B8AF0FE2-BE58-43A5-BB65-EA744B6CD725}"/>
              </a:ext>
            </a:extLst>
          </p:cNvPr>
          <p:cNvSpPr>
            <a:spLocks xmlns:a="http://schemas.openxmlformats.org/drawingml/2006/main" noGrp="1"/>
          </p:cNvSpPr>
          <p:nvPr/>
        </p:nvSpPr>
        <p:spPr>
          <a:xfrm xmlns:a="http://schemas.openxmlformats.org/drawingml/2006/main">
            <a:off x="9210675" y="2609850"/>
            <a:ext cx="21145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100 trees · leaf size 1</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unlimited depth</a:t>
            </a:r>
          </a:p>
        </p:txBody>
      </p:sp>
      <p:sp>
        <p:nvSpPr>
          <p:cNvPr id="21" name="Rectangle 20">
            <a:extLst xmlns:a="http://schemas.openxmlformats.org/drawingml/2006/main">
              <a:ext uri="{FF2B5EF4-FFF2-40B4-BE49-F238E27FC236}">
                <a16:creationId xmlns:a16="http://schemas.microsoft.com/office/drawing/2014/main" id="{62A01C96-7F39-4487-9F14-FB30CEF88862}"/>
              </a:ext>
            </a:extLst>
          </p:cNvPr>
          <p:cNvSpPr>
            <a:spLocks xmlns:a="http://schemas.openxmlformats.org/drawingml/2006/main" noGrp="1"/>
          </p:cNvSpPr>
          <p:nvPr/>
        </p:nvSpPr>
        <p:spPr>
          <a:xfrm xmlns:a="http://schemas.openxmlformats.org/drawingml/2006/main">
            <a:off x="781050" y="4448175"/>
            <a:ext cx="1000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725" b="1">
                <a:solidFill>
                  <a:srgbClr val="243A50"/>
                </a:solidFill>
                <a:latin typeface="Helvetica Neue"/>
                <a:ea typeface="Helvetica Neue"/>
                <a:cs typeface="Helvetica Neue"/>
              </a:defRPr>
            </a:defPPr>
            <a:lvl1pPr algn="l">
              <a:buNone/>
              <a:defRPr sz="1725" b="1">
                <a:solidFill>
                  <a:srgbClr val="243A50"/>
                </a:solidFill>
                <a:latin typeface="Helvetica Neue"/>
                <a:ea typeface="Helvetica Neue"/>
                <a:cs typeface="Helvetica Neue"/>
              </a:defRPr>
            </a:lvl1pPr>
            <a:lvl2pPr algn="l">
              <a:buNone/>
              <a:defRPr sz="1725" b="1">
                <a:solidFill>
                  <a:srgbClr val="243A50"/>
                </a:solidFill>
                <a:latin typeface="Helvetica Neue"/>
                <a:ea typeface="Helvetica Neue"/>
                <a:cs typeface="Helvetica Neue"/>
              </a:defRPr>
            </a:lvl2pPr>
            <a:lvl3pPr algn="l">
              <a:buNone/>
              <a:defRPr sz="1725" b="1">
                <a:solidFill>
                  <a:srgbClr val="243A50"/>
                </a:solidFill>
                <a:latin typeface="Helvetica Neue"/>
                <a:ea typeface="Helvetica Neue"/>
                <a:cs typeface="Helvetica Neue"/>
              </a:defRPr>
            </a:lvl3pPr>
            <a:lvl4pPr algn="l">
              <a:buNone/>
              <a:defRPr sz="1725" b="1">
                <a:solidFill>
                  <a:srgbClr val="243A50"/>
                </a:solidFill>
                <a:latin typeface="Helvetica Neue"/>
                <a:ea typeface="Helvetica Neue"/>
                <a:cs typeface="Helvetica Neue"/>
              </a:defRPr>
            </a:lvl4pPr>
            <a:lvl5pPr algn="l">
              <a:buNone/>
              <a:defRPr sz="1725" b="1">
                <a:solidFill>
                  <a:srgbClr val="243A50"/>
                </a:solidFill>
                <a:latin typeface="Helvetica Neue"/>
                <a:ea typeface="Helvetica Neue"/>
                <a:cs typeface="Helvetica Neue"/>
              </a:defRPr>
            </a:lvl5pPr>
            <a:lvl6pPr algn="l">
              <a:buNone/>
              <a:defRPr sz="1725" b="1">
                <a:solidFill>
                  <a:srgbClr val="243A50"/>
                </a:solidFill>
                <a:latin typeface="Helvetica Neue"/>
                <a:ea typeface="Helvetica Neue"/>
                <a:cs typeface="Helvetica Neue"/>
              </a:defRPr>
            </a:lvl6pPr>
            <a:lvl7pPr algn="l">
              <a:buNone/>
              <a:defRPr sz="1725" b="1">
                <a:solidFill>
                  <a:srgbClr val="243A50"/>
                </a:solidFill>
                <a:latin typeface="Helvetica Neue"/>
                <a:ea typeface="Helvetica Neue"/>
                <a:cs typeface="Helvetica Neue"/>
              </a:defRPr>
            </a:lvl7pPr>
            <a:lvl8pPr algn="l">
              <a:buNone/>
              <a:defRPr sz="1725" b="1">
                <a:solidFill>
                  <a:srgbClr val="243A50"/>
                </a:solidFill>
                <a:latin typeface="Helvetica Neue"/>
                <a:ea typeface="Helvetica Neue"/>
                <a:cs typeface="Helvetica Neue"/>
              </a:defRPr>
            </a:lvl8pPr>
            <a:lvl9pPr algn="l">
              <a:buNone/>
              <a:defRPr sz="1725" b="1">
                <a:solidFill>
                  <a:srgbClr val="243A50"/>
                </a:solidFill>
                <a:latin typeface="Helvetica Neue"/>
                <a:ea typeface="Helvetica Neue"/>
                <a:cs typeface="Helvetica Neue"/>
              </a:defRPr>
            </a:lvl9pPr>
          </a:lstStyle>
          <a:p xmlns:a="http://schemas.openxmlformats.org/drawingml/2006/main">
            <a:pPr algn="l">
              <a:buNone/>
              <a:defRPr sz="1725" b="1">
                <a:solidFill>
                  <a:srgbClr val="243A50"/>
                </a:solidFill>
                <a:latin typeface="Helvetica Neue"/>
                <a:ea typeface="Helvetica Neue"/>
                <a:cs typeface="Helvetica Neue"/>
              </a:defRPr>
            </a:pPr>
            <a:r>
              <a:rPr sz="1725" b="1">
                <a:solidFill>
                  <a:srgbClr val="243A50"/>
                </a:solidFill>
                <a:latin typeface="Helvetica Neue"/>
                <a:ea typeface="Helvetica Neue"/>
                <a:cs typeface="Helvetica Neue"/>
              </a:rPr>
              <a:t>Target: BUILDINGID  ·  3 building classes</a:t>
            </a:r>
          </a:p>
        </p:txBody>
      </p:sp>
      <p:sp>
        <p:nvSpPr>
          <p:cNvPr id="22" name="Rectangle 21">
            <a:extLst xmlns:a="http://schemas.openxmlformats.org/drawingml/2006/main">
              <a:ext uri="{FF2B5EF4-FFF2-40B4-BE49-F238E27FC236}">
                <a16:creationId xmlns:a16="http://schemas.microsoft.com/office/drawing/2014/main" id="{816C4670-EC3D-4EC4-8FA8-F56631524B62}"/>
              </a:ext>
            </a:extLst>
          </p:cNvPr>
          <p:cNvSpPr>
            <a:spLocks xmlns:a="http://schemas.openxmlformats.org/drawingml/2006/main" noGrp="1"/>
          </p:cNvSpPr>
          <p:nvPr/>
        </p:nvSpPr>
        <p:spPr>
          <a:xfrm xmlns:a="http://schemas.openxmlformats.org/drawingml/2006/main">
            <a:off x="781050" y="4991100"/>
            <a:ext cx="1000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425" b="0">
                <a:solidFill>
                  <a:srgbClr val="63788A"/>
                </a:solidFill>
                <a:latin typeface="Helvetica Neue"/>
                <a:ea typeface="Helvetica Neue"/>
                <a:cs typeface="Helvetica Neue"/>
              </a:defRPr>
            </a:defPPr>
            <a:lvl1pPr algn="l">
              <a:buNone/>
              <a:defRPr sz="1425" b="0">
                <a:solidFill>
                  <a:srgbClr val="63788A"/>
                </a:solidFill>
                <a:latin typeface="Helvetica Neue"/>
                <a:ea typeface="Helvetica Neue"/>
                <a:cs typeface="Helvetica Neue"/>
              </a:defRPr>
            </a:lvl1pPr>
            <a:lvl2pPr algn="l">
              <a:buNone/>
              <a:defRPr sz="1425" b="0">
                <a:solidFill>
                  <a:srgbClr val="63788A"/>
                </a:solidFill>
                <a:latin typeface="Helvetica Neue"/>
                <a:ea typeface="Helvetica Neue"/>
                <a:cs typeface="Helvetica Neue"/>
              </a:defRPr>
            </a:lvl2pPr>
            <a:lvl3pPr algn="l">
              <a:buNone/>
              <a:defRPr sz="1425" b="0">
                <a:solidFill>
                  <a:srgbClr val="63788A"/>
                </a:solidFill>
                <a:latin typeface="Helvetica Neue"/>
                <a:ea typeface="Helvetica Neue"/>
                <a:cs typeface="Helvetica Neue"/>
              </a:defRPr>
            </a:lvl3pPr>
            <a:lvl4pPr algn="l">
              <a:buNone/>
              <a:defRPr sz="1425" b="0">
                <a:solidFill>
                  <a:srgbClr val="63788A"/>
                </a:solidFill>
                <a:latin typeface="Helvetica Neue"/>
                <a:ea typeface="Helvetica Neue"/>
                <a:cs typeface="Helvetica Neue"/>
              </a:defRPr>
            </a:lvl4pPr>
            <a:lvl5pPr algn="l">
              <a:buNone/>
              <a:defRPr sz="1425" b="0">
                <a:solidFill>
                  <a:srgbClr val="63788A"/>
                </a:solidFill>
                <a:latin typeface="Helvetica Neue"/>
                <a:ea typeface="Helvetica Neue"/>
                <a:cs typeface="Helvetica Neue"/>
              </a:defRPr>
            </a:lvl5pPr>
            <a:lvl6pPr algn="l">
              <a:buNone/>
              <a:defRPr sz="1425" b="0">
                <a:solidFill>
                  <a:srgbClr val="63788A"/>
                </a:solidFill>
                <a:latin typeface="Helvetica Neue"/>
                <a:ea typeface="Helvetica Neue"/>
                <a:cs typeface="Helvetica Neue"/>
              </a:defRPr>
            </a:lvl6pPr>
            <a:lvl7pPr algn="l">
              <a:buNone/>
              <a:defRPr sz="1425" b="0">
                <a:solidFill>
                  <a:srgbClr val="63788A"/>
                </a:solidFill>
                <a:latin typeface="Helvetica Neue"/>
                <a:ea typeface="Helvetica Neue"/>
                <a:cs typeface="Helvetica Neue"/>
              </a:defRPr>
            </a:lvl7pPr>
            <a:lvl8pPr algn="l">
              <a:buNone/>
              <a:defRPr sz="1425" b="0">
                <a:solidFill>
                  <a:srgbClr val="63788A"/>
                </a:solidFill>
                <a:latin typeface="Helvetica Neue"/>
                <a:ea typeface="Helvetica Neue"/>
                <a:cs typeface="Helvetica Neue"/>
              </a:defRPr>
            </a:lvl8pPr>
            <a:lvl9pPr algn="l">
              <a:buNone/>
              <a:defRPr sz="1425" b="0">
                <a:solidFill>
                  <a:srgbClr val="63788A"/>
                </a:solidFill>
                <a:latin typeface="Helvetica Neue"/>
                <a:ea typeface="Helvetica Neue"/>
                <a:cs typeface="Helvetica Neue"/>
              </a:defRPr>
            </a:lvl9pPr>
          </a:lstStyle>
          <a:p xmlns:a="http://schemas.openxmlformats.org/drawingml/2006/main">
            <a:pPr algn="l">
              <a:buNone/>
              <a:defRPr sz="1425" b="0">
                <a:solidFill>
                  <a:srgbClr val="63788A"/>
                </a:solidFill>
                <a:latin typeface="Helvetica Neue"/>
                <a:ea typeface="Helvetica Neue"/>
                <a:cs typeface="Helvetica Neue"/>
              </a:defRPr>
            </a:pPr>
            <a:r>
              <a:rPr sz="1425" b="0">
                <a:solidFill>
                  <a:srgbClr val="63788A"/>
                </a:solidFill>
                <a:latin typeface="Helvetica Neue"/>
                <a:ea typeface="Helvetica Neue"/>
                <a:cs typeface="Helvetica Neue"/>
              </a:rPr>
              <a:t>Evaluation outputs: accuracy · macro F1 · class confusion counts</a:t>
            </a:r>
          </a:p>
        </p:txBody>
      </p:sp>
    </p:spTree>
    <p:extLst>
      <p:ext uri="{BB962C8B-B14F-4D97-AF65-F5344CB8AC3E}">
        <p14:creationId xmlns:p14="http://schemas.microsoft.com/office/powerpoint/2010/main" val="709119937"/>
      </p:ext>
    </p:extLst>
  </p:cSld>
</p:sld>
</file>

<file path=ppt/slides/slide8.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7128C37A-B559-424A-80C7-67D3FC73E0FA}"/>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C7DBD1"/>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D87F327D-DAEA-4C5C-84A0-85C214593652}"/>
              </a:ext>
            </a:extLst>
          </p:cNvPr>
          <p:cNvSpPr>
            <a:spLocks xmlns:a="http://schemas.openxmlformats.org/drawingml/2006/main" noGrp="1"/>
          </p:cNvSpPr>
          <p:nvPr/>
        </p:nvSpPr>
        <p:spPr>
          <a:xfrm xmlns:a="http://schemas.openxmlformats.org/drawingml/2006/main">
            <a:off x="609600" y="37147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625" b="1">
                <a:solidFill>
                  <a:srgbClr val="243A50"/>
                </a:solidFill>
                <a:latin typeface="Helvetica Neue"/>
                <a:ea typeface="Helvetica Neue"/>
                <a:cs typeface="Helvetica Neue"/>
              </a:defRPr>
            </a:defPPr>
            <a:lvl1pPr algn="l">
              <a:buNone/>
              <a:defRPr sz="2625" b="1">
                <a:solidFill>
                  <a:srgbClr val="243A50"/>
                </a:solidFill>
                <a:latin typeface="Helvetica Neue"/>
                <a:ea typeface="Helvetica Neue"/>
                <a:cs typeface="Helvetica Neue"/>
              </a:defRPr>
            </a:lvl1pPr>
            <a:lvl2pPr algn="l">
              <a:buNone/>
              <a:defRPr sz="2625" b="1">
                <a:solidFill>
                  <a:srgbClr val="243A50"/>
                </a:solidFill>
                <a:latin typeface="Helvetica Neue"/>
                <a:ea typeface="Helvetica Neue"/>
                <a:cs typeface="Helvetica Neue"/>
              </a:defRPr>
            </a:lvl2pPr>
            <a:lvl3pPr algn="l">
              <a:buNone/>
              <a:defRPr sz="2625" b="1">
                <a:solidFill>
                  <a:srgbClr val="243A50"/>
                </a:solidFill>
                <a:latin typeface="Helvetica Neue"/>
                <a:ea typeface="Helvetica Neue"/>
                <a:cs typeface="Helvetica Neue"/>
              </a:defRPr>
            </a:lvl3pPr>
            <a:lvl4pPr algn="l">
              <a:buNone/>
              <a:defRPr sz="2625" b="1">
                <a:solidFill>
                  <a:srgbClr val="243A50"/>
                </a:solidFill>
                <a:latin typeface="Helvetica Neue"/>
                <a:ea typeface="Helvetica Neue"/>
                <a:cs typeface="Helvetica Neue"/>
              </a:defRPr>
            </a:lvl4pPr>
            <a:lvl5pPr algn="l">
              <a:buNone/>
              <a:defRPr sz="2625" b="1">
                <a:solidFill>
                  <a:srgbClr val="243A50"/>
                </a:solidFill>
                <a:latin typeface="Helvetica Neue"/>
                <a:ea typeface="Helvetica Neue"/>
                <a:cs typeface="Helvetica Neue"/>
              </a:defRPr>
            </a:lvl5pPr>
            <a:lvl6pPr algn="l">
              <a:buNone/>
              <a:defRPr sz="2625" b="1">
                <a:solidFill>
                  <a:srgbClr val="243A50"/>
                </a:solidFill>
                <a:latin typeface="Helvetica Neue"/>
                <a:ea typeface="Helvetica Neue"/>
                <a:cs typeface="Helvetica Neue"/>
              </a:defRPr>
            </a:lvl6pPr>
            <a:lvl7pPr algn="l">
              <a:buNone/>
              <a:defRPr sz="2625" b="1">
                <a:solidFill>
                  <a:srgbClr val="243A50"/>
                </a:solidFill>
                <a:latin typeface="Helvetica Neue"/>
                <a:ea typeface="Helvetica Neue"/>
                <a:cs typeface="Helvetica Neue"/>
              </a:defRPr>
            </a:lvl7pPr>
            <a:lvl8pPr algn="l">
              <a:buNone/>
              <a:defRPr sz="2625" b="1">
                <a:solidFill>
                  <a:srgbClr val="243A50"/>
                </a:solidFill>
                <a:latin typeface="Helvetica Neue"/>
                <a:ea typeface="Helvetica Neue"/>
                <a:cs typeface="Helvetica Neue"/>
              </a:defRPr>
            </a:lvl8pPr>
            <a:lvl9pPr algn="l">
              <a:buNone/>
              <a:defRPr sz="2625" b="1">
                <a:solidFill>
                  <a:srgbClr val="243A50"/>
                </a:solidFill>
                <a:latin typeface="Helvetica Neue"/>
                <a:ea typeface="Helvetica Neue"/>
                <a:cs typeface="Helvetica Neue"/>
              </a:defRPr>
            </a:lvl9pPr>
          </a:lstStyle>
          <a:p xmlns:a="http://schemas.openxmlformats.org/drawingml/2006/main">
            <a:pPr algn="l">
              <a:buNone/>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2 · Building results</a:t>
            </a:r>
          </a:p>
        </p:txBody>
      </p:sp>
      <p:sp>
        <p:nvSpPr>
          <p:cNvPr id="3" name="Rectangle 2">
            <a:extLst xmlns:a="http://schemas.openxmlformats.org/drawingml/2006/main">
              <a:ext uri="{FF2B5EF4-FFF2-40B4-BE49-F238E27FC236}">
                <a16:creationId xmlns:a16="http://schemas.microsoft.com/office/drawing/2014/main" id="{64295BD1-0A43-4958-892B-AF88F9C8FC87}"/>
              </a:ext>
            </a:extLst>
          </p:cNvPr>
          <p:cNvSpPr>
            <a:spLocks xmlns:a="http://schemas.openxmlformats.org/drawingml/2006/main" noGrp="1"/>
          </p:cNvSpPr>
          <p:nvPr/>
        </p:nvSpPr>
        <p:spPr>
          <a:xfrm xmlns:a="http://schemas.openxmlformats.org/drawingml/2006/main">
            <a:off x="628650" y="904875"/>
            <a:ext cx="10839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All three building labels are classified correctly in nearly every held-out row.</a:t>
            </a:r>
          </a:p>
        </p:txBody>
      </p:sp>
      <p:sp>
        <p:nvSpPr>
          <p:cNvPr id="4" name="Straight Connector 3">
            <a:extLst xmlns:a="http://schemas.openxmlformats.org/drawingml/2006/main">
              <a:ext uri="{FF2B5EF4-FFF2-40B4-BE49-F238E27FC236}">
                <a16:creationId xmlns:a16="http://schemas.microsoft.com/office/drawing/2014/main" id="{8429B840-B1B3-4DEF-B434-7BD226B86C29}"/>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BD5DA"/>
            </a:solidFill>
            <a:prstDash val="solid"/>
          </a:ln>
        </p:spPr>
      </p:sp>
      <p:sp>
        <p:nvSpPr>
          <p:cNvPr id="5" name="Rectangle 4">
            <a:extLst xmlns:a="http://schemas.openxmlformats.org/drawingml/2006/main">
              <a:ext uri="{FF2B5EF4-FFF2-40B4-BE49-F238E27FC236}">
                <a16:creationId xmlns:a16="http://schemas.microsoft.com/office/drawing/2014/main" id="{0E934253-AB18-4728-989C-9FBBE07240E3}"/>
              </a:ext>
            </a:extLst>
          </p:cNvPr>
          <p:cNvSpPr>
            <a:spLocks xmlns:a="http://schemas.openxmlformats.org/drawingml/2006/main" noGrp="1"/>
          </p:cNvSpPr>
          <p:nvPr/>
        </p:nvSpPr>
        <p:spPr>
          <a:xfrm xmlns:a="http://schemas.openxmlformats.org/drawingml/2006/main">
            <a:off x="609600" y="64770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900" b="0">
                <a:solidFill>
                  <a:srgbClr val="63788A"/>
                </a:solidFill>
                <a:latin typeface="Helvetica Neue"/>
                <a:ea typeface="Helvetica Neue"/>
                <a:cs typeface="Helvetica Neue"/>
              </a:defRPr>
            </a:defPPr>
            <a:lvl1pPr algn="r">
              <a:buNone/>
              <a:defRPr sz="900" b="0">
                <a:solidFill>
                  <a:srgbClr val="63788A"/>
                </a:solidFill>
                <a:latin typeface="Helvetica Neue"/>
                <a:ea typeface="Helvetica Neue"/>
                <a:cs typeface="Helvetica Neue"/>
              </a:defRPr>
            </a:lvl1pPr>
            <a:lvl2pPr algn="r">
              <a:buNone/>
              <a:defRPr sz="900" b="0">
                <a:solidFill>
                  <a:srgbClr val="63788A"/>
                </a:solidFill>
                <a:latin typeface="Helvetica Neue"/>
                <a:ea typeface="Helvetica Neue"/>
                <a:cs typeface="Helvetica Neue"/>
              </a:defRPr>
            </a:lvl2pPr>
            <a:lvl3pPr algn="r">
              <a:buNone/>
              <a:defRPr sz="900" b="0">
                <a:solidFill>
                  <a:srgbClr val="63788A"/>
                </a:solidFill>
                <a:latin typeface="Helvetica Neue"/>
                <a:ea typeface="Helvetica Neue"/>
                <a:cs typeface="Helvetica Neue"/>
              </a:defRPr>
            </a:lvl3pPr>
            <a:lvl4pPr algn="r">
              <a:buNone/>
              <a:defRPr sz="900" b="0">
                <a:solidFill>
                  <a:srgbClr val="63788A"/>
                </a:solidFill>
                <a:latin typeface="Helvetica Neue"/>
                <a:ea typeface="Helvetica Neue"/>
                <a:cs typeface="Helvetica Neue"/>
              </a:defRPr>
            </a:lvl4pPr>
            <a:lvl5pPr algn="r">
              <a:buNone/>
              <a:defRPr sz="900" b="0">
                <a:solidFill>
                  <a:srgbClr val="63788A"/>
                </a:solidFill>
                <a:latin typeface="Helvetica Neue"/>
                <a:ea typeface="Helvetica Neue"/>
                <a:cs typeface="Helvetica Neue"/>
              </a:defRPr>
            </a:lvl5pPr>
            <a:lvl6pPr algn="r">
              <a:buNone/>
              <a:defRPr sz="900" b="0">
                <a:solidFill>
                  <a:srgbClr val="63788A"/>
                </a:solidFill>
                <a:latin typeface="Helvetica Neue"/>
                <a:ea typeface="Helvetica Neue"/>
                <a:cs typeface="Helvetica Neue"/>
              </a:defRPr>
            </a:lvl6pPr>
            <a:lvl7pPr algn="r">
              <a:buNone/>
              <a:defRPr sz="900" b="0">
                <a:solidFill>
                  <a:srgbClr val="63788A"/>
                </a:solidFill>
                <a:latin typeface="Helvetica Neue"/>
                <a:ea typeface="Helvetica Neue"/>
                <a:cs typeface="Helvetica Neue"/>
              </a:defRPr>
            </a:lvl7pPr>
            <a:lvl8pPr algn="r">
              <a:buNone/>
              <a:defRPr sz="900" b="0">
                <a:solidFill>
                  <a:srgbClr val="63788A"/>
                </a:solidFill>
                <a:latin typeface="Helvetica Neue"/>
                <a:ea typeface="Helvetica Neue"/>
                <a:cs typeface="Helvetica Neue"/>
              </a:defRPr>
            </a:lvl8pPr>
            <a:lvl9pPr algn="r">
              <a:buNone/>
              <a:defRPr sz="900" b="0">
                <a:solidFill>
                  <a:srgbClr val="63788A"/>
                </a:solidFill>
                <a:latin typeface="Helvetica Neue"/>
                <a:ea typeface="Helvetica Neue"/>
                <a:cs typeface="Helvetica Neue"/>
              </a:defRPr>
            </a:lvl9pPr>
          </a:lstStyle>
          <a:p xmlns:a="http://schemas.openxmlformats.org/drawingml/2006/main">
            <a:pPr algn="r">
              <a:buNone/>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08</a:t>
            </a:r>
          </a:p>
        </p:txBody>
      </p:sp>
      <p:pic>
        <p:nvPicPr>
          <p:cNvPr id="6" name="Picture 5">
            <a:extLst xmlns:a="http://schemas.openxmlformats.org/drawingml/2006/main">
              <a:ext uri="{FF2B5EF4-FFF2-40B4-BE49-F238E27FC236}">
                <a16:creationId xmlns:a16="http://schemas.microsoft.com/office/drawing/2014/main" id="{A6DA4122-45A7-4119-9819-69AA05B64212}"/>
              </a:ext>
            </a:extLst>
          </p:cNvPr>
          <p:cNvPicPr>
            <a:picLocks xmlns:a="http://schemas.openxmlformats.org/drawingml/2006/main" noChangeAspect="1"/>
          </p:cNvPicPr>
          <p:nvPr/>
        </p:nvPicPr>
        <p:blipFill>
          <a:blip xmlns:r="http://schemas.openxmlformats.org/officeDocument/2006/relationships" xmlns:a="http://schemas.openxmlformats.org/drawingml/2006/main" r:embed="Rc11354bae7594228"/>
          <a:stretch xmlns:a="http://schemas.openxmlformats.org/drawingml/2006/main"/>
        </p:blipFill>
        <p:spPr>
          <a:xfrm xmlns:a="http://schemas.openxmlformats.org/drawingml/2006/main">
            <a:off x="523875" y="2183406"/>
            <a:ext cx="7239000" cy="2976963"/>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BFA2EA54-C557-4E5C-A75A-E49040D4DF6D}"/>
              </a:ext>
            </a:extLst>
          </p:cNvPr>
          <p:cNvSpPr>
            <a:spLocks xmlns:a="http://schemas.openxmlformats.org/drawingml/2006/main" noGrp="1"/>
          </p:cNvSpPr>
          <p:nvPr/>
        </p:nvSpPr>
        <p:spPr>
          <a:xfrm xmlns:a="http://schemas.openxmlformats.org/drawingml/2006/main">
            <a:off x="8248650" y="2047875"/>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3750" b="1">
                <a:solidFill>
                  <a:srgbClr val="243A50"/>
                </a:solidFill>
                <a:latin typeface="Helvetica Neue"/>
                <a:ea typeface="Helvetica Neue"/>
                <a:cs typeface="Helvetica Neue"/>
              </a:defRPr>
            </a:defPPr>
            <a:lvl1pPr algn="l">
              <a:buNone/>
              <a:defRPr sz="3750" b="1">
                <a:solidFill>
                  <a:srgbClr val="243A50"/>
                </a:solidFill>
                <a:latin typeface="Helvetica Neue"/>
                <a:ea typeface="Helvetica Neue"/>
                <a:cs typeface="Helvetica Neue"/>
              </a:defRPr>
            </a:lvl1pPr>
            <a:lvl2pPr algn="l">
              <a:buNone/>
              <a:defRPr sz="3750" b="1">
                <a:solidFill>
                  <a:srgbClr val="243A50"/>
                </a:solidFill>
                <a:latin typeface="Helvetica Neue"/>
                <a:ea typeface="Helvetica Neue"/>
                <a:cs typeface="Helvetica Neue"/>
              </a:defRPr>
            </a:lvl2pPr>
            <a:lvl3pPr algn="l">
              <a:buNone/>
              <a:defRPr sz="3750" b="1">
                <a:solidFill>
                  <a:srgbClr val="243A50"/>
                </a:solidFill>
                <a:latin typeface="Helvetica Neue"/>
                <a:ea typeface="Helvetica Neue"/>
                <a:cs typeface="Helvetica Neue"/>
              </a:defRPr>
            </a:lvl3pPr>
            <a:lvl4pPr algn="l">
              <a:buNone/>
              <a:defRPr sz="3750" b="1">
                <a:solidFill>
                  <a:srgbClr val="243A50"/>
                </a:solidFill>
                <a:latin typeface="Helvetica Neue"/>
                <a:ea typeface="Helvetica Neue"/>
                <a:cs typeface="Helvetica Neue"/>
              </a:defRPr>
            </a:lvl4pPr>
            <a:lvl5pPr algn="l">
              <a:buNone/>
              <a:defRPr sz="3750" b="1">
                <a:solidFill>
                  <a:srgbClr val="243A50"/>
                </a:solidFill>
                <a:latin typeface="Helvetica Neue"/>
                <a:ea typeface="Helvetica Neue"/>
                <a:cs typeface="Helvetica Neue"/>
              </a:defRPr>
            </a:lvl5pPr>
            <a:lvl6pPr algn="l">
              <a:buNone/>
              <a:defRPr sz="3750" b="1">
                <a:solidFill>
                  <a:srgbClr val="243A50"/>
                </a:solidFill>
                <a:latin typeface="Helvetica Neue"/>
                <a:ea typeface="Helvetica Neue"/>
                <a:cs typeface="Helvetica Neue"/>
              </a:defRPr>
            </a:lvl6pPr>
            <a:lvl7pPr algn="l">
              <a:buNone/>
              <a:defRPr sz="3750" b="1">
                <a:solidFill>
                  <a:srgbClr val="243A50"/>
                </a:solidFill>
                <a:latin typeface="Helvetica Neue"/>
                <a:ea typeface="Helvetica Neue"/>
                <a:cs typeface="Helvetica Neue"/>
              </a:defRPr>
            </a:lvl7pPr>
            <a:lvl8pPr algn="l">
              <a:buNone/>
              <a:defRPr sz="3750" b="1">
                <a:solidFill>
                  <a:srgbClr val="243A50"/>
                </a:solidFill>
                <a:latin typeface="Helvetica Neue"/>
                <a:ea typeface="Helvetica Neue"/>
                <a:cs typeface="Helvetica Neue"/>
              </a:defRPr>
            </a:lvl8pPr>
            <a:lvl9pPr algn="l">
              <a:buNone/>
              <a:defRPr sz="3750" b="1">
                <a:solidFill>
                  <a:srgbClr val="243A50"/>
                </a:solidFill>
                <a:latin typeface="Helvetica Neue"/>
                <a:ea typeface="Helvetica Neue"/>
                <a:cs typeface="Helvetica Neue"/>
              </a:defRPr>
            </a:lvl9pPr>
          </a:lstStyle>
          <a:p xmlns:a="http://schemas.openxmlformats.org/drawingml/2006/main">
            <a:pPr algn="l">
              <a:buNone/>
              <a:defRPr sz="3750" b="1">
                <a:solidFill>
                  <a:srgbClr val="243A50"/>
                </a:solidFill>
                <a:latin typeface="Helvetica Neue"/>
                <a:ea typeface="Helvetica Neue"/>
                <a:cs typeface="Helvetica Neue"/>
              </a:defRPr>
            </a:pPr>
            <a:r>
              <a:rPr sz="3750" b="1">
                <a:solidFill>
                  <a:srgbClr val="243A50"/>
                </a:solidFill>
                <a:latin typeface="Helvetica Neue"/>
                <a:ea typeface="Helvetica Neue"/>
                <a:cs typeface="Helvetica Neue"/>
              </a:rPr>
              <a:t>99.73%</a:t>
            </a:r>
          </a:p>
        </p:txBody>
      </p:sp>
      <p:sp>
        <p:nvSpPr>
          <p:cNvPr id="8" name="Rectangle 7">
            <a:extLst xmlns:a="http://schemas.openxmlformats.org/drawingml/2006/main">
              <a:ext uri="{FF2B5EF4-FFF2-40B4-BE49-F238E27FC236}">
                <a16:creationId xmlns:a16="http://schemas.microsoft.com/office/drawing/2014/main" id="{10CA7CA4-D940-4C3E-A4AF-B2B25A21FC04}"/>
              </a:ext>
            </a:extLst>
          </p:cNvPr>
          <p:cNvSpPr>
            <a:spLocks xmlns:a="http://schemas.openxmlformats.org/drawingml/2006/main" noGrp="1"/>
          </p:cNvSpPr>
          <p:nvPr/>
        </p:nvSpPr>
        <p:spPr>
          <a:xfrm xmlns:a="http://schemas.openxmlformats.org/drawingml/2006/main">
            <a:off x="8248650" y="2714625"/>
            <a:ext cx="304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held-out accuracy</a:t>
            </a:r>
          </a:p>
        </p:txBody>
      </p:sp>
      <p:sp>
        <p:nvSpPr>
          <p:cNvPr id="9" name="Rectangle 8">
            <a:extLst xmlns:a="http://schemas.openxmlformats.org/drawingml/2006/main">
              <a:ext uri="{FF2B5EF4-FFF2-40B4-BE49-F238E27FC236}">
                <a16:creationId xmlns:a16="http://schemas.microsoft.com/office/drawing/2014/main" id="{236D466B-79E6-402F-9097-BAAD73310D78}"/>
              </a:ext>
            </a:extLst>
          </p:cNvPr>
          <p:cNvSpPr>
            <a:spLocks xmlns:a="http://schemas.openxmlformats.org/drawingml/2006/main" noGrp="1"/>
          </p:cNvSpPr>
          <p:nvPr/>
        </p:nvSpPr>
        <p:spPr>
          <a:xfrm xmlns:a="http://schemas.openxmlformats.org/drawingml/2006/main">
            <a:off x="8248650" y="3524250"/>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3750" b="1">
                <a:solidFill>
                  <a:srgbClr val="64877F"/>
                </a:solidFill>
                <a:latin typeface="Helvetica Neue"/>
                <a:ea typeface="Helvetica Neue"/>
                <a:cs typeface="Helvetica Neue"/>
              </a:defRPr>
            </a:defPPr>
            <a:lvl1pPr algn="l">
              <a:buNone/>
              <a:defRPr sz="3750" b="1">
                <a:solidFill>
                  <a:srgbClr val="64877F"/>
                </a:solidFill>
                <a:latin typeface="Helvetica Neue"/>
                <a:ea typeface="Helvetica Neue"/>
                <a:cs typeface="Helvetica Neue"/>
              </a:defRPr>
            </a:lvl1pPr>
            <a:lvl2pPr algn="l">
              <a:buNone/>
              <a:defRPr sz="3750" b="1">
                <a:solidFill>
                  <a:srgbClr val="64877F"/>
                </a:solidFill>
                <a:latin typeface="Helvetica Neue"/>
                <a:ea typeface="Helvetica Neue"/>
                <a:cs typeface="Helvetica Neue"/>
              </a:defRPr>
            </a:lvl2pPr>
            <a:lvl3pPr algn="l">
              <a:buNone/>
              <a:defRPr sz="3750" b="1">
                <a:solidFill>
                  <a:srgbClr val="64877F"/>
                </a:solidFill>
                <a:latin typeface="Helvetica Neue"/>
                <a:ea typeface="Helvetica Neue"/>
                <a:cs typeface="Helvetica Neue"/>
              </a:defRPr>
            </a:lvl3pPr>
            <a:lvl4pPr algn="l">
              <a:buNone/>
              <a:defRPr sz="3750" b="1">
                <a:solidFill>
                  <a:srgbClr val="64877F"/>
                </a:solidFill>
                <a:latin typeface="Helvetica Neue"/>
                <a:ea typeface="Helvetica Neue"/>
                <a:cs typeface="Helvetica Neue"/>
              </a:defRPr>
            </a:lvl4pPr>
            <a:lvl5pPr algn="l">
              <a:buNone/>
              <a:defRPr sz="3750" b="1">
                <a:solidFill>
                  <a:srgbClr val="64877F"/>
                </a:solidFill>
                <a:latin typeface="Helvetica Neue"/>
                <a:ea typeface="Helvetica Neue"/>
                <a:cs typeface="Helvetica Neue"/>
              </a:defRPr>
            </a:lvl5pPr>
            <a:lvl6pPr algn="l">
              <a:buNone/>
              <a:defRPr sz="3750" b="1">
                <a:solidFill>
                  <a:srgbClr val="64877F"/>
                </a:solidFill>
                <a:latin typeface="Helvetica Neue"/>
                <a:ea typeface="Helvetica Neue"/>
                <a:cs typeface="Helvetica Neue"/>
              </a:defRPr>
            </a:lvl6pPr>
            <a:lvl7pPr algn="l">
              <a:buNone/>
              <a:defRPr sz="3750" b="1">
                <a:solidFill>
                  <a:srgbClr val="64877F"/>
                </a:solidFill>
                <a:latin typeface="Helvetica Neue"/>
                <a:ea typeface="Helvetica Neue"/>
                <a:cs typeface="Helvetica Neue"/>
              </a:defRPr>
            </a:lvl7pPr>
            <a:lvl8pPr algn="l">
              <a:buNone/>
              <a:defRPr sz="3750" b="1">
                <a:solidFill>
                  <a:srgbClr val="64877F"/>
                </a:solidFill>
                <a:latin typeface="Helvetica Neue"/>
                <a:ea typeface="Helvetica Neue"/>
                <a:cs typeface="Helvetica Neue"/>
              </a:defRPr>
            </a:lvl8pPr>
            <a:lvl9pPr algn="l">
              <a:buNone/>
              <a:defRPr sz="3750" b="1">
                <a:solidFill>
                  <a:srgbClr val="64877F"/>
                </a:solidFill>
                <a:latin typeface="Helvetica Neue"/>
                <a:ea typeface="Helvetica Neue"/>
                <a:cs typeface="Helvetica Neue"/>
              </a:defRPr>
            </a:lvl9pPr>
          </a:lstStyle>
          <a:p xmlns:a="http://schemas.openxmlformats.org/drawingml/2006/main">
            <a:pPr algn="l">
              <a:buNone/>
              <a:defRPr sz="3750" b="1">
                <a:solidFill>
                  <a:srgbClr val="64877F"/>
                </a:solidFill>
                <a:latin typeface="Helvetica Neue"/>
                <a:ea typeface="Helvetica Neue"/>
                <a:cs typeface="Helvetica Neue"/>
              </a:defRPr>
            </a:pPr>
            <a:r>
              <a:rPr sz="3750" b="1">
                <a:solidFill>
                  <a:srgbClr val="64877F"/>
                </a:solidFill>
                <a:latin typeface="Helvetica Neue"/>
                <a:ea typeface="Helvetica Neue"/>
                <a:cs typeface="Helvetica Neue"/>
              </a:rPr>
              <a:t>99.71%</a:t>
            </a:r>
          </a:p>
        </p:txBody>
      </p:sp>
      <p:sp>
        <p:nvSpPr>
          <p:cNvPr id="10" name="Rectangle 9">
            <a:extLst xmlns:a="http://schemas.openxmlformats.org/drawingml/2006/main">
              <a:ext uri="{FF2B5EF4-FFF2-40B4-BE49-F238E27FC236}">
                <a16:creationId xmlns:a16="http://schemas.microsoft.com/office/drawing/2014/main" id="{C452AFDC-9763-4073-B680-EB43207AEB40}"/>
              </a:ext>
            </a:extLst>
          </p:cNvPr>
          <p:cNvSpPr>
            <a:spLocks xmlns:a="http://schemas.openxmlformats.org/drawingml/2006/main" noGrp="1"/>
          </p:cNvSpPr>
          <p:nvPr/>
        </p:nvSpPr>
        <p:spPr>
          <a:xfrm xmlns:a="http://schemas.openxmlformats.org/drawingml/2006/main">
            <a:off x="8248650" y="4191000"/>
            <a:ext cx="304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held-out macro F1</a:t>
            </a:r>
          </a:p>
        </p:txBody>
      </p:sp>
      <p:sp>
        <p:nvSpPr>
          <p:cNvPr id="11" name="Rectangle 10">
            <a:extLst xmlns:a="http://schemas.openxmlformats.org/drawingml/2006/main">
              <a:ext uri="{FF2B5EF4-FFF2-40B4-BE49-F238E27FC236}">
                <a16:creationId xmlns:a16="http://schemas.microsoft.com/office/drawing/2014/main" id="{EE7C2DE9-C7F0-4CFF-BAB3-A8325A4FDE52}"/>
              </a:ext>
            </a:extLst>
          </p:cNvPr>
          <p:cNvSpPr>
            <a:spLocks xmlns:a="http://schemas.openxmlformats.org/drawingml/2006/main" noGrp="1"/>
          </p:cNvSpPr>
          <p:nvPr/>
        </p:nvSpPr>
        <p:spPr>
          <a:xfrm xmlns:a="http://schemas.openxmlformats.org/drawingml/2006/main">
            <a:off x="8277225" y="5095875"/>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650" b="1">
                <a:solidFill>
                  <a:srgbClr val="33485D"/>
                </a:solidFill>
                <a:latin typeface="Helvetica Neue"/>
                <a:ea typeface="Helvetica Neue"/>
                <a:cs typeface="Helvetica Neue"/>
              </a:defRPr>
            </a:defPPr>
            <a:lvl1pPr algn="l">
              <a:buNone/>
              <a:defRPr sz="1650" b="1">
                <a:solidFill>
                  <a:srgbClr val="33485D"/>
                </a:solidFill>
                <a:latin typeface="Helvetica Neue"/>
                <a:ea typeface="Helvetica Neue"/>
                <a:cs typeface="Helvetica Neue"/>
              </a:defRPr>
            </a:lvl1pPr>
            <a:lvl2pPr algn="l">
              <a:buNone/>
              <a:defRPr sz="1650" b="1">
                <a:solidFill>
                  <a:srgbClr val="33485D"/>
                </a:solidFill>
                <a:latin typeface="Helvetica Neue"/>
                <a:ea typeface="Helvetica Neue"/>
                <a:cs typeface="Helvetica Neue"/>
              </a:defRPr>
            </a:lvl2pPr>
            <a:lvl3pPr algn="l">
              <a:buNone/>
              <a:defRPr sz="1650" b="1">
                <a:solidFill>
                  <a:srgbClr val="33485D"/>
                </a:solidFill>
                <a:latin typeface="Helvetica Neue"/>
                <a:ea typeface="Helvetica Neue"/>
                <a:cs typeface="Helvetica Neue"/>
              </a:defRPr>
            </a:lvl3pPr>
            <a:lvl4pPr algn="l">
              <a:buNone/>
              <a:defRPr sz="1650" b="1">
                <a:solidFill>
                  <a:srgbClr val="33485D"/>
                </a:solidFill>
                <a:latin typeface="Helvetica Neue"/>
                <a:ea typeface="Helvetica Neue"/>
                <a:cs typeface="Helvetica Neue"/>
              </a:defRPr>
            </a:lvl4pPr>
            <a:lvl5pPr algn="l">
              <a:buNone/>
              <a:defRPr sz="1650" b="1">
                <a:solidFill>
                  <a:srgbClr val="33485D"/>
                </a:solidFill>
                <a:latin typeface="Helvetica Neue"/>
                <a:ea typeface="Helvetica Neue"/>
                <a:cs typeface="Helvetica Neue"/>
              </a:defRPr>
            </a:lvl5pPr>
            <a:lvl6pPr algn="l">
              <a:buNone/>
              <a:defRPr sz="1650" b="1">
                <a:solidFill>
                  <a:srgbClr val="33485D"/>
                </a:solidFill>
                <a:latin typeface="Helvetica Neue"/>
                <a:ea typeface="Helvetica Neue"/>
                <a:cs typeface="Helvetica Neue"/>
              </a:defRPr>
            </a:lvl6pPr>
            <a:lvl7pPr algn="l">
              <a:buNone/>
              <a:defRPr sz="1650" b="1">
                <a:solidFill>
                  <a:srgbClr val="33485D"/>
                </a:solidFill>
                <a:latin typeface="Helvetica Neue"/>
                <a:ea typeface="Helvetica Neue"/>
                <a:cs typeface="Helvetica Neue"/>
              </a:defRPr>
            </a:lvl7pPr>
            <a:lvl8pPr algn="l">
              <a:buNone/>
              <a:defRPr sz="1650" b="1">
                <a:solidFill>
                  <a:srgbClr val="33485D"/>
                </a:solidFill>
                <a:latin typeface="Helvetica Neue"/>
                <a:ea typeface="Helvetica Neue"/>
                <a:cs typeface="Helvetica Neue"/>
              </a:defRPr>
            </a:lvl8pPr>
            <a:lvl9pPr algn="l">
              <a:buNone/>
              <a:defRPr sz="1650" b="1">
                <a:solidFill>
                  <a:srgbClr val="33485D"/>
                </a:solidFill>
                <a:latin typeface="Helvetica Neue"/>
                <a:ea typeface="Helvetica Neue"/>
                <a:cs typeface="Helvetica Neue"/>
              </a:defRPr>
            </a:lvl9pPr>
          </a:lstStyle>
          <a:p xmlns:a="http://schemas.openxmlformats.org/drawingml/2006/main">
            <a:pPr algn="l">
              <a:buNone/>
              <a:defRPr sz="1650" b="1">
                <a:solidFill>
                  <a:srgbClr val="33485D"/>
                </a:solidFill>
                <a:latin typeface="Helvetica Neue"/>
                <a:ea typeface="Helvetica Neue"/>
                <a:cs typeface="Helvetica Neue"/>
              </a:defRPr>
            </a:pPr>
            <a:r>
              <a:rPr sz="1650" b="1">
                <a:solidFill>
                  <a:srgbClr val="33485D"/>
                </a:solidFill>
                <a:latin typeface="Helvetica Neue"/>
                <a:ea typeface="Helvetica Neue"/>
                <a:cs typeface="Helvetica Neue"/>
              </a:rPr>
              <a:t>1,108 / 1,111 correct</a:t>
            </a:r>
          </a:p>
        </p:txBody>
      </p:sp>
    </p:spTree>
    <p:extLst>
      <p:ext uri="{BB962C8B-B14F-4D97-AF65-F5344CB8AC3E}">
        <p14:creationId xmlns:p14="http://schemas.microsoft.com/office/powerpoint/2010/main" val="2138506941"/>
      </p:ext>
    </p:extLst>
  </p:cSld>
</p:sld>
</file>

<file path=ppt/slides/slide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73F22BC3-89B8-4260-9294-5EDA96BD1BDD}"/>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C7DBD1"/>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7D725688-F717-4C3F-ACBA-39A741B6465F}"/>
              </a:ext>
            </a:extLst>
          </p:cNvPr>
          <p:cNvSpPr>
            <a:spLocks xmlns:a="http://schemas.openxmlformats.org/drawingml/2006/main" noGrp="1"/>
          </p:cNvSpPr>
          <p:nvPr/>
        </p:nvSpPr>
        <p:spPr>
          <a:xfrm xmlns:a="http://schemas.openxmlformats.org/drawingml/2006/main">
            <a:off x="609600" y="37147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625" b="1">
                <a:solidFill>
                  <a:srgbClr val="243A50"/>
                </a:solidFill>
                <a:latin typeface="Helvetica Neue"/>
                <a:ea typeface="Helvetica Neue"/>
                <a:cs typeface="Helvetica Neue"/>
              </a:defRPr>
            </a:defPPr>
            <a:lvl1pPr algn="l">
              <a:buNone/>
              <a:defRPr sz="2625" b="1">
                <a:solidFill>
                  <a:srgbClr val="243A50"/>
                </a:solidFill>
                <a:latin typeface="Helvetica Neue"/>
                <a:ea typeface="Helvetica Neue"/>
                <a:cs typeface="Helvetica Neue"/>
              </a:defRPr>
            </a:lvl1pPr>
            <a:lvl2pPr algn="l">
              <a:buNone/>
              <a:defRPr sz="2625" b="1">
                <a:solidFill>
                  <a:srgbClr val="243A50"/>
                </a:solidFill>
                <a:latin typeface="Helvetica Neue"/>
                <a:ea typeface="Helvetica Neue"/>
                <a:cs typeface="Helvetica Neue"/>
              </a:defRPr>
            </a:lvl2pPr>
            <a:lvl3pPr algn="l">
              <a:buNone/>
              <a:defRPr sz="2625" b="1">
                <a:solidFill>
                  <a:srgbClr val="243A50"/>
                </a:solidFill>
                <a:latin typeface="Helvetica Neue"/>
                <a:ea typeface="Helvetica Neue"/>
                <a:cs typeface="Helvetica Neue"/>
              </a:defRPr>
            </a:lvl3pPr>
            <a:lvl4pPr algn="l">
              <a:buNone/>
              <a:defRPr sz="2625" b="1">
                <a:solidFill>
                  <a:srgbClr val="243A50"/>
                </a:solidFill>
                <a:latin typeface="Helvetica Neue"/>
                <a:ea typeface="Helvetica Neue"/>
                <a:cs typeface="Helvetica Neue"/>
              </a:defRPr>
            </a:lvl4pPr>
            <a:lvl5pPr algn="l">
              <a:buNone/>
              <a:defRPr sz="2625" b="1">
                <a:solidFill>
                  <a:srgbClr val="243A50"/>
                </a:solidFill>
                <a:latin typeface="Helvetica Neue"/>
                <a:ea typeface="Helvetica Neue"/>
                <a:cs typeface="Helvetica Neue"/>
              </a:defRPr>
            </a:lvl5pPr>
            <a:lvl6pPr algn="l">
              <a:buNone/>
              <a:defRPr sz="2625" b="1">
                <a:solidFill>
                  <a:srgbClr val="243A50"/>
                </a:solidFill>
                <a:latin typeface="Helvetica Neue"/>
                <a:ea typeface="Helvetica Neue"/>
                <a:cs typeface="Helvetica Neue"/>
              </a:defRPr>
            </a:lvl6pPr>
            <a:lvl7pPr algn="l">
              <a:buNone/>
              <a:defRPr sz="2625" b="1">
                <a:solidFill>
                  <a:srgbClr val="243A50"/>
                </a:solidFill>
                <a:latin typeface="Helvetica Neue"/>
                <a:ea typeface="Helvetica Neue"/>
                <a:cs typeface="Helvetica Neue"/>
              </a:defRPr>
            </a:lvl7pPr>
            <a:lvl8pPr algn="l">
              <a:buNone/>
              <a:defRPr sz="2625" b="1">
                <a:solidFill>
                  <a:srgbClr val="243A50"/>
                </a:solidFill>
                <a:latin typeface="Helvetica Neue"/>
                <a:ea typeface="Helvetica Neue"/>
                <a:cs typeface="Helvetica Neue"/>
              </a:defRPr>
            </a:lvl8pPr>
            <a:lvl9pPr algn="l">
              <a:buNone/>
              <a:defRPr sz="2625" b="1">
                <a:solidFill>
                  <a:srgbClr val="243A50"/>
                </a:solidFill>
                <a:latin typeface="Helvetica Neue"/>
                <a:ea typeface="Helvetica Neue"/>
                <a:cs typeface="Helvetica Neue"/>
              </a:defRPr>
            </a:lvl9pPr>
          </a:lstStyle>
          <a:p xmlns:a="http://schemas.openxmlformats.org/drawingml/2006/main">
            <a:pPr algn="l">
              <a:buNone/>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2 · Reading the building matrix</a:t>
            </a:r>
          </a:p>
        </p:txBody>
      </p:sp>
      <p:sp>
        <p:nvSpPr>
          <p:cNvPr id="3" name="Rectangle 2">
            <a:extLst xmlns:a="http://schemas.openxmlformats.org/drawingml/2006/main">
              <a:ext uri="{FF2B5EF4-FFF2-40B4-BE49-F238E27FC236}">
                <a16:creationId xmlns:a16="http://schemas.microsoft.com/office/drawing/2014/main" id="{2ADCA2C0-2E06-449A-BFD4-BA2587C5F963}"/>
              </a:ext>
            </a:extLst>
          </p:cNvPr>
          <p:cNvSpPr>
            <a:spLocks xmlns:a="http://schemas.openxmlformats.org/drawingml/2006/main" noGrp="1"/>
          </p:cNvSpPr>
          <p:nvPr/>
        </p:nvSpPr>
        <p:spPr>
          <a:xfrm xmlns:a="http://schemas.openxmlformats.org/drawingml/2006/main">
            <a:off x="628650" y="904875"/>
            <a:ext cx="10839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The confusion matrix shows three errors, each involving a neighboring building code.</a:t>
            </a:r>
          </a:p>
        </p:txBody>
      </p:sp>
      <p:sp>
        <p:nvSpPr>
          <p:cNvPr id="4" name="Straight Connector 3">
            <a:extLst xmlns:a="http://schemas.openxmlformats.org/drawingml/2006/main">
              <a:ext uri="{FF2B5EF4-FFF2-40B4-BE49-F238E27FC236}">
                <a16:creationId xmlns:a16="http://schemas.microsoft.com/office/drawing/2014/main" id="{9187E60D-D091-4A31-8C4B-2F56A98C6444}"/>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BD5DA"/>
            </a:solidFill>
            <a:prstDash val="solid"/>
          </a:ln>
        </p:spPr>
      </p:sp>
      <p:sp>
        <p:nvSpPr>
          <p:cNvPr id="5" name="Rectangle 4">
            <a:extLst xmlns:a="http://schemas.openxmlformats.org/drawingml/2006/main">
              <a:ext uri="{FF2B5EF4-FFF2-40B4-BE49-F238E27FC236}">
                <a16:creationId xmlns:a16="http://schemas.microsoft.com/office/drawing/2014/main" id="{68CE5DCD-B883-4A61-ADB9-EDEF305F9345}"/>
              </a:ext>
            </a:extLst>
          </p:cNvPr>
          <p:cNvSpPr>
            <a:spLocks xmlns:a="http://schemas.openxmlformats.org/drawingml/2006/main" noGrp="1"/>
          </p:cNvSpPr>
          <p:nvPr/>
        </p:nvSpPr>
        <p:spPr>
          <a:xfrm xmlns:a="http://schemas.openxmlformats.org/drawingml/2006/main">
            <a:off x="609600" y="64770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900" b="0">
                <a:solidFill>
                  <a:srgbClr val="63788A"/>
                </a:solidFill>
                <a:latin typeface="Helvetica Neue"/>
                <a:ea typeface="Helvetica Neue"/>
                <a:cs typeface="Helvetica Neue"/>
              </a:defRPr>
            </a:defPPr>
            <a:lvl1pPr algn="r">
              <a:buNone/>
              <a:defRPr sz="900" b="0">
                <a:solidFill>
                  <a:srgbClr val="63788A"/>
                </a:solidFill>
                <a:latin typeface="Helvetica Neue"/>
                <a:ea typeface="Helvetica Neue"/>
                <a:cs typeface="Helvetica Neue"/>
              </a:defRPr>
            </a:lvl1pPr>
            <a:lvl2pPr algn="r">
              <a:buNone/>
              <a:defRPr sz="900" b="0">
                <a:solidFill>
                  <a:srgbClr val="63788A"/>
                </a:solidFill>
                <a:latin typeface="Helvetica Neue"/>
                <a:ea typeface="Helvetica Neue"/>
                <a:cs typeface="Helvetica Neue"/>
              </a:defRPr>
            </a:lvl2pPr>
            <a:lvl3pPr algn="r">
              <a:buNone/>
              <a:defRPr sz="900" b="0">
                <a:solidFill>
                  <a:srgbClr val="63788A"/>
                </a:solidFill>
                <a:latin typeface="Helvetica Neue"/>
                <a:ea typeface="Helvetica Neue"/>
                <a:cs typeface="Helvetica Neue"/>
              </a:defRPr>
            </a:lvl3pPr>
            <a:lvl4pPr algn="r">
              <a:buNone/>
              <a:defRPr sz="900" b="0">
                <a:solidFill>
                  <a:srgbClr val="63788A"/>
                </a:solidFill>
                <a:latin typeface="Helvetica Neue"/>
                <a:ea typeface="Helvetica Neue"/>
                <a:cs typeface="Helvetica Neue"/>
              </a:defRPr>
            </a:lvl4pPr>
            <a:lvl5pPr algn="r">
              <a:buNone/>
              <a:defRPr sz="900" b="0">
                <a:solidFill>
                  <a:srgbClr val="63788A"/>
                </a:solidFill>
                <a:latin typeface="Helvetica Neue"/>
                <a:ea typeface="Helvetica Neue"/>
                <a:cs typeface="Helvetica Neue"/>
              </a:defRPr>
            </a:lvl5pPr>
            <a:lvl6pPr algn="r">
              <a:buNone/>
              <a:defRPr sz="900" b="0">
                <a:solidFill>
                  <a:srgbClr val="63788A"/>
                </a:solidFill>
                <a:latin typeface="Helvetica Neue"/>
                <a:ea typeface="Helvetica Neue"/>
                <a:cs typeface="Helvetica Neue"/>
              </a:defRPr>
            </a:lvl6pPr>
            <a:lvl7pPr algn="r">
              <a:buNone/>
              <a:defRPr sz="900" b="0">
                <a:solidFill>
                  <a:srgbClr val="63788A"/>
                </a:solidFill>
                <a:latin typeface="Helvetica Neue"/>
                <a:ea typeface="Helvetica Neue"/>
                <a:cs typeface="Helvetica Neue"/>
              </a:defRPr>
            </a:lvl7pPr>
            <a:lvl8pPr algn="r">
              <a:buNone/>
              <a:defRPr sz="900" b="0">
                <a:solidFill>
                  <a:srgbClr val="63788A"/>
                </a:solidFill>
                <a:latin typeface="Helvetica Neue"/>
                <a:ea typeface="Helvetica Neue"/>
                <a:cs typeface="Helvetica Neue"/>
              </a:defRPr>
            </a:lvl8pPr>
            <a:lvl9pPr algn="r">
              <a:buNone/>
              <a:defRPr sz="900" b="0">
                <a:solidFill>
                  <a:srgbClr val="63788A"/>
                </a:solidFill>
                <a:latin typeface="Helvetica Neue"/>
                <a:ea typeface="Helvetica Neue"/>
                <a:cs typeface="Helvetica Neue"/>
              </a:defRPr>
            </a:lvl9pPr>
          </a:lstStyle>
          <a:p xmlns:a="http://schemas.openxmlformats.org/drawingml/2006/main">
            <a:pPr algn="r">
              <a:buNone/>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09</a:t>
            </a:r>
          </a:p>
        </p:txBody>
      </p:sp>
      <p:pic>
        <p:nvPicPr>
          <p:cNvPr id="6" name="Picture 5">
            <a:extLst xmlns:a="http://schemas.openxmlformats.org/drawingml/2006/main">
              <a:ext uri="{FF2B5EF4-FFF2-40B4-BE49-F238E27FC236}">
                <a16:creationId xmlns:a16="http://schemas.microsoft.com/office/drawing/2014/main" id="{5BC4D951-B4A9-4A80-AAEB-471A2B7E4483}"/>
              </a:ext>
            </a:extLst>
          </p:cNvPr>
          <p:cNvPicPr>
            <a:picLocks xmlns:a="http://schemas.openxmlformats.org/drawingml/2006/main" noChangeAspect="1"/>
          </p:cNvPicPr>
          <p:nvPr/>
        </p:nvPicPr>
        <p:blipFill>
          <a:blip xmlns:r="http://schemas.openxmlformats.org/officeDocument/2006/relationships" xmlns:a="http://schemas.openxmlformats.org/drawingml/2006/main" r:embed="Rdd9d0d642a2e440a"/>
          <a:stretch xmlns:a="http://schemas.openxmlformats.org/drawingml/2006/main"/>
        </p:blipFill>
        <p:spPr>
          <a:xfrm xmlns:a="http://schemas.openxmlformats.org/drawingml/2006/main">
            <a:off x="600075" y="2220758"/>
            <a:ext cx="6524625" cy="2683183"/>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B8C0A345-A853-420B-8244-1F2F4268386A}"/>
              </a:ext>
            </a:extLst>
          </p:cNvPr>
          <p:cNvSpPr>
            <a:spLocks xmlns:a="http://schemas.openxmlformats.org/drawingml/2006/main" noGrp="1"/>
          </p:cNvSpPr>
          <p:nvPr/>
        </p:nvSpPr>
        <p:spPr>
          <a:xfrm xmlns:a="http://schemas.openxmlformats.org/drawingml/2006/main">
            <a:off x="7620000" y="1981200"/>
            <a:ext cx="209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650" b="1">
                <a:solidFill>
                  <a:srgbClr val="64877F"/>
                </a:solidFill>
                <a:latin typeface="Helvetica Neue"/>
                <a:ea typeface="Helvetica Neue"/>
                <a:cs typeface="Helvetica Neue"/>
              </a:defRPr>
            </a:defPPr>
            <a:lvl1pPr algn="l">
              <a:buNone/>
              <a:defRPr sz="1650" b="1">
                <a:solidFill>
                  <a:srgbClr val="64877F"/>
                </a:solidFill>
                <a:latin typeface="Helvetica Neue"/>
                <a:ea typeface="Helvetica Neue"/>
                <a:cs typeface="Helvetica Neue"/>
              </a:defRPr>
            </a:lvl1pPr>
            <a:lvl2pPr algn="l">
              <a:buNone/>
              <a:defRPr sz="1650" b="1">
                <a:solidFill>
                  <a:srgbClr val="64877F"/>
                </a:solidFill>
                <a:latin typeface="Helvetica Neue"/>
                <a:ea typeface="Helvetica Neue"/>
                <a:cs typeface="Helvetica Neue"/>
              </a:defRPr>
            </a:lvl2pPr>
            <a:lvl3pPr algn="l">
              <a:buNone/>
              <a:defRPr sz="1650" b="1">
                <a:solidFill>
                  <a:srgbClr val="64877F"/>
                </a:solidFill>
                <a:latin typeface="Helvetica Neue"/>
                <a:ea typeface="Helvetica Neue"/>
                <a:cs typeface="Helvetica Neue"/>
              </a:defRPr>
            </a:lvl3pPr>
            <a:lvl4pPr algn="l">
              <a:buNone/>
              <a:defRPr sz="1650" b="1">
                <a:solidFill>
                  <a:srgbClr val="64877F"/>
                </a:solidFill>
                <a:latin typeface="Helvetica Neue"/>
                <a:ea typeface="Helvetica Neue"/>
                <a:cs typeface="Helvetica Neue"/>
              </a:defRPr>
            </a:lvl4pPr>
            <a:lvl5pPr algn="l">
              <a:buNone/>
              <a:defRPr sz="1650" b="1">
                <a:solidFill>
                  <a:srgbClr val="64877F"/>
                </a:solidFill>
                <a:latin typeface="Helvetica Neue"/>
                <a:ea typeface="Helvetica Neue"/>
                <a:cs typeface="Helvetica Neue"/>
              </a:defRPr>
            </a:lvl5pPr>
            <a:lvl6pPr algn="l">
              <a:buNone/>
              <a:defRPr sz="1650" b="1">
                <a:solidFill>
                  <a:srgbClr val="64877F"/>
                </a:solidFill>
                <a:latin typeface="Helvetica Neue"/>
                <a:ea typeface="Helvetica Neue"/>
                <a:cs typeface="Helvetica Neue"/>
              </a:defRPr>
            </a:lvl6pPr>
            <a:lvl7pPr algn="l">
              <a:buNone/>
              <a:defRPr sz="1650" b="1">
                <a:solidFill>
                  <a:srgbClr val="64877F"/>
                </a:solidFill>
                <a:latin typeface="Helvetica Neue"/>
                <a:ea typeface="Helvetica Neue"/>
                <a:cs typeface="Helvetica Neue"/>
              </a:defRPr>
            </a:lvl7pPr>
            <a:lvl8pPr algn="l">
              <a:buNone/>
              <a:defRPr sz="1650" b="1">
                <a:solidFill>
                  <a:srgbClr val="64877F"/>
                </a:solidFill>
                <a:latin typeface="Helvetica Neue"/>
                <a:ea typeface="Helvetica Neue"/>
                <a:cs typeface="Helvetica Neue"/>
              </a:defRPr>
            </a:lvl8pPr>
            <a:lvl9pPr algn="l">
              <a:buNone/>
              <a:defRPr sz="1650" b="1">
                <a:solidFill>
                  <a:srgbClr val="64877F"/>
                </a:solidFill>
                <a:latin typeface="Helvetica Neue"/>
                <a:ea typeface="Helvetica Neue"/>
                <a:cs typeface="Helvetica Neue"/>
              </a:defRPr>
            </a:lvl9pPr>
          </a:lstStyle>
          <a:p xmlns:a="http://schemas.openxmlformats.org/drawingml/2006/main">
            <a:pPr algn="l">
              <a:buNone/>
              <a:defRPr sz="1650" b="1">
                <a:solidFill>
                  <a:srgbClr val="64877F"/>
                </a:solidFill>
                <a:latin typeface="Helvetica Neue"/>
                <a:ea typeface="Helvetica Neue"/>
                <a:cs typeface="Helvetica Neue"/>
              </a:defRPr>
            </a:pPr>
            <a:r>
              <a:rPr sz="1650" b="1">
                <a:solidFill>
                  <a:srgbClr val="64877F"/>
                </a:solidFill>
                <a:latin typeface="Helvetica Neue"/>
                <a:ea typeface="Helvetica Neue"/>
                <a:cs typeface="Helvetica Neue"/>
              </a:rPr>
              <a:t>•</a:t>
            </a:r>
          </a:p>
        </p:txBody>
      </p:sp>
      <p:sp>
        <p:nvSpPr>
          <p:cNvPr id="8" name="Rectangle 7">
            <a:extLst xmlns:a="http://schemas.openxmlformats.org/drawingml/2006/main">
              <a:ext uri="{FF2B5EF4-FFF2-40B4-BE49-F238E27FC236}">
                <a16:creationId xmlns:a16="http://schemas.microsoft.com/office/drawing/2014/main" id="{05C0A5DC-26FB-454B-BB2B-AEEB4DCA47E7}"/>
              </a:ext>
            </a:extLst>
          </p:cNvPr>
          <p:cNvSpPr>
            <a:spLocks xmlns:a="http://schemas.openxmlformats.org/drawingml/2006/main" noGrp="1"/>
          </p:cNvSpPr>
          <p:nvPr/>
        </p:nvSpPr>
        <p:spPr>
          <a:xfrm xmlns:a="http://schemas.openxmlformats.org/drawingml/2006/main">
            <a:off x="7886700" y="1981200"/>
            <a:ext cx="3448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425" b="1">
                <a:solidFill>
                  <a:srgbClr val="243A50"/>
                </a:solidFill>
                <a:latin typeface="Helvetica Neue"/>
                <a:ea typeface="Helvetica Neue"/>
                <a:cs typeface="Helvetica Neue"/>
              </a:defRPr>
            </a:defPPr>
            <a:lvl1pPr algn="l">
              <a:buNone/>
              <a:defRPr sz="1425" b="1">
                <a:solidFill>
                  <a:srgbClr val="243A50"/>
                </a:solidFill>
                <a:latin typeface="Helvetica Neue"/>
                <a:ea typeface="Helvetica Neue"/>
                <a:cs typeface="Helvetica Neue"/>
              </a:defRPr>
            </a:lvl1pPr>
            <a:lvl2pPr algn="l">
              <a:buNone/>
              <a:defRPr sz="1425" b="1">
                <a:solidFill>
                  <a:srgbClr val="243A50"/>
                </a:solidFill>
                <a:latin typeface="Helvetica Neue"/>
                <a:ea typeface="Helvetica Neue"/>
                <a:cs typeface="Helvetica Neue"/>
              </a:defRPr>
            </a:lvl2pPr>
            <a:lvl3pPr algn="l">
              <a:buNone/>
              <a:defRPr sz="1425" b="1">
                <a:solidFill>
                  <a:srgbClr val="243A50"/>
                </a:solidFill>
                <a:latin typeface="Helvetica Neue"/>
                <a:ea typeface="Helvetica Neue"/>
                <a:cs typeface="Helvetica Neue"/>
              </a:defRPr>
            </a:lvl3pPr>
            <a:lvl4pPr algn="l">
              <a:buNone/>
              <a:defRPr sz="1425" b="1">
                <a:solidFill>
                  <a:srgbClr val="243A50"/>
                </a:solidFill>
                <a:latin typeface="Helvetica Neue"/>
                <a:ea typeface="Helvetica Neue"/>
                <a:cs typeface="Helvetica Neue"/>
              </a:defRPr>
            </a:lvl4pPr>
            <a:lvl5pPr algn="l">
              <a:buNone/>
              <a:defRPr sz="1425" b="1">
                <a:solidFill>
                  <a:srgbClr val="243A50"/>
                </a:solidFill>
                <a:latin typeface="Helvetica Neue"/>
                <a:ea typeface="Helvetica Neue"/>
                <a:cs typeface="Helvetica Neue"/>
              </a:defRPr>
            </a:lvl5pPr>
            <a:lvl6pPr algn="l">
              <a:buNone/>
              <a:defRPr sz="1425" b="1">
                <a:solidFill>
                  <a:srgbClr val="243A50"/>
                </a:solidFill>
                <a:latin typeface="Helvetica Neue"/>
                <a:ea typeface="Helvetica Neue"/>
                <a:cs typeface="Helvetica Neue"/>
              </a:defRPr>
            </a:lvl6pPr>
            <a:lvl7pPr algn="l">
              <a:buNone/>
              <a:defRPr sz="1425" b="1">
                <a:solidFill>
                  <a:srgbClr val="243A50"/>
                </a:solidFill>
                <a:latin typeface="Helvetica Neue"/>
                <a:ea typeface="Helvetica Neue"/>
                <a:cs typeface="Helvetica Neue"/>
              </a:defRPr>
            </a:lvl7pPr>
            <a:lvl8pPr algn="l">
              <a:buNone/>
              <a:defRPr sz="1425" b="1">
                <a:solidFill>
                  <a:srgbClr val="243A50"/>
                </a:solidFill>
                <a:latin typeface="Helvetica Neue"/>
                <a:ea typeface="Helvetica Neue"/>
                <a:cs typeface="Helvetica Neue"/>
              </a:defRPr>
            </a:lvl8pPr>
            <a:lvl9pPr algn="l">
              <a:buNone/>
              <a:defRPr sz="1425" b="1">
                <a:solidFill>
                  <a:srgbClr val="243A50"/>
                </a:solidFill>
                <a:latin typeface="Helvetica Neue"/>
                <a:ea typeface="Helvetica Neue"/>
                <a:cs typeface="Helvetica Neue"/>
              </a:defRPr>
            </a:lvl9pPr>
          </a:lstStyle>
          <a:p xmlns:a="http://schemas.openxmlformats.org/drawingml/2006/main">
            <a:pPr algn="l">
              <a:buNone/>
              <a:defRPr sz="1425" b="1">
                <a:solidFill>
                  <a:srgbClr val="243A50"/>
                </a:solidFill>
                <a:latin typeface="Helvetica Neue"/>
                <a:ea typeface="Helvetica Neue"/>
                <a:cs typeface="Helvetica Neue"/>
              </a:defRPr>
            </a:pPr>
            <a:r>
              <a:rPr sz="1425" b="1">
                <a:solidFill>
                  <a:srgbClr val="243A50"/>
                </a:solidFill>
                <a:latin typeface="Helvetica Neue"/>
                <a:ea typeface="Helvetica Neue"/>
                <a:cs typeface="Helvetica Neue"/>
              </a:rPr>
              <a:t>Building 0</a:t>
            </a:r>
          </a:p>
        </p:txBody>
      </p:sp>
      <p:sp>
        <p:nvSpPr>
          <p:cNvPr id="9" name="Rectangle 8">
            <a:extLst xmlns:a="http://schemas.openxmlformats.org/drawingml/2006/main">
              <a:ext uri="{FF2B5EF4-FFF2-40B4-BE49-F238E27FC236}">
                <a16:creationId xmlns:a16="http://schemas.microsoft.com/office/drawing/2014/main" id="{C42F7168-E5CF-4BE4-AA08-7341EF4EE398}"/>
              </a:ext>
            </a:extLst>
          </p:cNvPr>
          <p:cNvSpPr>
            <a:spLocks xmlns:a="http://schemas.openxmlformats.org/drawingml/2006/main" noGrp="1"/>
          </p:cNvSpPr>
          <p:nvPr/>
        </p:nvSpPr>
        <p:spPr>
          <a:xfrm xmlns:a="http://schemas.openxmlformats.org/drawingml/2006/main">
            <a:off x="7886700" y="2266950"/>
            <a:ext cx="3429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00" b="0">
                <a:solidFill>
                  <a:srgbClr val="33485D"/>
                </a:solidFill>
                <a:latin typeface="Helvetica Neue"/>
                <a:ea typeface="Helvetica Neue"/>
                <a:cs typeface="Helvetica Neue"/>
              </a:defRPr>
            </a:defPPr>
            <a:lvl1pPr algn="l">
              <a:buNone/>
              <a:defRPr sz="1200" b="0">
                <a:solidFill>
                  <a:srgbClr val="33485D"/>
                </a:solidFill>
                <a:latin typeface="Helvetica Neue"/>
                <a:ea typeface="Helvetica Neue"/>
                <a:cs typeface="Helvetica Neue"/>
              </a:defRPr>
            </a:lvl1pPr>
            <a:lvl2pPr algn="l">
              <a:buNone/>
              <a:defRPr sz="1200" b="0">
                <a:solidFill>
                  <a:srgbClr val="33485D"/>
                </a:solidFill>
                <a:latin typeface="Helvetica Neue"/>
                <a:ea typeface="Helvetica Neue"/>
                <a:cs typeface="Helvetica Neue"/>
              </a:defRPr>
            </a:lvl2pPr>
            <a:lvl3pPr algn="l">
              <a:buNone/>
              <a:defRPr sz="1200" b="0">
                <a:solidFill>
                  <a:srgbClr val="33485D"/>
                </a:solidFill>
                <a:latin typeface="Helvetica Neue"/>
                <a:ea typeface="Helvetica Neue"/>
                <a:cs typeface="Helvetica Neue"/>
              </a:defRPr>
            </a:lvl3pPr>
            <a:lvl4pPr algn="l">
              <a:buNone/>
              <a:defRPr sz="1200" b="0">
                <a:solidFill>
                  <a:srgbClr val="33485D"/>
                </a:solidFill>
                <a:latin typeface="Helvetica Neue"/>
                <a:ea typeface="Helvetica Neue"/>
                <a:cs typeface="Helvetica Neue"/>
              </a:defRPr>
            </a:lvl4pPr>
            <a:lvl5pPr algn="l">
              <a:buNone/>
              <a:defRPr sz="1200" b="0">
                <a:solidFill>
                  <a:srgbClr val="33485D"/>
                </a:solidFill>
                <a:latin typeface="Helvetica Neue"/>
                <a:ea typeface="Helvetica Neue"/>
                <a:cs typeface="Helvetica Neue"/>
              </a:defRPr>
            </a:lvl5pPr>
            <a:lvl6pPr algn="l">
              <a:buNone/>
              <a:defRPr sz="1200" b="0">
                <a:solidFill>
                  <a:srgbClr val="33485D"/>
                </a:solidFill>
                <a:latin typeface="Helvetica Neue"/>
                <a:ea typeface="Helvetica Neue"/>
                <a:cs typeface="Helvetica Neue"/>
              </a:defRPr>
            </a:lvl6pPr>
            <a:lvl7pPr algn="l">
              <a:buNone/>
              <a:defRPr sz="1200" b="0">
                <a:solidFill>
                  <a:srgbClr val="33485D"/>
                </a:solidFill>
                <a:latin typeface="Helvetica Neue"/>
                <a:ea typeface="Helvetica Neue"/>
                <a:cs typeface="Helvetica Neue"/>
              </a:defRPr>
            </a:lvl7pPr>
            <a:lvl8pPr algn="l">
              <a:buNone/>
              <a:defRPr sz="1200" b="0">
                <a:solidFill>
                  <a:srgbClr val="33485D"/>
                </a:solidFill>
                <a:latin typeface="Helvetica Neue"/>
                <a:ea typeface="Helvetica Neue"/>
                <a:cs typeface="Helvetica Neue"/>
              </a:defRPr>
            </a:lvl8pPr>
            <a:lvl9pPr algn="l">
              <a:buNone/>
              <a:defRPr sz="1200" b="0">
                <a:solidFill>
                  <a:srgbClr val="33485D"/>
                </a:solidFill>
                <a:latin typeface="Helvetica Neue"/>
                <a:ea typeface="Helvetica Neue"/>
                <a:cs typeface="Helvetica Neue"/>
              </a:defRPr>
            </a:lvl9pPr>
          </a:lstStyle>
          <a:p xmlns:a="http://schemas.openxmlformats.org/drawingml/2006/main">
            <a:pPr algn="l">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535 correct · 1 predicted as building 1.</a:t>
            </a:r>
          </a:p>
        </p:txBody>
      </p:sp>
      <p:sp>
        <p:nvSpPr>
          <p:cNvPr id="10" name="Rectangle 9">
            <a:extLst xmlns:a="http://schemas.openxmlformats.org/drawingml/2006/main">
              <a:ext uri="{FF2B5EF4-FFF2-40B4-BE49-F238E27FC236}">
                <a16:creationId xmlns:a16="http://schemas.microsoft.com/office/drawing/2014/main" id="{CFA68D6B-DFE0-4E88-8193-3EF08B91479E}"/>
              </a:ext>
            </a:extLst>
          </p:cNvPr>
          <p:cNvSpPr>
            <a:spLocks xmlns:a="http://schemas.openxmlformats.org/drawingml/2006/main" noGrp="1"/>
          </p:cNvSpPr>
          <p:nvPr/>
        </p:nvSpPr>
        <p:spPr>
          <a:xfrm xmlns:a="http://schemas.openxmlformats.org/drawingml/2006/main">
            <a:off x="7620000" y="3133725"/>
            <a:ext cx="209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650" b="1">
                <a:solidFill>
                  <a:srgbClr val="64877F"/>
                </a:solidFill>
                <a:latin typeface="Helvetica Neue"/>
                <a:ea typeface="Helvetica Neue"/>
                <a:cs typeface="Helvetica Neue"/>
              </a:defRPr>
            </a:defPPr>
            <a:lvl1pPr algn="l">
              <a:buNone/>
              <a:defRPr sz="1650" b="1">
                <a:solidFill>
                  <a:srgbClr val="64877F"/>
                </a:solidFill>
                <a:latin typeface="Helvetica Neue"/>
                <a:ea typeface="Helvetica Neue"/>
                <a:cs typeface="Helvetica Neue"/>
              </a:defRPr>
            </a:lvl1pPr>
            <a:lvl2pPr algn="l">
              <a:buNone/>
              <a:defRPr sz="1650" b="1">
                <a:solidFill>
                  <a:srgbClr val="64877F"/>
                </a:solidFill>
                <a:latin typeface="Helvetica Neue"/>
                <a:ea typeface="Helvetica Neue"/>
                <a:cs typeface="Helvetica Neue"/>
              </a:defRPr>
            </a:lvl2pPr>
            <a:lvl3pPr algn="l">
              <a:buNone/>
              <a:defRPr sz="1650" b="1">
                <a:solidFill>
                  <a:srgbClr val="64877F"/>
                </a:solidFill>
                <a:latin typeface="Helvetica Neue"/>
                <a:ea typeface="Helvetica Neue"/>
                <a:cs typeface="Helvetica Neue"/>
              </a:defRPr>
            </a:lvl3pPr>
            <a:lvl4pPr algn="l">
              <a:buNone/>
              <a:defRPr sz="1650" b="1">
                <a:solidFill>
                  <a:srgbClr val="64877F"/>
                </a:solidFill>
                <a:latin typeface="Helvetica Neue"/>
                <a:ea typeface="Helvetica Neue"/>
                <a:cs typeface="Helvetica Neue"/>
              </a:defRPr>
            </a:lvl4pPr>
            <a:lvl5pPr algn="l">
              <a:buNone/>
              <a:defRPr sz="1650" b="1">
                <a:solidFill>
                  <a:srgbClr val="64877F"/>
                </a:solidFill>
                <a:latin typeface="Helvetica Neue"/>
                <a:ea typeface="Helvetica Neue"/>
                <a:cs typeface="Helvetica Neue"/>
              </a:defRPr>
            </a:lvl5pPr>
            <a:lvl6pPr algn="l">
              <a:buNone/>
              <a:defRPr sz="1650" b="1">
                <a:solidFill>
                  <a:srgbClr val="64877F"/>
                </a:solidFill>
                <a:latin typeface="Helvetica Neue"/>
                <a:ea typeface="Helvetica Neue"/>
                <a:cs typeface="Helvetica Neue"/>
              </a:defRPr>
            </a:lvl6pPr>
            <a:lvl7pPr algn="l">
              <a:buNone/>
              <a:defRPr sz="1650" b="1">
                <a:solidFill>
                  <a:srgbClr val="64877F"/>
                </a:solidFill>
                <a:latin typeface="Helvetica Neue"/>
                <a:ea typeface="Helvetica Neue"/>
                <a:cs typeface="Helvetica Neue"/>
              </a:defRPr>
            </a:lvl7pPr>
            <a:lvl8pPr algn="l">
              <a:buNone/>
              <a:defRPr sz="1650" b="1">
                <a:solidFill>
                  <a:srgbClr val="64877F"/>
                </a:solidFill>
                <a:latin typeface="Helvetica Neue"/>
                <a:ea typeface="Helvetica Neue"/>
                <a:cs typeface="Helvetica Neue"/>
              </a:defRPr>
            </a:lvl8pPr>
            <a:lvl9pPr algn="l">
              <a:buNone/>
              <a:defRPr sz="1650" b="1">
                <a:solidFill>
                  <a:srgbClr val="64877F"/>
                </a:solidFill>
                <a:latin typeface="Helvetica Neue"/>
                <a:ea typeface="Helvetica Neue"/>
                <a:cs typeface="Helvetica Neue"/>
              </a:defRPr>
            </a:lvl9pPr>
          </a:lstStyle>
          <a:p xmlns:a="http://schemas.openxmlformats.org/drawingml/2006/main">
            <a:pPr algn="l">
              <a:buNone/>
              <a:defRPr sz="1650" b="1">
                <a:solidFill>
                  <a:srgbClr val="64877F"/>
                </a:solidFill>
                <a:latin typeface="Helvetica Neue"/>
                <a:ea typeface="Helvetica Neue"/>
                <a:cs typeface="Helvetica Neue"/>
              </a:defRPr>
            </a:pPr>
            <a:r>
              <a:rPr sz="1650" b="1">
                <a:solidFill>
                  <a:srgbClr val="64877F"/>
                </a:solidFill>
                <a:latin typeface="Helvetica Neue"/>
                <a:ea typeface="Helvetica Neue"/>
                <a:cs typeface="Helvetica Neue"/>
              </a:rPr>
              <a:t>•</a:t>
            </a:r>
          </a:p>
        </p:txBody>
      </p:sp>
      <p:sp>
        <p:nvSpPr>
          <p:cNvPr id="11" name="Rectangle 10">
            <a:extLst xmlns:a="http://schemas.openxmlformats.org/drawingml/2006/main">
              <a:ext uri="{FF2B5EF4-FFF2-40B4-BE49-F238E27FC236}">
                <a16:creationId xmlns:a16="http://schemas.microsoft.com/office/drawing/2014/main" id="{5989B7A9-0047-4553-BCE0-194343512A00}"/>
              </a:ext>
            </a:extLst>
          </p:cNvPr>
          <p:cNvSpPr>
            <a:spLocks xmlns:a="http://schemas.openxmlformats.org/drawingml/2006/main" noGrp="1"/>
          </p:cNvSpPr>
          <p:nvPr/>
        </p:nvSpPr>
        <p:spPr>
          <a:xfrm xmlns:a="http://schemas.openxmlformats.org/drawingml/2006/main">
            <a:off x="7886700" y="3133725"/>
            <a:ext cx="3448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425" b="1">
                <a:solidFill>
                  <a:srgbClr val="243A50"/>
                </a:solidFill>
                <a:latin typeface="Helvetica Neue"/>
                <a:ea typeface="Helvetica Neue"/>
                <a:cs typeface="Helvetica Neue"/>
              </a:defRPr>
            </a:defPPr>
            <a:lvl1pPr algn="l">
              <a:buNone/>
              <a:defRPr sz="1425" b="1">
                <a:solidFill>
                  <a:srgbClr val="243A50"/>
                </a:solidFill>
                <a:latin typeface="Helvetica Neue"/>
                <a:ea typeface="Helvetica Neue"/>
                <a:cs typeface="Helvetica Neue"/>
              </a:defRPr>
            </a:lvl1pPr>
            <a:lvl2pPr algn="l">
              <a:buNone/>
              <a:defRPr sz="1425" b="1">
                <a:solidFill>
                  <a:srgbClr val="243A50"/>
                </a:solidFill>
                <a:latin typeface="Helvetica Neue"/>
                <a:ea typeface="Helvetica Neue"/>
                <a:cs typeface="Helvetica Neue"/>
              </a:defRPr>
            </a:lvl2pPr>
            <a:lvl3pPr algn="l">
              <a:buNone/>
              <a:defRPr sz="1425" b="1">
                <a:solidFill>
                  <a:srgbClr val="243A50"/>
                </a:solidFill>
                <a:latin typeface="Helvetica Neue"/>
                <a:ea typeface="Helvetica Neue"/>
                <a:cs typeface="Helvetica Neue"/>
              </a:defRPr>
            </a:lvl3pPr>
            <a:lvl4pPr algn="l">
              <a:buNone/>
              <a:defRPr sz="1425" b="1">
                <a:solidFill>
                  <a:srgbClr val="243A50"/>
                </a:solidFill>
                <a:latin typeface="Helvetica Neue"/>
                <a:ea typeface="Helvetica Neue"/>
                <a:cs typeface="Helvetica Neue"/>
              </a:defRPr>
            </a:lvl4pPr>
            <a:lvl5pPr algn="l">
              <a:buNone/>
              <a:defRPr sz="1425" b="1">
                <a:solidFill>
                  <a:srgbClr val="243A50"/>
                </a:solidFill>
                <a:latin typeface="Helvetica Neue"/>
                <a:ea typeface="Helvetica Neue"/>
                <a:cs typeface="Helvetica Neue"/>
              </a:defRPr>
            </a:lvl5pPr>
            <a:lvl6pPr algn="l">
              <a:buNone/>
              <a:defRPr sz="1425" b="1">
                <a:solidFill>
                  <a:srgbClr val="243A50"/>
                </a:solidFill>
                <a:latin typeface="Helvetica Neue"/>
                <a:ea typeface="Helvetica Neue"/>
                <a:cs typeface="Helvetica Neue"/>
              </a:defRPr>
            </a:lvl6pPr>
            <a:lvl7pPr algn="l">
              <a:buNone/>
              <a:defRPr sz="1425" b="1">
                <a:solidFill>
                  <a:srgbClr val="243A50"/>
                </a:solidFill>
                <a:latin typeface="Helvetica Neue"/>
                <a:ea typeface="Helvetica Neue"/>
                <a:cs typeface="Helvetica Neue"/>
              </a:defRPr>
            </a:lvl7pPr>
            <a:lvl8pPr algn="l">
              <a:buNone/>
              <a:defRPr sz="1425" b="1">
                <a:solidFill>
                  <a:srgbClr val="243A50"/>
                </a:solidFill>
                <a:latin typeface="Helvetica Neue"/>
                <a:ea typeface="Helvetica Neue"/>
                <a:cs typeface="Helvetica Neue"/>
              </a:defRPr>
            </a:lvl8pPr>
            <a:lvl9pPr algn="l">
              <a:buNone/>
              <a:defRPr sz="1425" b="1">
                <a:solidFill>
                  <a:srgbClr val="243A50"/>
                </a:solidFill>
                <a:latin typeface="Helvetica Neue"/>
                <a:ea typeface="Helvetica Neue"/>
                <a:cs typeface="Helvetica Neue"/>
              </a:defRPr>
            </a:lvl9pPr>
          </a:lstStyle>
          <a:p xmlns:a="http://schemas.openxmlformats.org/drawingml/2006/main">
            <a:pPr algn="l">
              <a:buNone/>
              <a:defRPr sz="1425" b="1">
                <a:solidFill>
                  <a:srgbClr val="243A50"/>
                </a:solidFill>
                <a:latin typeface="Helvetica Neue"/>
                <a:ea typeface="Helvetica Neue"/>
                <a:cs typeface="Helvetica Neue"/>
              </a:defRPr>
            </a:pPr>
            <a:r>
              <a:rPr sz="1425" b="1">
                <a:solidFill>
                  <a:srgbClr val="243A50"/>
                </a:solidFill>
                <a:latin typeface="Helvetica Neue"/>
                <a:ea typeface="Helvetica Neue"/>
                <a:cs typeface="Helvetica Neue"/>
              </a:rPr>
              <a:t>Building 1</a:t>
            </a:r>
          </a:p>
        </p:txBody>
      </p:sp>
      <p:sp>
        <p:nvSpPr>
          <p:cNvPr id="12" name="Rectangle 11">
            <a:extLst xmlns:a="http://schemas.openxmlformats.org/drawingml/2006/main">
              <a:ext uri="{FF2B5EF4-FFF2-40B4-BE49-F238E27FC236}">
                <a16:creationId xmlns:a16="http://schemas.microsoft.com/office/drawing/2014/main" id="{5963FBE5-0FDF-4B44-9589-1994419E0BF8}"/>
              </a:ext>
            </a:extLst>
          </p:cNvPr>
          <p:cNvSpPr>
            <a:spLocks xmlns:a="http://schemas.openxmlformats.org/drawingml/2006/main" noGrp="1"/>
          </p:cNvSpPr>
          <p:nvPr/>
        </p:nvSpPr>
        <p:spPr>
          <a:xfrm xmlns:a="http://schemas.openxmlformats.org/drawingml/2006/main">
            <a:off x="7886700" y="3419475"/>
            <a:ext cx="3429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00" b="0">
                <a:solidFill>
                  <a:srgbClr val="33485D"/>
                </a:solidFill>
                <a:latin typeface="Helvetica Neue"/>
                <a:ea typeface="Helvetica Neue"/>
                <a:cs typeface="Helvetica Neue"/>
              </a:defRPr>
            </a:defPPr>
            <a:lvl1pPr algn="l">
              <a:buNone/>
              <a:defRPr sz="1200" b="0">
                <a:solidFill>
                  <a:srgbClr val="33485D"/>
                </a:solidFill>
                <a:latin typeface="Helvetica Neue"/>
                <a:ea typeface="Helvetica Neue"/>
                <a:cs typeface="Helvetica Neue"/>
              </a:defRPr>
            </a:lvl1pPr>
            <a:lvl2pPr algn="l">
              <a:buNone/>
              <a:defRPr sz="1200" b="0">
                <a:solidFill>
                  <a:srgbClr val="33485D"/>
                </a:solidFill>
                <a:latin typeface="Helvetica Neue"/>
                <a:ea typeface="Helvetica Neue"/>
                <a:cs typeface="Helvetica Neue"/>
              </a:defRPr>
            </a:lvl2pPr>
            <a:lvl3pPr algn="l">
              <a:buNone/>
              <a:defRPr sz="1200" b="0">
                <a:solidFill>
                  <a:srgbClr val="33485D"/>
                </a:solidFill>
                <a:latin typeface="Helvetica Neue"/>
                <a:ea typeface="Helvetica Neue"/>
                <a:cs typeface="Helvetica Neue"/>
              </a:defRPr>
            </a:lvl3pPr>
            <a:lvl4pPr algn="l">
              <a:buNone/>
              <a:defRPr sz="1200" b="0">
                <a:solidFill>
                  <a:srgbClr val="33485D"/>
                </a:solidFill>
                <a:latin typeface="Helvetica Neue"/>
                <a:ea typeface="Helvetica Neue"/>
                <a:cs typeface="Helvetica Neue"/>
              </a:defRPr>
            </a:lvl4pPr>
            <a:lvl5pPr algn="l">
              <a:buNone/>
              <a:defRPr sz="1200" b="0">
                <a:solidFill>
                  <a:srgbClr val="33485D"/>
                </a:solidFill>
                <a:latin typeface="Helvetica Neue"/>
                <a:ea typeface="Helvetica Neue"/>
                <a:cs typeface="Helvetica Neue"/>
              </a:defRPr>
            </a:lvl5pPr>
            <a:lvl6pPr algn="l">
              <a:buNone/>
              <a:defRPr sz="1200" b="0">
                <a:solidFill>
                  <a:srgbClr val="33485D"/>
                </a:solidFill>
                <a:latin typeface="Helvetica Neue"/>
                <a:ea typeface="Helvetica Neue"/>
                <a:cs typeface="Helvetica Neue"/>
              </a:defRPr>
            </a:lvl6pPr>
            <a:lvl7pPr algn="l">
              <a:buNone/>
              <a:defRPr sz="1200" b="0">
                <a:solidFill>
                  <a:srgbClr val="33485D"/>
                </a:solidFill>
                <a:latin typeface="Helvetica Neue"/>
                <a:ea typeface="Helvetica Neue"/>
                <a:cs typeface="Helvetica Neue"/>
              </a:defRPr>
            </a:lvl7pPr>
            <a:lvl8pPr algn="l">
              <a:buNone/>
              <a:defRPr sz="1200" b="0">
                <a:solidFill>
                  <a:srgbClr val="33485D"/>
                </a:solidFill>
                <a:latin typeface="Helvetica Neue"/>
                <a:ea typeface="Helvetica Neue"/>
                <a:cs typeface="Helvetica Neue"/>
              </a:defRPr>
            </a:lvl8pPr>
            <a:lvl9pPr algn="l">
              <a:buNone/>
              <a:defRPr sz="1200" b="0">
                <a:solidFill>
                  <a:srgbClr val="33485D"/>
                </a:solidFill>
                <a:latin typeface="Helvetica Neue"/>
                <a:ea typeface="Helvetica Neue"/>
                <a:cs typeface="Helvetica Neue"/>
              </a:defRPr>
            </a:lvl9pPr>
          </a:lstStyle>
          <a:p xmlns:a="http://schemas.openxmlformats.org/drawingml/2006/main">
            <a:pPr algn="l">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305 correct · 2 errors, one in each adjacent class.</a:t>
            </a:r>
          </a:p>
        </p:txBody>
      </p:sp>
      <p:sp>
        <p:nvSpPr>
          <p:cNvPr id="13" name="Rectangle 12">
            <a:extLst xmlns:a="http://schemas.openxmlformats.org/drawingml/2006/main">
              <a:ext uri="{FF2B5EF4-FFF2-40B4-BE49-F238E27FC236}">
                <a16:creationId xmlns:a16="http://schemas.microsoft.com/office/drawing/2014/main" id="{B556E6B6-F367-4883-A2CD-89483F74E7DB}"/>
              </a:ext>
            </a:extLst>
          </p:cNvPr>
          <p:cNvSpPr>
            <a:spLocks xmlns:a="http://schemas.openxmlformats.org/drawingml/2006/main" noGrp="1"/>
          </p:cNvSpPr>
          <p:nvPr/>
        </p:nvSpPr>
        <p:spPr>
          <a:xfrm xmlns:a="http://schemas.openxmlformats.org/drawingml/2006/main">
            <a:off x="7620000" y="4286250"/>
            <a:ext cx="209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650" b="1">
                <a:solidFill>
                  <a:srgbClr val="64877F"/>
                </a:solidFill>
                <a:latin typeface="Helvetica Neue"/>
                <a:ea typeface="Helvetica Neue"/>
                <a:cs typeface="Helvetica Neue"/>
              </a:defRPr>
            </a:defPPr>
            <a:lvl1pPr algn="l">
              <a:buNone/>
              <a:defRPr sz="1650" b="1">
                <a:solidFill>
                  <a:srgbClr val="64877F"/>
                </a:solidFill>
                <a:latin typeface="Helvetica Neue"/>
                <a:ea typeface="Helvetica Neue"/>
                <a:cs typeface="Helvetica Neue"/>
              </a:defRPr>
            </a:lvl1pPr>
            <a:lvl2pPr algn="l">
              <a:buNone/>
              <a:defRPr sz="1650" b="1">
                <a:solidFill>
                  <a:srgbClr val="64877F"/>
                </a:solidFill>
                <a:latin typeface="Helvetica Neue"/>
                <a:ea typeface="Helvetica Neue"/>
                <a:cs typeface="Helvetica Neue"/>
              </a:defRPr>
            </a:lvl2pPr>
            <a:lvl3pPr algn="l">
              <a:buNone/>
              <a:defRPr sz="1650" b="1">
                <a:solidFill>
                  <a:srgbClr val="64877F"/>
                </a:solidFill>
                <a:latin typeface="Helvetica Neue"/>
                <a:ea typeface="Helvetica Neue"/>
                <a:cs typeface="Helvetica Neue"/>
              </a:defRPr>
            </a:lvl3pPr>
            <a:lvl4pPr algn="l">
              <a:buNone/>
              <a:defRPr sz="1650" b="1">
                <a:solidFill>
                  <a:srgbClr val="64877F"/>
                </a:solidFill>
                <a:latin typeface="Helvetica Neue"/>
                <a:ea typeface="Helvetica Neue"/>
                <a:cs typeface="Helvetica Neue"/>
              </a:defRPr>
            </a:lvl4pPr>
            <a:lvl5pPr algn="l">
              <a:buNone/>
              <a:defRPr sz="1650" b="1">
                <a:solidFill>
                  <a:srgbClr val="64877F"/>
                </a:solidFill>
                <a:latin typeface="Helvetica Neue"/>
                <a:ea typeface="Helvetica Neue"/>
                <a:cs typeface="Helvetica Neue"/>
              </a:defRPr>
            </a:lvl5pPr>
            <a:lvl6pPr algn="l">
              <a:buNone/>
              <a:defRPr sz="1650" b="1">
                <a:solidFill>
                  <a:srgbClr val="64877F"/>
                </a:solidFill>
                <a:latin typeface="Helvetica Neue"/>
                <a:ea typeface="Helvetica Neue"/>
                <a:cs typeface="Helvetica Neue"/>
              </a:defRPr>
            </a:lvl6pPr>
            <a:lvl7pPr algn="l">
              <a:buNone/>
              <a:defRPr sz="1650" b="1">
                <a:solidFill>
                  <a:srgbClr val="64877F"/>
                </a:solidFill>
                <a:latin typeface="Helvetica Neue"/>
                <a:ea typeface="Helvetica Neue"/>
                <a:cs typeface="Helvetica Neue"/>
              </a:defRPr>
            </a:lvl7pPr>
            <a:lvl8pPr algn="l">
              <a:buNone/>
              <a:defRPr sz="1650" b="1">
                <a:solidFill>
                  <a:srgbClr val="64877F"/>
                </a:solidFill>
                <a:latin typeface="Helvetica Neue"/>
                <a:ea typeface="Helvetica Neue"/>
                <a:cs typeface="Helvetica Neue"/>
              </a:defRPr>
            </a:lvl8pPr>
            <a:lvl9pPr algn="l">
              <a:buNone/>
              <a:defRPr sz="1650" b="1">
                <a:solidFill>
                  <a:srgbClr val="64877F"/>
                </a:solidFill>
                <a:latin typeface="Helvetica Neue"/>
                <a:ea typeface="Helvetica Neue"/>
                <a:cs typeface="Helvetica Neue"/>
              </a:defRPr>
            </a:lvl9pPr>
          </a:lstStyle>
          <a:p xmlns:a="http://schemas.openxmlformats.org/drawingml/2006/main">
            <a:pPr algn="l">
              <a:buNone/>
              <a:defRPr sz="1650" b="1">
                <a:solidFill>
                  <a:srgbClr val="64877F"/>
                </a:solidFill>
                <a:latin typeface="Helvetica Neue"/>
                <a:ea typeface="Helvetica Neue"/>
                <a:cs typeface="Helvetica Neue"/>
              </a:defRPr>
            </a:pPr>
            <a:r>
              <a:rPr sz="1650" b="1">
                <a:solidFill>
                  <a:srgbClr val="64877F"/>
                </a:solidFill>
                <a:latin typeface="Helvetica Neue"/>
                <a:ea typeface="Helvetica Neue"/>
                <a:cs typeface="Helvetica Neue"/>
              </a:rPr>
              <a:t>•</a:t>
            </a:r>
          </a:p>
        </p:txBody>
      </p:sp>
      <p:sp>
        <p:nvSpPr>
          <p:cNvPr id="14" name="Rectangle 13">
            <a:extLst xmlns:a="http://schemas.openxmlformats.org/drawingml/2006/main">
              <a:ext uri="{FF2B5EF4-FFF2-40B4-BE49-F238E27FC236}">
                <a16:creationId xmlns:a16="http://schemas.microsoft.com/office/drawing/2014/main" id="{390B21A5-2672-45F8-B6CC-A9DF7A91F594}"/>
              </a:ext>
            </a:extLst>
          </p:cNvPr>
          <p:cNvSpPr>
            <a:spLocks xmlns:a="http://schemas.openxmlformats.org/drawingml/2006/main" noGrp="1"/>
          </p:cNvSpPr>
          <p:nvPr/>
        </p:nvSpPr>
        <p:spPr>
          <a:xfrm xmlns:a="http://schemas.openxmlformats.org/drawingml/2006/main">
            <a:off x="7886700" y="4286250"/>
            <a:ext cx="3448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425" b="1">
                <a:solidFill>
                  <a:srgbClr val="243A50"/>
                </a:solidFill>
                <a:latin typeface="Helvetica Neue"/>
                <a:ea typeface="Helvetica Neue"/>
                <a:cs typeface="Helvetica Neue"/>
              </a:defRPr>
            </a:defPPr>
            <a:lvl1pPr algn="l">
              <a:buNone/>
              <a:defRPr sz="1425" b="1">
                <a:solidFill>
                  <a:srgbClr val="243A50"/>
                </a:solidFill>
                <a:latin typeface="Helvetica Neue"/>
                <a:ea typeface="Helvetica Neue"/>
                <a:cs typeface="Helvetica Neue"/>
              </a:defRPr>
            </a:lvl1pPr>
            <a:lvl2pPr algn="l">
              <a:buNone/>
              <a:defRPr sz="1425" b="1">
                <a:solidFill>
                  <a:srgbClr val="243A50"/>
                </a:solidFill>
                <a:latin typeface="Helvetica Neue"/>
                <a:ea typeface="Helvetica Neue"/>
                <a:cs typeface="Helvetica Neue"/>
              </a:defRPr>
            </a:lvl2pPr>
            <a:lvl3pPr algn="l">
              <a:buNone/>
              <a:defRPr sz="1425" b="1">
                <a:solidFill>
                  <a:srgbClr val="243A50"/>
                </a:solidFill>
                <a:latin typeface="Helvetica Neue"/>
                <a:ea typeface="Helvetica Neue"/>
                <a:cs typeface="Helvetica Neue"/>
              </a:defRPr>
            </a:lvl3pPr>
            <a:lvl4pPr algn="l">
              <a:buNone/>
              <a:defRPr sz="1425" b="1">
                <a:solidFill>
                  <a:srgbClr val="243A50"/>
                </a:solidFill>
                <a:latin typeface="Helvetica Neue"/>
                <a:ea typeface="Helvetica Neue"/>
                <a:cs typeface="Helvetica Neue"/>
              </a:defRPr>
            </a:lvl4pPr>
            <a:lvl5pPr algn="l">
              <a:buNone/>
              <a:defRPr sz="1425" b="1">
                <a:solidFill>
                  <a:srgbClr val="243A50"/>
                </a:solidFill>
                <a:latin typeface="Helvetica Neue"/>
                <a:ea typeface="Helvetica Neue"/>
                <a:cs typeface="Helvetica Neue"/>
              </a:defRPr>
            </a:lvl5pPr>
            <a:lvl6pPr algn="l">
              <a:buNone/>
              <a:defRPr sz="1425" b="1">
                <a:solidFill>
                  <a:srgbClr val="243A50"/>
                </a:solidFill>
                <a:latin typeface="Helvetica Neue"/>
                <a:ea typeface="Helvetica Neue"/>
                <a:cs typeface="Helvetica Neue"/>
              </a:defRPr>
            </a:lvl6pPr>
            <a:lvl7pPr algn="l">
              <a:buNone/>
              <a:defRPr sz="1425" b="1">
                <a:solidFill>
                  <a:srgbClr val="243A50"/>
                </a:solidFill>
                <a:latin typeface="Helvetica Neue"/>
                <a:ea typeface="Helvetica Neue"/>
                <a:cs typeface="Helvetica Neue"/>
              </a:defRPr>
            </a:lvl7pPr>
            <a:lvl8pPr algn="l">
              <a:buNone/>
              <a:defRPr sz="1425" b="1">
                <a:solidFill>
                  <a:srgbClr val="243A50"/>
                </a:solidFill>
                <a:latin typeface="Helvetica Neue"/>
                <a:ea typeface="Helvetica Neue"/>
                <a:cs typeface="Helvetica Neue"/>
              </a:defRPr>
            </a:lvl8pPr>
            <a:lvl9pPr algn="l">
              <a:buNone/>
              <a:defRPr sz="1425" b="1">
                <a:solidFill>
                  <a:srgbClr val="243A50"/>
                </a:solidFill>
                <a:latin typeface="Helvetica Neue"/>
                <a:ea typeface="Helvetica Neue"/>
                <a:cs typeface="Helvetica Neue"/>
              </a:defRPr>
            </a:lvl9pPr>
          </a:lstStyle>
          <a:p xmlns:a="http://schemas.openxmlformats.org/drawingml/2006/main">
            <a:pPr algn="l">
              <a:buNone/>
              <a:defRPr sz="1425" b="1">
                <a:solidFill>
                  <a:srgbClr val="243A50"/>
                </a:solidFill>
                <a:latin typeface="Helvetica Neue"/>
                <a:ea typeface="Helvetica Neue"/>
                <a:cs typeface="Helvetica Neue"/>
              </a:defRPr>
            </a:pPr>
            <a:r>
              <a:rPr sz="1425" b="1">
                <a:solidFill>
                  <a:srgbClr val="243A50"/>
                </a:solidFill>
                <a:latin typeface="Helvetica Neue"/>
                <a:ea typeface="Helvetica Neue"/>
                <a:cs typeface="Helvetica Neue"/>
              </a:rPr>
              <a:t>Building 2</a:t>
            </a:r>
          </a:p>
        </p:txBody>
      </p:sp>
      <p:sp>
        <p:nvSpPr>
          <p:cNvPr id="15" name="Rectangle 14">
            <a:extLst xmlns:a="http://schemas.openxmlformats.org/drawingml/2006/main">
              <a:ext uri="{FF2B5EF4-FFF2-40B4-BE49-F238E27FC236}">
                <a16:creationId xmlns:a16="http://schemas.microsoft.com/office/drawing/2014/main" id="{2A3BC0DA-BC48-4453-A1B0-841660EF294D}"/>
              </a:ext>
            </a:extLst>
          </p:cNvPr>
          <p:cNvSpPr>
            <a:spLocks xmlns:a="http://schemas.openxmlformats.org/drawingml/2006/main" noGrp="1"/>
          </p:cNvSpPr>
          <p:nvPr/>
        </p:nvSpPr>
        <p:spPr>
          <a:xfrm xmlns:a="http://schemas.openxmlformats.org/drawingml/2006/main">
            <a:off x="7886700" y="4572000"/>
            <a:ext cx="3429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00" b="0">
                <a:solidFill>
                  <a:srgbClr val="33485D"/>
                </a:solidFill>
                <a:latin typeface="Helvetica Neue"/>
                <a:ea typeface="Helvetica Neue"/>
                <a:cs typeface="Helvetica Neue"/>
              </a:defRPr>
            </a:defPPr>
            <a:lvl1pPr algn="l">
              <a:buNone/>
              <a:defRPr sz="1200" b="0">
                <a:solidFill>
                  <a:srgbClr val="33485D"/>
                </a:solidFill>
                <a:latin typeface="Helvetica Neue"/>
                <a:ea typeface="Helvetica Neue"/>
                <a:cs typeface="Helvetica Neue"/>
              </a:defRPr>
            </a:lvl1pPr>
            <a:lvl2pPr algn="l">
              <a:buNone/>
              <a:defRPr sz="1200" b="0">
                <a:solidFill>
                  <a:srgbClr val="33485D"/>
                </a:solidFill>
                <a:latin typeface="Helvetica Neue"/>
                <a:ea typeface="Helvetica Neue"/>
                <a:cs typeface="Helvetica Neue"/>
              </a:defRPr>
            </a:lvl2pPr>
            <a:lvl3pPr algn="l">
              <a:buNone/>
              <a:defRPr sz="1200" b="0">
                <a:solidFill>
                  <a:srgbClr val="33485D"/>
                </a:solidFill>
                <a:latin typeface="Helvetica Neue"/>
                <a:ea typeface="Helvetica Neue"/>
                <a:cs typeface="Helvetica Neue"/>
              </a:defRPr>
            </a:lvl3pPr>
            <a:lvl4pPr algn="l">
              <a:buNone/>
              <a:defRPr sz="1200" b="0">
                <a:solidFill>
                  <a:srgbClr val="33485D"/>
                </a:solidFill>
                <a:latin typeface="Helvetica Neue"/>
                <a:ea typeface="Helvetica Neue"/>
                <a:cs typeface="Helvetica Neue"/>
              </a:defRPr>
            </a:lvl4pPr>
            <a:lvl5pPr algn="l">
              <a:buNone/>
              <a:defRPr sz="1200" b="0">
                <a:solidFill>
                  <a:srgbClr val="33485D"/>
                </a:solidFill>
                <a:latin typeface="Helvetica Neue"/>
                <a:ea typeface="Helvetica Neue"/>
                <a:cs typeface="Helvetica Neue"/>
              </a:defRPr>
            </a:lvl5pPr>
            <a:lvl6pPr algn="l">
              <a:buNone/>
              <a:defRPr sz="1200" b="0">
                <a:solidFill>
                  <a:srgbClr val="33485D"/>
                </a:solidFill>
                <a:latin typeface="Helvetica Neue"/>
                <a:ea typeface="Helvetica Neue"/>
                <a:cs typeface="Helvetica Neue"/>
              </a:defRPr>
            </a:lvl6pPr>
            <a:lvl7pPr algn="l">
              <a:buNone/>
              <a:defRPr sz="1200" b="0">
                <a:solidFill>
                  <a:srgbClr val="33485D"/>
                </a:solidFill>
                <a:latin typeface="Helvetica Neue"/>
                <a:ea typeface="Helvetica Neue"/>
                <a:cs typeface="Helvetica Neue"/>
              </a:defRPr>
            </a:lvl7pPr>
            <a:lvl8pPr algn="l">
              <a:buNone/>
              <a:defRPr sz="1200" b="0">
                <a:solidFill>
                  <a:srgbClr val="33485D"/>
                </a:solidFill>
                <a:latin typeface="Helvetica Neue"/>
                <a:ea typeface="Helvetica Neue"/>
                <a:cs typeface="Helvetica Neue"/>
              </a:defRPr>
            </a:lvl8pPr>
            <a:lvl9pPr algn="l">
              <a:buNone/>
              <a:defRPr sz="1200" b="0">
                <a:solidFill>
                  <a:srgbClr val="33485D"/>
                </a:solidFill>
                <a:latin typeface="Helvetica Neue"/>
                <a:ea typeface="Helvetica Neue"/>
                <a:cs typeface="Helvetica Neue"/>
              </a:defRPr>
            </a:lvl9pPr>
          </a:lstStyle>
          <a:p xmlns:a="http://schemas.openxmlformats.org/drawingml/2006/main">
            <a:pPr algn="l">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268 correct · no held-out errors.</a:t>
            </a:r>
          </a:p>
        </p:txBody>
      </p:sp>
      <p:sp>
        <p:nvSpPr>
          <p:cNvPr id="16" name="Rectangle 15">
            <a:extLst xmlns:a="http://schemas.openxmlformats.org/drawingml/2006/main">
              <a:ext uri="{FF2B5EF4-FFF2-40B4-BE49-F238E27FC236}">
                <a16:creationId xmlns:a16="http://schemas.microsoft.com/office/drawing/2014/main" id="{3A653681-251D-4C1D-A4B7-7418C0FFDDA6}"/>
              </a:ext>
            </a:extLst>
          </p:cNvPr>
          <p:cNvSpPr>
            <a:spLocks xmlns:a="http://schemas.openxmlformats.org/drawingml/2006/main" noGrp="1"/>
          </p:cNvSpPr>
          <p:nvPr/>
        </p:nvSpPr>
        <p:spPr>
          <a:xfrm xmlns:a="http://schemas.openxmlformats.org/drawingml/2006/main">
            <a:off x="762000" y="5657850"/>
            <a:ext cx="10620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63788A"/>
                </a:solidFill>
                <a:latin typeface="Helvetica Neue"/>
                <a:ea typeface="Helvetica Neue"/>
                <a:cs typeface="Helvetica Neue"/>
              </a:defRPr>
            </a:defPPr>
            <a:lvl1pPr algn="l">
              <a:buNone/>
              <a:defRPr sz="1275" b="0">
                <a:solidFill>
                  <a:srgbClr val="63788A"/>
                </a:solidFill>
                <a:latin typeface="Helvetica Neue"/>
                <a:ea typeface="Helvetica Neue"/>
                <a:cs typeface="Helvetica Neue"/>
              </a:defRPr>
            </a:lvl1pPr>
            <a:lvl2pPr algn="l">
              <a:buNone/>
              <a:defRPr sz="1275" b="0">
                <a:solidFill>
                  <a:srgbClr val="63788A"/>
                </a:solidFill>
                <a:latin typeface="Helvetica Neue"/>
                <a:ea typeface="Helvetica Neue"/>
                <a:cs typeface="Helvetica Neue"/>
              </a:defRPr>
            </a:lvl2pPr>
            <a:lvl3pPr algn="l">
              <a:buNone/>
              <a:defRPr sz="1275" b="0">
                <a:solidFill>
                  <a:srgbClr val="63788A"/>
                </a:solidFill>
                <a:latin typeface="Helvetica Neue"/>
                <a:ea typeface="Helvetica Neue"/>
                <a:cs typeface="Helvetica Neue"/>
              </a:defRPr>
            </a:lvl3pPr>
            <a:lvl4pPr algn="l">
              <a:buNone/>
              <a:defRPr sz="1275" b="0">
                <a:solidFill>
                  <a:srgbClr val="63788A"/>
                </a:solidFill>
                <a:latin typeface="Helvetica Neue"/>
                <a:ea typeface="Helvetica Neue"/>
                <a:cs typeface="Helvetica Neue"/>
              </a:defRPr>
            </a:lvl4pPr>
            <a:lvl5pPr algn="l">
              <a:buNone/>
              <a:defRPr sz="1275" b="0">
                <a:solidFill>
                  <a:srgbClr val="63788A"/>
                </a:solidFill>
                <a:latin typeface="Helvetica Neue"/>
                <a:ea typeface="Helvetica Neue"/>
                <a:cs typeface="Helvetica Neue"/>
              </a:defRPr>
            </a:lvl5pPr>
            <a:lvl6pPr algn="l">
              <a:buNone/>
              <a:defRPr sz="1275" b="0">
                <a:solidFill>
                  <a:srgbClr val="63788A"/>
                </a:solidFill>
                <a:latin typeface="Helvetica Neue"/>
                <a:ea typeface="Helvetica Neue"/>
                <a:cs typeface="Helvetica Neue"/>
              </a:defRPr>
            </a:lvl6pPr>
            <a:lvl7pPr algn="l">
              <a:buNone/>
              <a:defRPr sz="1275" b="0">
                <a:solidFill>
                  <a:srgbClr val="63788A"/>
                </a:solidFill>
                <a:latin typeface="Helvetica Neue"/>
                <a:ea typeface="Helvetica Neue"/>
                <a:cs typeface="Helvetica Neue"/>
              </a:defRPr>
            </a:lvl7pPr>
            <a:lvl8pPr algn="l">
              <a:buNone/>
              <a:defRPr sz="1275" b="0">
                <a:solidFill>
                  <a:srgbClr val="63788A"/>
                </a:solidFill>
                <a:latin typeface="Helvetica Neue"/>
                <a:ea typeface="Helvetica Neue"/>
                <a:cs typeface="Helvetica Neue"/>
              </a:defRPr>
            </a:lvl8pPr>
            <a:lvl9pPr algn="l">
              <a:buNone/>
              <a:defRPr sz="1275" b="0">
                <a:solidFill>
                  <a:srgbClr val="63788A"/>
                </a:solidFill>
                <a:latin typeface="Helvetica Neue"/>
                <a:ea typeface="Helvetica Neue"/>
                <a:cs typeface="Helvetica Neue"/>
              </a:defRPr>
            </a:lvl9pPr>
          </a:lstStyle>
          <a:p xmlns:a="http://schemas.openxmlformats.org/drawingml/2006/main">
            <a:pPr algn="l">
              <a:buNone/>
              <a:defRPr sz="1275" b="0">
                <a:solidFill>
                  <a:srgbClr val="63788A"/>
                </a:solidFill>
                <a:latin typeface="Helvetica Neue"/>
                <a:ea typeface="Helvetica Neue"/>
                <a:cs typeface="Helvetica Neue"/>
              </a:defRPr>
            </a:pPr>
            <a:r>
              <a:rPr sz="1275" b="0">
                <a:solidFill>
                  <a:srgbClr val="63788A"/>
                </a:solidFill>
                <a:latin typeface="Helvetica Neue"/>
                <a:ea typeface="Helvetica Neue"/>
                <a:cs typeface="Helvetica Neue"/>
              </a:rPr>
              <a:t>The classifier is strong on this file; the grouped split and fingerprint-overlap checks still define what the score means.</a:t>
            </a:r>
          </a:p>
        </p:txBody>
      </p:sp>
    </p:spTree>
    <p:extLst>
      <p:ext uri="{BB962C8B-B14F-4D97-AF65-F5344CB8AC3E}">
        <p14:creationId xmlns:p14="http://schemas.microsoft.com/office/powerpoint/2010/main" val="474339474"/>
      </p:ext>
    </p:extLst>
  </p:cSld>
</p:sld>
</file>

<file path=ppt/slides/slide1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24" name="Rectangle 23">
            <a:extLst xmlns:a="http://schemas.openxmlformats.org/drawingml/2006/main">
              <a:ext uri="{FF2B5EF4-FFF2-40B4-BE49-F238E27FC236}">
                <a16:creationId xmlns:a16="http://schemas.microsoft.com/office/drawing/2014/main" id="{A25C9E6E-37F6-4951-97BA-EAEE0E9F9600}"/>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C7DBD1"/>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64E5FA75-E3AD-401C-AB23-16FA5F5FA12B}"/>
              </a:ext>
            </a:extLst>
          </p:cNvPr>
          <p:cNvSpPr>
            <a:spLocks xmlns:a="http://schemas.openxmlformats.org/drawingml/2006/main" noGrp="1"/>
          </p:cNvSpPr>
          <p:nvPr/>
        </p:nvSpPr>
        <p:spPr>
          <a:xfrm xmlns:a="http://schemas.openxmlformats.org/drawingml/2006/main">
            <a:off x="609600" y="37147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625" b="1">
                <a:solidFill>
                  <a:srgbClr val="243A50"/>
                </a:solidFill>
                <a:latin typeface="Helvetica Neue"/>
                <a:ea typeface="Helvetica Neue"/>
                <a:cs typeface="Helvetica Neue"/>
              </a:defRPr>
            </a:defPPr>
            <a:lvl1pPr algn="l">
              <a:buNone/>
              <a:defRPr sz="2625" b="1">
                <a:solidFill>
                  <a:srgbClr val="243A50"/>
                </a:solidFill>
                <a:latin typeface="Helvetica Neue"/>
                <a:ea typeface="Helvetica Neue"/>
                <a:cs typeface="Helvetica Neue"/>
              </a:defRPr>
            </a:lvl1pPr>
            <a:lvl2pPr algn="l">
              <a:buNone/>
              <a:defRPr sz="2625" b="1">
                <a:solidFill>
                  <a:srgbClr val="243A50"/>
                </a:solidFill>
                <a:latin typeface="Helvetica Neue"/>
                <a:ea typeface="Helvetica Neue"/>
                <a:cs typeface="Helvetica Neue"/>
              </a:defRPr>
            </a:lvl2pPr>
            <a:lvl3pPr algn="l">
              <a:buNone/>
              <a:defRPr sz="2625" b="1">
                <a:solidFill>
                  <a:srgbClr val="243A50"/>
                </a:solidFill>
                <a:latin typeface="Helvetica Neue"/>
                <a:ea typeface="Helvetica Neue"/>
                <a:cs typeface="Helvetica Neue"/>
              </a:defRPr>
            </a:lvl3pPr>
            <a:lvl4pPr algn="l">
              <a:buNone/>
              <a:defRPr sz="2625" b="1">
                <a:solidFill>
                  <a:srgbClr val="243A50"/>
                </a:solidFill>
                <a:latin typeface="Helvetica Neue"/>
                <a:ea typeface="Helvetica Neue"/>
                <a:cs typeface="Helvetica Neue"/>
              </a:defRPr>
            </a:lvl4pPr>
            <a:lvl5pPr algn="l">
              <a:buNone/>
              <a:defRPr sz="2625" b="1">
                <a:solidFill>
                  <a:srgbClr val="243A50"/>
                </a:solidFill>
                <a:latin typeface="Helvetica Neue"/>
                <a:ea typeface="Helvetica Neue"/>
                <a:cs typeface="Helvetica Neue"/>
              </a:defRPr>
            </a:lvl5pPr>
            <a:lvl6pPr algn="l">
              <a:buNone/>
              <a:defRPr sz="2625" b="1">
                <a:solidFill>
                  <a:srgbClr val="243A50"/>
                </a:solidFill>
                <a:latin typeface="Helvetica Neue"/>
                <a:ea typeface="Helvetica Neue"/>
                <a:cs typeface="Helvetica Neue"/>
              </a:defRPr>
            </a:lvl6pPr>
            <a:lvl7pPr algn="l">
              <a:buNone/>
              <a:defRPr sz="2625" b="1">
                <a:solidFill>
                  <a:srgbClr val="243A50"/>
                </a:solidFill>
                <a:latin typeface="Helvetica Neue"/>
                <a:ea typeface="Helvetica Neue"/>
                <a:cs typeface="Helvetica Neue"/>
              </a:defRPr>
            </a:lvl7pPr>
            <a:lvl8pPr algn="l">
              <a:buNone/>
              <a:defRPr sz="2625" b="1">
                <a:solidFill>
                  <a:srgbClr val="243A50"/>
                </a:solidFill>
                <a:latin typeface="Helvetica Neue"/>
                <a:ea typeface="Helvetica Neue"/>
                <a:cs typeface="Helvetica Neue"/>
              </a:defRPr>
            </a:lvl8pPr>
            <a:lvl9pPr algn="l">
              <a:buNone/>
              <a:defRPr sz="2625" b="1">
                <a:solidFill>
                  <a:srgbClr val="243A50"/>
                </a:solidFill>
                <a:latin typeface="Helvetica Neue"/>
                <a:ea typeface="Helvetica Neue"/>
                <a:cs typeface="Helvetica Neue"/>
              </a:defRPr>
            </a:lvl9pPr>
          </a:lstStyle>
          <a:p xmlns:a="http://schemas.openxmlformats.org/drawingml/2006/main">
            <a:pPr algn="l">
              <a:buNone/>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3 · Floor labels and model pipeline</a:t>
            </a:r>
          </a:p>
        </p:txBody>
      </p:sp>
      <p:sp>
        <p:nvSpPr>
          <p:cNvPr id="3" name="Rectangle 2">
            <a:extLst xmlns:a="http://schemas.openxmlformats.org/drawingml/2006/main">
              <a:ext uri="{FF2B5EF4-FFF2-40B4-BE49-F238E27FC236}">
                <a16:creationId xmlns:a16="http://schemas.microsoft.com/office/drawing/2014/main" id="{CEB849F1-1193-4570-B65D-BEAC70731B99}"/>
              </a:ext>
            </a:extLst>
          </p:cNvPr>
          <p:cNvSpPr>
            <a:spLocks xmlns:a="http://schemas.openxmlformats.org/drawingml/2006/main" noGrp="1"/>
          </p:cNvSpPr>
          <p:nvPr/>
        </p:nvSpPr>
        <p:spPr>
          <a:xfrm xmlns:a="http://schemas.openxmlformats.org/drawingml/2006/main">
            <a:off x="628650" y="904875"/>
            <a:ext cx="10839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Keep the floor-code mapping fixed from training through final evaluation.</a:t>
            </a:r>
          </a:p>
        </p:txBody>
      </p:sp>
      <p:sp>
        <p:nvSpPr>
          <p:cNvPr id="4" name="Straight Connector 3">
            <a:extLst xmlns:a="http://schemas.openxmlformats.org/drawingml/2006/main">
              <a:ext uri="{FF2B5EF4-FFF2-40B4-BE49-F238E27FC236}">
                <a16:creationId xmlns:a16="http://schemas.microsoft.com/office/drawing/2014/main" id="{8805B2D8-576E-4058-BB7C-0FE0F72465F4}"/>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BD5DA"/>
            </a:solidFill>
            <a:prstDash val="solid"/>
          </a:ln>
        </p:spPr>
      </p:sp>
      <p:sp>
        <p:nvSpPr>
          <p:cNvPr id="5" name="Rectangle 4">
            <a:extLst xmlns:a="http://schemas.openxmlformats.org/drawingml/2006/main">
              <a:ext uri="{FF2B5EF4-FFF2-40B4-BE49-F238E27FC236}">
                <a16:creationId xmlns:a16="http://schemas.microsoft.com/office/drawing/2014/main" id="{97A4D4EE-5B13-43A1-BE04-07B7CC270895}"/>
              </a:ext>
            </a:extLst>
          </p:cNvPr>
          <p:cNvSpPr>
            <a:spLocks xmlns:a="http://schemas.openxmlformats.org/drawingml/2006/main" noGrp="1"/>
          </p:cNvSpPr>
          <p:nvPr/>
        </p:nvSpPr>
        <p:spPr>
          <a:xfrm xmlns:a="http://schemas.openxmlformats.org/drawingml/2006/main">
            <a:off x="609600" y="64770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900" b="0">
                <a:solidFill>
                  <a:srgbClr val="63788A"/>
                </a:solidFill>
                <a:latin typeface="Helvetica Neue"/>
                <a:ea typeface="Helvetica Neue"/>
                <a:cs typeface="Helvetica Neue"/>
              </a:defRPr>
            </a:defPPr>
            <a:lvl1pPr algn="r">
              <a:buNone/>
              <a:defRPr sz="900" b="0">
                <a:solidFill>
                  <a:srgbClr val="63788A"/>
                </a:solidFill>
                <a:latin typeface="Helvetica Neue"/>
                <a:ea typeface="Helvetica Neue"/>
                <a:cs typeface="Helvetica Neue"/>
              </a:defRPr>
            </a:lvl1pPr>
            <a:lvl2pPr algn="r">
              <a:buNone/>
              <a:defRPr sz="900" b="0">
                <a:solidFill>
                  <a:srgbClr val="63788A"/>
                </a:solidFill>
                <a:latin typeface="Helvetica Neue"/>
                <a:ea typeface="Helvetica Neue"/>
                <a:cs typeface="Helvetica Neue"/>
              </a:defRPr>
            </a:lvl2pPr>
            <a:lvl3pPr algn="r">
              <a:buNone/>
              <a:defRPr sz="900" b="0">
                <a:solidFill>
                  <a:srgbClr val="63788A"/>
                </a:solidFill>
                <a:latin typeface="Helvetica Neue"/>
                <a:ea typeface="Helvetica Neue"/>
                <a:cs typeface="Helvetica Neue"/>
              </a:defRPr>
            </a:lvl3pPr>
            <a:lvl4pPr algn="r">
              <a:buNone/>
              <a:defRPr sz="900" b="0">
                <a:solidFill>
                  <a:srgbClr val="63788A"/>
                </a:solidFill>
                <a:latin typeface="Helvetica Neue"/>
                <a:ea typeface="Helvetica Neue"/>
                <a:cs typeface="Helvetica Neue"/>
              </a:defRPr>
            </a:lvl4pPr>
            <a:lvl5pPr algn="r">
              <a:buNone/>
              <a:defRPr sz="900" b="0">
                <a:solidFill>
                  <a:srgbClr val="63788A"/>
                </a:solidFill>
                <a:latin typeface="Helvetica Neue"/>
                <a:ea typeface="Helvetica Neue"/>
                <a:cs typeface="Helvetica Neue"/>
              </a:defRPr>
            </a:lvl5pPr>
            <a:lvl6pPr algn="r">
              <a:buNone/>
              <a:defRPr sz="900" b="0">
                <a:solidFill>
                  <a:srgbClr val="63788A"/>
                </a:solidFill>
                <a:latin typeface="Helvetica Neue"/>
                <a:ea typeface="Helvetica Neue"/>
                <a:cs typeface="Helvetica Neue"/>
              </a:defRPr>
            </a:lvl6pPr>
            <a:lvl7pPr algn="r">
              <a:buNone/>
              <a:defRPr sz="900" b="0">
                <a:solidFill>
                  <a:srgbClr val="63788A"/>
                </a:solidFill>
                <a:latin typeface="Helvetica Neue"/>
                <a:ea typeface="Helvetica Neue"/>
                <a:cs typeface="Helvetica Neue"/>
              </a:defRPr>
            </a:lvl7pPr>
            <a:lvl8pPr algn="r">
              <a:buNone/>
              <a:defRPr sz="900" b="0">
                <a:solidFill>
                  <a:srgbClr val="63788A"/>
                </a:solidFill>
                <a:latin typeface="Helvetica Neue"/>
                <a:ea typeface="Helvetica Neue"/>
                <a:cs typeface="Helvetica Neue"/>
              </a:defRPr>
            </a:lvl8pPr>
            <a:lvl9pPr algn="r">
              <a:buNone/>
              <a:defRPr sz="900" b="0">
                <a:solidFill>
                  <a:srgbClr val="63788A"/>
                </a:solidFill>
                <a:latin typeface="Helvetica Neue"/>
                <a:ea typeface="Helvetica Neue"/>
                <a:cs typeface="Helvetica Neue"/>
              </a:defRPr>
            </a:lvl9pPr>
          </a:lstStyle>
          <a:p xmlns:a="http://schemas.openxmlformats.org/drawingml/2006/main">
            <a:pPr algn="r">
              <a:buNone/>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10</a:t>
            </a:r>
          </a:p>
        </p:txBody>
      </p:sp>
      <p:sp>
        <p:nvSpPr>
          <p:cNvPr id="6" name="Rounded Rectangle 5">
            <a:extLst xmlns:a="http://schemas.openxmlformats.org/drawingml/2006/main">
              <a:ext uri="{FF2B5EF4-FFF2-40B4-BE49-F238E27FC236}">
                <a16:creationId xmlns:a16="http://schemas.microsoft.com/office/drawing/2014/main" id="{38E12D1B-08D8-4299-9B7D-2EF7E6AD549E}"/>
              </a:ext>
            </a:extLst>
          </p:cNvPr>
          <p:cNvSpPr>
            <a:spLocks xmlns:a="http://schemas.openxmlformats.org/drawingml/2006/main" noGrp="1"/>
          </p:cNvSpPr>
          <p:nvPr/>
        </p:nvSpPr>
        <p:spPr>
          <a:xfrm xmlns:a="http://schemas.openxmlformats.org/drawingml/2006/main">
            <a:off x="590550" y="2019300"/>
            <a:ext cx="2209800" cy="1524000"/>
          </a:xfrm>
          <a:prstGeom xmlns:a="http://schemas.openxmlformats.org/drawingml/2006/main" prst="roundRect">
            <a:avLst>
              <a:gd name="adj" fmla="val 5000"/>
            </a:avLst>
          </a:prstGeom>
          <a:solidFill xmlns:a="http://schemas.openxmlformats.org/drawingml/2006/main">
            <a:srgbClr val="E8EFF4"/>
          </a:solidFill>
          <a:ln xmlns:a="http://schemas.openxmlformats.org/drawingml/2006/main" w="9525">
            <a:solidFill>
              <a:srgbClr val="CBD5DA"/>
            </a:solidFill>
            <a:prstDash val="solid"/>
          </a:ln>
        </p:spPr>
      </p:sp>
      <p:sp>
        <p:nvSpPr>
          <p:cNvPr id="7" name="Rectangle 6">
            <a:extLst xmlns:a="http://schemas.openxmlformats.org/drawingml/2006/main">
              <a:ext uri="{FF2B5EF4-FFF2-40B4-BE49-F238E27FC236}">
                <a16:creationId xmlns:a16="http://schemas.microsoft.com/office/drawing/2014/main" id="{5AFF790B-21BD-4675-B5DC-71E253FD7327}"/>
              </a:ext>
            </a:extLst>
          </p:cNvPr>
          <p:cNvSpPr>
            <a:spLocks xmlns:a="http://schemas.openxmlformats.org/drawingml/2006/main" noGrp="1"/>
          </p:cNvSpPr>
          <p:nvPr/>
        </p:nvSpPr>
        <p:spPr>
          <a:xfrm xmlns:a="http://schemas.openxmlformats.org/drawingml/2006/main">
            <a:off x="704850" y="2133600"/>
            <a:ext cx="1981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Encode labels</a:t>
            </a:r>
          </a:p>
        </p:txBody>
      </p:sp>
      <p:sp>
        <p:nvSpPr>
          <p:cNvPr id="8" name="Rectangle 7">
            <a:extLst xmlns:a="http://schemas.openxmlformats.org/drawingml/2006/main">
              <a:ext uri="{FF2B5EF4-FFF2-40B4-BE49-F238E27FC236}">
                <a16:creationId xmlns:a16="http://schemas.microsoft.com/office/drawing/2014/main" id="{267A15F6-1D35-4485-BD54-9BC26F4B1CB9}"/>
              </a:ext>
            </a:extLst>
          </p:cNvPr>
          <p:cNvSpPr>
            <a:spLocks xmlns:a="http://schemas.openxmlformats.org/drawingml/2006/main" noGrp="1"/>
          </p:cNvSpPr>
          <p:nvPr/>
        </p:nvSpPr>
        <p:spPr>
          <a:xfrm xmlns:a="http://schemas.openxmlformats.org/drawingml/2006/main">
            <a:off x="723900" y="2533650"/>
            <a:ext cx="1943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derive floor-code map</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from training labels</a:t>
            </a:r>
          </a:p>
        </p:txBody>
      </p:sp>
      <p:sp>
        <p:nvSpPr>
          <p:cNvPr id="9" name="Right Arrow 8">
            <a:extLst xmlns:a="http://schemas.openxmlformats.org/drawingml/2006/main">
              <a:ext uri="{FF2B5EF4-FFF2-40B4-BE49-F238E27FC236}">
                <a16:creationId xmlns:a16="http://schemas.microsoft.com/office/drawing/2014/main" id="{F422F9FE-ABAC-4ADE-9736-BE36DD07B4A3}"/>
              </a:ext>
            </a:extLst>
          </p:cNvPr>
          <p:cNvSpPr>
            <a:spLocks xmlns:a="http://schemas.openxmlformats.org/drawingml/2006/main" noGrp="1"/>
          </p:cNvSpPr>
          <p:nvPr/>
        </p:nvSpPr>
        <p:spPr>
          <a:xfrm xmlns:a="http://schemas.openxmlformats.org/drawingml/2006/main">
            <a:off x="2924175" y="2695575"/>
            <a:ext cx="361950" cy="152400"/>
          </a:xfrm>
          <a:prstGeom xmlns:a="http://schemas.openxmlformats.org/drawingml/2006/main" prst="rightArrow">
            <a:avLst/>
          </a:prstGeom>
          <a:solidFill xmlns:a="http://schemas.openxmlformats.org/drawingml/2006/main">
            <a:srgbClr val="64877F"/>
          </a:solidFill>
          <a:ln xmlns:a="http://schemas.openxmlformats.org/drawingml/2006/main" w="0">
            <a:noFill/>
            <a:prstDash val="solid"/>
          </a:ln>
        </p:spPr>
      </p:sp>
      <p:sp>
        <p:nvSpPr>
          <p:cNvPr id="10" name="Rounded Rectangle 9">
            <a:extLst xmlns:a="http://schemas.openxmlformats.org/drawingml/2006/main">
              <a:ext uri="{FF2B5EF4-FFF2-40B4-BE49-F238E27FC236}">
                <a16:creationId xmlns:a16="http://schemas.microsoft.com/office/drawing/2014/main" id="{69023AC5-10B4-42DA-81AB-0B10082067B5}"/>
              </a:ext>
            </a:extLst>
          </p:cNvPr>
          <p:cNvSpPr>
            <a:spLocks xmlns:a="http://schemas.openxmlformats.org/drawingml/2006/main" noGrp="1"/>
          </p:cNvSpPr>
          <p:nvPr/>
        </p:nvSpPr>
        <p:spPr>
          <a:xfrm xmlns:a="http://schemas.openxmlformats.org/drawingml/2006/main">
            <a:off x="3419475" y="2019300"/>
            <a:ext cx="2209800" cy="1524000"/>
          </a:xfrm>
          <a:prstGeom xmlns:a="http://schemas.openxmlformats.org/drawingml/2006/main" prst="roundRect">
            <a:avLst>
              <a:gd name="adj" fmla="val 5000"/>
            </a:avLst>
          </a:prstGeom>
          <a:solidFill xmlns:a="http://schemas.openxmlformats.org/drawingml/2006/main">
            <a:srgbClr val="F1E9DB"/>
          </a:solidFill>
          <a:ln xmlns:a="http://schemas.openxmlformats.org/drawingml/2006/main" w="9525">
            <a:solidFill>
              <a:srgbClr val="CBD5DA"/>
            </a:solidFill>
            <a:prstDash val="solid"/>
          </a:ln>
        </p:spPr>
      </p:sp>
      <p:sp>
        <p:nvSpPr>
          <p:cNvPr id="11" name="Rectangle 10">
            <a:extLst xmlns:a="http://schemas.openxmlformats.org/drawingml/2006/main">
              <a:ext uri="{FF2B5EF4-FFF2-40B4-BE49-F238E27FC236}">
                <a16:creationId xmlns:a16="http://schemas.microsoft.com/office/drawing/2014/main" id="{CFEF0BED-D67A-40FB-8DF4-7A28E03A0F97}"/>
              </a:ext>
            </a:extLst>
          </p:cNvPr>
          <p:cNvSpPr>
            <a:spLocks xmlns:a="http://schemas.openxmlformats.org/drawingml/2006/main" noGrp="1"/>
          </p:cNvSpPr>
          <p:nvPr/>
        </p:nvSpPr>
        <p:spPr>
          <a:xfrm xmlns:a="http://schemas.openxmlformats.org/drawingml/2006/main">
            <a:off x="3533775" y="2133600"/>
            <a:ext cx="1981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Address imbalance</a:t>
            </a:r>
          </a:p>
        </p:txBody>
      </p:sp>
      <p:sp>
        <p:nvSpPr>
          <p:cNvPr id="12" name="Rectangle 11">
            <a:extLst xmlns:a="http://schemas.openxmlformats.org/drawingml/2006/main">
              <a:ext uri="{FF2B5EF4-FFF2-40B4-BE49-F238E27FC236}">
                <a16:creationId xmlns:a16="http://schemas.microsoft.com/office/drawing/2014/main" id="{2D2C0FC0-6EFD-4952-AA8F-1D4EDCFE887F}"/>
              </a:ext>
            </a:extLst>
          </p:cNvPr>
          <p:cNvSpPr>
            <a:spLocks xmlns:a="http://schemas.openxmlformats.org/drawingml/2006/main" noGrp="1"/>
          </p:cNvSpPr>
          <p:nvPr/>
        </p:nvSpPr>
        <p:spPr>
          <a:xfrm xmlns:a="http://schemas.openxmlformats.org/drawingml/2006/main">
            <a:off x="3552825" y="2533650"/>
            <a:ext cx="1943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class-weighted</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Random Forest</a:t>
            </a:r>
          </a:p>
        </p:txBody>
      </p:sp>
      <p:sp>
        <p:nvSpPr>
          <p:cNvPr id="13" name="Right Arrow 12">
            <a:extLst xmlns:a="http://schemas.openxmlformats.org/drawingml/2006/main">
              <a:ext uri="{FF2B5EF4-FFF2-40B4-BE49-F238E27FC236}">
                <a16:creationId xmlns:a16="http://schemas.microsoft.com/office/drawing/2014/main" id="{53DA0F8A-305C-46B0-8734-9E5332680315}"/>
              </a:ext>
            </a:extLst>
          </p:cNvPr>
          <p:cNvSpPr>
            <a:spLocks xmlns:a="http://schemas.openxmlformats.org/drawingml/2006/main" noGrp="1"/>
          </p:cNvSpPr>
          <p:nvPr/>
        </p:nvSpPr>
        <p:spPr>
          <a:xfrm xmlns:a="http://schemas.openxmlformats.org/drawingml/2006/main">
            <a:off x="5753100" y="2695575"/>
            <a:ext cx="361950" cy="152400"/>
          </a:xfrm>
          <a:prstGeom xmlns:a="http://schemas.openxmlformats.org/drawingml/2006/main" prst="rightArrow">
            <a:avLst/>
          </a:prstGeom>
          <a:solidFill xmlns:a="http://schemas.openxmlformats.org/drawingml/2006/main">
            <a:srgbClr val="64877F"/>
          </a:solidFill>
          <a:ln xmlns:a="http://schemas.openxmlformats.org/drawingml/2006/main" w="0">
            <a:noFill/>
            <a:prstDash val="solid"/>
          </a:ln>
        </p:spPr>
      </p:sp>
      <p:sp>
        <p:nvSpPr>
          <p:cNvPr id="14" name="Rounded Rectangle 13">
            <a:extLst xmlns:a="http://schemas.openxmlformats.org/drawingml/2006/main">
              <a:ext uri="{FF2B5EF4-FFF2-40B4-BE49-F238E27FC236}">
                <a16:creationId xmlns:a16="http://schemas.microsoft.com/office/drawing/2014/main" id="{C9B20C62-CE76-44F4-B36B-4D811A4D9CBD}"/>
              </a:ext>
            </a:extLst>
          </p:cNvPr>
          <p:cNvSpPr>
            <a:spLocks xmlns:a="http://schemas.openxmlformats.org/drawingml/2006/main" noGrp="1"/>
          </p:cNvSpPr>
          <p:nvPr/>
        </p:nvSpPr>
        <p:spPr>
          <a:xfrm xmlns:a="http://schemas.openxmlformats.org/drawingml/2006/main">
            <a:off x="6248400" y="2019300"/>
            <a:ext cx="2209800" cy="1524000"/>
          </a:xfrm>
          <a:prstGeom xmlns:a="http://schemas.openxmlformats.org/drawingml/2006/main" prst="roundRect">
            <a:avLst>
              <a:gd name="adj" fmla="val 5000"/>
            </a:avLst>
          </a:prstGeom>
          <a:solidFill xmlns:a="http://schemas.openxmlformats.org/drawingml/2006/main">
            <a:srgbClr val="C7DBD1"/>
          </a:solidFill>
          <a:ln xmlns:a="http://schemas.openxmlformats.org/drawingml/2006/main" w="9525">
            <a:solidFill>
              <a:srgbClr val="CBD5DA"/>
            </a:solidFill>
            <a:prstDash val="solid"/>
          </a:ln>
        </p:spPr>
      </p:sp>
      <p:sp>
        <p:nvSpPr>
          <p:cNvPr id="15" name="Rectangle 14">
            <a:extLst xmlns:a="http://schemas.openxmlformats.org/drawingml/2006/main">
              <a:ext uri="{FF2B5EF4-FFF2-40B4-BE49-F238E27FC236}">
                <a16:creationId xmlns:a16="http://schemas.microsoft.com/office/drawing/2014/main" id="{EE9494B0-FAF4-4E36-A2A1-780B1F35787E}"/>
              </a:ext>
            </a:extLst>
          </p:cNvPr>
          <p:cNvSpPr>
            <a:spLocks xmlns:a="http://schemas.openxmlformats.org/drawingml/2006/main" noGrp="1"/>
          </p:cNvSpPr>
          <p:nvPr/>
        </p:nvSpPr>
        <p:spPr>
          <a:xfrm xmlns:a="http://schemas.openxmlformats.org/drawingml/2006/main">
            <a:off x="6362700" y="2133600"/>
            <a:ext cx="1981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Tune candidates</a:t>
            </a:r>
          </a:p>
        </p:txBody>
      </p:sp>
      <p:sp>
        <p:nvSpPr>
          <p:cNvPr id="16" name="Rectangle 15">
            <a:extLst xmlns:a="http://schemas.openxmlformats.org/drawingml/2006/main">
              <a:ext uri="{FF2B5EF4-FFF2-40B4-BE49-F238E27FC236}">
                <a16:creationId xmlns:a16="http://schemas.microsoft.com/office/drawing/2014/main" id="{C27D77EC-EE41-405E-9BA4-1A406180A36E}"/>
              </a:ext>
            </a:extLst>
          </p:cNvPr>
          <p:cNvSpPr>
            <a:spLocks xmlns:a="http://schemas.openxmlformats.org/drawingml/2006/main" noGrp="1"/>
          </p:cNvSpPr>
          <p:nvPr/>
        </p:nvSpPr>
        <p:spPr>
          <a:xfrm xmlns:a="http://schemas.openxmlformats.org/drawingml/2006/main">
            <a:off x="6381750" y="2533650"/>
            <a:ext cx="1943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8 configurations</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accuracy first;</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macro F1 breaks ties</a:t>
            </a:r>
          </a:p>
        </p:txBody>
      </p:sp>
      <p:sp>
        <p:nvSpPr>
          <p:cNvPr id="17" name="Right Arrow 16">
            <a:extLst xmlns:a="http://schemas.openxmlformats.org/drawingml/2006/main">
              <a:ext uri="{FF2B5EF4-FFF2-40B4-BE49-F238E27FC236}">
                <a16:creationId xmlns:a16="http://schemas.microsoft.com/office/drawing/2014/main" id="{619DD5E4-E4F4-41E0-AC5D-88FCA565D8F9}"/>
              </a:ext>
            </a:extLst>
          </p:cNvPr>
          <p:cNvSpPr>
            <a:spLocks xmlns:a="http://schemas.openxmlformats.org/drawingml/2006/main" noGrp="1"/>
          </p:cNvSpPr>
          <p:nvPr/>
        </p:nvSpPr>
        <p:spPr>
          <a:xfrm xmlns:a="http://schemas.openxmlformats.org/drawingml/2006/main">
            <a:off x="8582025" y="2695575"/>
            <a:ext cx="361950" cy="152400"/>
          </a:xfrm>
          <a:prstGeom xmlns:a="http://schemas.openxmlformats.org/drawingml/2006/main" prst="rightArrow">
            <a:avLst/>
          </a:prstGeom>
          <a:solidFill xmlns:a="http://schemas.openxmlformats.org/drawingml/2006/main">
            <a:srgbClr val="64877F"/>
          </a:solidFill>
          <a:ln xmlns:a="http://schemas.openxmlformats.org/drawingml/2006/main" w="0">
            <a:noFill/>
            <a:prstDash val="solid"/>
          </a:ln>
        </p:spPr>
      </p:sp>
      <p:sp>
        <p:nvSpPr>
          <p:cNvPr id="18" name="Rounded Rectangle 17">
            <a:extLst xmlns:a="http://schemas.openxmlformats.org/drawingml/2006/main">
              <a:ext uri="{FF2B5EF4-FFF2-40B4-BE49-F238E27FC236}">
                <a16:creationId xmlns:a16="http://schemas.microsoft.com/office/drawing/2014/main" id="{2269C2E1-CDF6-4E80-BF99-9D1FA8EB78E9}"/>
              </a:ext>
            </a:extLst>
          </p:cNvPr>
          <p:cNvSpPr>
            <a:spLocks xmlns:a="http://schemas.openxmlformats.org/drawingml/2006/main" noGrp="1"/>
          </p:cNvSpPr>
          <p:nvPr/>
        </p:nvSpPr>
        <p:spPr>
          <a:xfrm xmlns:a="http://schemas.openxmlformats.org/drawingml/2006/main">
            <a:off x="9077325" y="2019300"/>
            <a:ext cx="2476500" cy="1524000"/>
          </a:xfrm>
          <a:prstGeom xmlns:a="http://schemas.openxmlformats.org/drawingml/2006/main" prst="roundRect">
            <a:avLst>
              <a:gd name="adj" fmla="val 5000"/>
            </a:avLst>
          </a:prstGeom>
          <a:solidFill xmlns:a="http://schemas.openxmlformats.org/drawingml/2006/main">
            <a:srgbClr val="DCE7ED"/>
          </a:solidFill>
          <a:ln xmlns:a="http://schemas.openxmlformats.org/drawingml/2006/main" w="9525">
            <a:solidFill>
              <a:srgbClr val="CBD5DA"/>
            </a:solidFill>
            <a:prstDash val="solid"/>
          </a:ln>
        </p:spPr>
      </p:sp>
      <p:sp>
        <p:nvSpPr>
          <p:cNvPr id="19" name="Rectangle 18">
            <a:extLst xmlns:a="http://schemas.openxmlformats.org/drawingml/2006/main">
              <a:ext uri="{FF2B5EF4-FFF2-40B4-BE49-F238E27FC236}">
                <a16:creationId xmlns:a16="http://schemas.microsoft.com/office/drawing/2014/main" id="{87C27909-7E7D-4435-A370-534FE11906CE}"/>
              </a:ext>
            </a:extLst>
          </p:cNvPr>
          <p:cNvSpPr>
            <a:spLocks xmlns:a="http://schemas.openxmlformats.org/drawingml/2006/main" noGrp="1"/>
          </p:cNvSpPr>
          <p:nvPr/>
        </p:nvSpPr>
        <p:spPr>
          <a:xfrm xmlns:a="http://schemas.openxmlformats.org/drawingml/2006/main">
            <a:off x="9191625" y="2133600"/>
            <a:ext cx="22479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Evaluate once</a:t>
            </a:r>
          </a:p>
        </p:txBody>
      </p:sp>
      <p:sp>
        <p:nvSpPr>
          <p:cNvPr id="20" name="Rectangle 19">
            <a:extLst xmlns:a="http://schemas.openxmlformats.org/drawingml/2006/main">
              <a:ext uri="{FF2B5EF4-FFF2-40B4-BE49-F238E27FC236}">
                <a16:creationId xmlns:a16="http://schemas.microsoft.com/office/drawing/2014/main" id="{516603CC-73F2-43B4-B2D0-060FBC4803A0}"/>
              </a:ext>
            </a:extLst>
          </p:cNvPr>
          <p:cNvSpPr>
            <a:spLocks xmlns:a="http://schemas.openxmlformats.org/drawingml/2006/main" noGrp="1"/>
          </p:cNvSpPr>
          <p:nvPr/>
        </p:nvSpPr>
        <p:spPr>
          <a:xfrm xmlns:a="http://schemas.openxmlformats.org/drawingml/2006/main">
            <a:off x="9210675" y="2533650"/>
            <a:ext cx="2209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held-out accuracy</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macro F1 + confusion matrix</a:t>
            </a:r>
          </a:p>
        </p:txBody>
      </p:sp>
      <p:pic>
        <p:nvPicPr>
          <p:cNvPr id="21" name="Picture 20">
            <a:extLst xmlns:a="http://schemas.openxmlformats.org/drawingml/2006/main">
              <a:ext uri="{FF2B5EF4-FFF2-40B4-BE49-F238E27FC236}">
                <a16:creationId xmlns:a16="http://schemas.microsoft.com/office/drawing/2014/main" id="{F1D58CFE-5974-437E-9365-B1839434C1AF}"/>
              </a:ext>
            </a:extLst>
          </p:cNvPr>
          <p:cNvPicPr>
            <a:picLocks xmlns:a="http://schemas.openxmlformats.org/drawingml/2006/main" noChangeAspect="1"/>
          </p:cNvPicPr>
          <p:nvPr/>
        </p:nvPicPr>
        <p:blipFill>
          <a:blip xmlns:r="http://schemas.openxmlformats.org/officeDocument/2006/relationships" xmlns:a="http://schemas.openxmlformats.org/drawingml/2006/main" r:embed="R9b3852fa26dd4ee5"/>
          <a:stretch xmlns:a="http://schemas.openxmlformats.org/drawingml/2006/main"/>
        </p:blipFill>
        <p:spPr>
          <a:xfrm xmlns:a="http://schemas.openxmlformats.org/drawingml/2006/main">
            <a:off x="1285875" y="4097343"/>
            <a:ext cx="4572000" cy="1692265"/>
          </a:xfrm>
          <a:prstGeom xmlns:a="http://schemas.openxmlformats.org/drawingml/2006/main" prst="rect">
            <a:avLst/>
          </a:prstGeom>
        </p:spPr>
      </p:pic>
      <p:sp>
        <p:nvSpPr>
          <p:cNvPr id="22" name="Rectangle 21">
            <a:extLst xmlns:a="http://schemas.openxmlformats.org/drawingml/2006/main">
              <a:ext uri="{FF2B5EF4-FFF2-40B4-BE49-F238E27FC236}">
                <a16:creationId xmlns:a16="http://schemas.microsoft.com/office/drawing/2014/main" id="{60DD662B-0862-489A-BD13-768BD4474593}"/>
              </a:ext>
            </a:extLst>
          </p:cNvPr>
          <p:cNvSpPr>
            <a:spLocks xmlns:a="http://schemas.openxmlformats.org/drawingml/2006/main" noGrp="1"/>
          </p:cNvSpPr>
          <p:nvPr/>
        </p:nvSpPr>
        <p:spPr>
          <a:xfrm xmlns:a="http://schemas.openxmlformats.org/drawingml/2006/main">
            <a:off x="6496050" y="4410075"/>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698"/>
          </a:bodyPr>
          <a:lstStyle xmlns:a="http://schemas.openxmlformats.org/drawingml/2006/main">
            <a:defPPr algn="l">
              <a:defRPr sz="1650" b="1">
                <a:solidFill>
                  <a:srgbClr val="243A50"/>
                </a:solidFill>
                <a:latin typeface="Helvetica Neue"/>
                <a:ea typeface="Helvetica Neue"/>
                <a:cs typeface="Helvetica Neue"/>
              </a:defRPr>
            </a:defPPr>
            <a:lvl1pPr algn="l">
              <a:buNone/>
              <a:defRPr sz="1650" b="1">
                <a:solidFill>
                  <a:srgbClr val="243A50"/>
                </a:solidFill>
                <a:latin typeface="Helvetica Neue"/>
                <a:ea typeface="Helvetica Neue"/>
                <a:cs typeface="Helvetica Neue"/>
              </a:defRPr>
            </a:lvl1pPr>
            <a:lvl2pPr algn="l">
              <a:buNone/>
              <a:defRPr sz="1650" b="1">
                <a:solidFill>
                  <a:srgbClr val="243A50"/>
                </a:solidFill>
                <a:latin typeface="Helvetica Neue"/>
                <a:ea typeface="Helvetica Neue"/>
                <a:cs typeface="Helvetica Neue"/>
              </a:defRPr>
            </a:lvl2pPr>
            <a:lvl3pPr algn="l">
              <a:buNone/>
              <a:defRPr sz="1650" b="1">
                <a:solidFill>
                  <a:srgbClr val="243A50"/>
                </a:solidFill>
                <a:latin typeface="Helvetica Neue"/>
                <a:ea typeface="Helvetica Neue"/>
                <a:cs typeface="Helvetica Neue"/>
              </a:defRPr>
            </a:lvl3pPr>
            <a:lvl4pPr algn="l">
              <a:buNone/>
              <a:defRPr sz="1650" b="1">
                <a:solidFill>
                  <a:srgbClr val="243A50"/>
                </a:solidFill>
                <a:latin typeface="Helvetica Neue"/>
                <a:ea typeface="Helvetica Neue"/>
                <a:cs typeface="Helvetica Neue"/>
              </a:defRPr>
            </a:lvl4pPr>
            <a:lvl5pPr algn="l">
              <a:buNone/>
              <a:defRPr sz="1650" b="1">
                <a:solidFill>
                  <a:srgbClr val="243A50"/>
                </a:solidFill>
                <a:latin typeface="Helvetica Neue"/>
                <a:ea typeface="Helvetica Neue"/>
                <a:cs typeface="Helvetica Neue"/>
              </a:defRPr>
            </a:lvl5pPr>
            <a:lvl6pPr algn="l">
              <a:buNone/>
              <a:defRPr sz="1650" b="1">
                <a:solidFill>
                  <a:srgbClr val="243A50"/>
                </a:solidFill>
                <a:latin typeface="Helvetica Neue"/>
                <a:ea typeface="Helvetica Neue"/>
                <a:cs typeface="Helvetica Neue"/>
              </a:defRPr>
            </a:lvl6pPr>
            <a:lvl7pPr algn="l">
              <a:buNone/>
              <a:defRPr sz="1650" b="1">
                <a:solidFill>
                  <a:srgbClr val="243A50"/>
                </a:solidFill>
                <a:latin typeface="Helvetica Neue"/>
                <a:ea typeface="Helvetica Neue"/>
                <a:cs typeface="Helvetica Neue"/>
              </a:defRPr>
            </a:lvl7pPr>
            <a:lvl8pPr algn="l">
              <a:buNone/>
              <a:defRPr sz="1650" b="1">
                <a:solidFill>
                  <a:srgbClr val="243A50"/>
                </a:solidFill>
                <a:latin typeface="Helvetica Neue"/>
                <a:ea typeface="Helvetica Neue"/>
                <a:cs typeface="Helvetica Neue"/>
              </a:defRPr>
            </a:lvl8pPr>
            <a:lvl9pPr algn="l">
              <a:buNone/>
              <a:defRPr sz="1650" b="1">
                <a:solidFill>
                  <a:srgbClr val="243A50"/>
                </a:solidFill>
                <a:latin typeface="Helvetica Neue"/>
                <a:ea typeface="Helvetica Neue"/>
                <a:cs typeface="Helvetica Neue"/>
              </a:defRPr>
            </a:lvl9pPr>
          </a:lstStyle>
          <a:p xmlns:a="http://schemas.openxmlformats.org/drawingml/2006/main">
            <a:pPr algn="l">
              <a:buNone/>
              <a:defRPr sz="1650" b="1">
                <a:solidFill>
                  <a:srgbClr val="243A50"/>
                </a:solidFill>
                <a:latin typeface="Helvetica Neue"/>
                <a:ea typeface="Helvetica Neue"/>
                <a:cs typeface="Helvetica Neue"/>
              </a:defRPr>
            </a:pPr>
            <a:r>
              <a:rPr sz="1650" b="1">
                <a:solidFill>
                  <a:srgbClr val="243A50"/>
                </a:solidFill>
                <a:latin typeface="Helvetica Neue"/>
                <a:ea typeface="Helvetica Neue"/>
                <a:cs typeface="Helvetica Neue"/>
              </a:rPr>
              <a:t>Five floor codes · code 4 is the smallest held-out class.</a:t>
            </a:r>
          </a:p>
        </p:txBody>
      </p:sp>
      <p:sp>
        <p:nvSpPr>
          <p:cNvPr id="23" name="Rectangle 22">
            <a:extLst xmlns:a="http://schemas.openxmlformats.org/drawingml/2006/main">
              <a:ext uri="{FF2B5EF4-FFF2-40B4-BE49-F238E27FC236}">
                <a16:creationId xmlns:a16="http://schemas.microsoft.com/office/drawing/2014/main" id="{2E0C9352-4C99-4F57-A363-23D4DF3FE786}"/>
              </a:ext>
            </a:extLst>
          </p:cNvPr>
          <p:cNvSpPr>
            <a:spLocks xmlns:a="http://schemas.openxmlformats.org/drawingml/2006/main" noGrp="1"/>
          </p:cNvSpPr>
          <p:nvPr/>
        </p:nvSpPr>
        <p:spPr>
          <a:xfrm xmlns:a="http://schemas.openxmlformats.org/drawingml/2006/main">
            <a:off x="6496050" y="5019675"/>
            <a:ext cx="466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Class weights and macro F1 keep minority-class performance visible.</a:t>
            </a:r>
          </a:p>
        </p:txBody>
      </p:sp>
    </p:spTree>
    <p:extLst>
      <p:ext uri="{BB962C8B-B14F-4D97-AF65-F5344CB8AC3E}">
        <p14:creationId xmlns:p14="http://schemas.microsoft.com/office/powerpoint/2010/main" val="1444975465"/>
      </p:ext>
    </p:extLst>
  </p:cSld>
</p:sld>
</file>

<file path=ppt/slides/slide1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3" name="Rectangle 12">
            <a:extLst xmlns:a="http://schemas.openxmlformats.org/drawingml/2006/main">
              <a:ext uri="{FF2B5EF4-FFF2-40B4-BE49-F238E27FC236}">
                <a16:creationId xmlns:a16="http://schemas.microsoft.com/office/drawing/2014/main" id="{2416B6A6-EA3C-4948-9463-457E16A315B6}"/>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C7DBD1"/>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606AC423-232D-4CE9-ADCB-B11FDD6FCF5C}"/>
              </a:ext>
            </a:extLst>
          </p:cNvPr>
          <p:cNvSpPr>
            <a:spLocks xmlns:a="http://schemas.openxmlformats.org/drawingml/2006/main" noGrp="1"/>
          </p:cNvSpPr>
          <p:nvPr/>
        </p:nvSpPr>
        <p:spPr>
          <a:xfrm xmlns:a="http://schemas.openxmlformats.org/drawingml/2006/main">
            <a:off x="609600" y="37147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625" b="1">
                <a:solidFill>
                  <a:srgbClr val="243A50"/>
                </a:solidFill>
                <a:latin typeface="Helvetica Neue"/>
                <a:ea typeface="Helvetica Neue"/>
                <a:cs typeface="Helvetica Neue"/>
              </a:defRPr>
            </a:defPPr>
            <a:lvl1pPr algn="l">
              <a:buNone/>
              <a:defRPr sz="2625" b="1">
                <a:solidFill>
                  <a:srgbClr val="243A50"/>
                </a:solidFill>
                <a:latin typeface="Helvetica Neue"/>
                <a:ea typeface="Helvetica Neue"/>
                <a:cs typeface="Helvetica Neue"/>
              </a:defRPr>
            </a:lvl1pPr>
            <a:lvl2pPr algn="l">
              <a:buNone/>
              <a:defRPr sz="2625" b="1">
                <a:solidFill>
                  <a:srgbClr val="243A50"/>
                </a:solidFill>
                <a:latin typeface="Helvetica Neue"/>
                <a:ea typeface="Helvetica Neue"/>
                <a:cs typeface="Helvetica Neue"/>
              </a:defRPr>
            </a:lvl2pPr>
            <a:lvl3pPr algn="l">
              <a:buNone/>
              <a:defRPr sz="2625" b="1">
                <a:solidFill>
                  <a:srgbClr val="243A50"/>
                </a:solidFill>
                <a:latin typeface="Helvetica Neue"/>
                <a:ea typeface="Helvetica Neue"/>
                <a:cs typeface="Helvetica Neue"/>
              </a:defRPr>
            </a:lvl3pPr>
            <a:lvl4pPr algn="l">
              <a:buNone/>
              <a:defRPr sz="2625" b="1">
                <a:solidFill>
                  <a:srgbClr val="243A50"/>
                </a:solidFill>
                <a:latin typeface="Helvetica Neue"/>
                <a:ea typeface="Helvetica Neue"/>
                <a:cs typeface="Helvetica Neue"/>
              </a:defRPr>
            </a:lvl4pPr>
            <a:lvl5pPr algn="l">
              <a:buNone/>
              <a:defRPr sz="2625" b="1">
                <a:solidFill>
                  <a:srgbClr val="243A50"/>
                </a:solidFill>
                <a:latin typeface="Helvetica Neue"/>
                <a:ea typeface="Helvetica Neue"/>
                <a:cs typeface="Helvetica Neue"/>
              </a:defRPr>
            </a:lvl5pPr>
            <a:lvl6pPr algn="l">
              <a:buNone/>
              <a:defRPr sz="2625" b="1">
                <a:solidFill>
                  <a:srgbClr val="243A50"/>
                </a:solidFill>
                <a:latin typeface="Helvetica Neue"/>
                <a:ea typeface="Helvetica Neue"/>
                <a:cs typeface="Helvetica Neue"/>
              </a:defRPr>
            </a:lvl6pPr>
            <a:lvl7pPr algn="l">
              <a:buNone/>
              <a:defRPr sz="2625" b="1">
                <a:solidFill>
                  <a:srgbClr val="243A50"/>
                </a:solidFill>
                <a:latin typeface="Helvetica Neue"/>
                <a:ea typeface="Helvetica Neue"/>
                <a:cs typeface="Helvetica Neue"/>
              </a:defRPr>
            </a:lvl7pPr>
            <a:lvl8pPr algn="l">
              <a:buNone/>
              <a:defRPr sz="2625" b="1">
                <a:solidFill>
                  <a:srgbClr val="243A50"/>
                </a:solidFill>
                <a:latin typeface="Helvetica Neue"/>
                <a:ea typeface="Helvetica Neue"/>
                <a:cs typeface="Helvetica Neue"/>
              </a:defRPr>
            </a:lvl8pPr>
            <a:lvl9pPr algn="l">
              <a:buNone/>
              <a:defRPr sz="2625" b="1">
                <a:solidFill>
                  <a:srgbClr val="243A50"/>
                </a:solidFill>
                <a:latin typeface="Helvetica Neue"/>
                <a:ea typeface="Helvetica Neue"/>
                <a:cs typeface="Helvetica Neue"/>
              </a:defRPr>
            </a:lvl9pPr>
          </a:lstStyle>
          <a:p xmlns:a="http://schemas.openxmlformats.org/drawingml/2006/main">
            <a:pPr algn="l">
              <a:buNone/>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3 · Floor confusion matrix</a:t>
            </a:r>
          </a:p>
        </p:txBody>
      </p:sp>
      <p:sp>
        <p:nvSpPr>
          <p:cNvPr id="3" name="Rectangle 2">
            <a:extLst xmlns:a="http://schemas.openxmlformats.org/drawingml/2006/main">
              <a:ext uri="{FF2B5EF4-FFF2-40B4-BE49-F238E27FC236}">
                <a16:creationId xmlns:a16="http://schemas.microsoft.com/office/drawing/2014/main" id="{6305BEB0-09A9-4CFE-AE15-0DAAA2AD3EE0}"/>
              </a:ext>
            </a:extLst>
          </p:cNvPr>
          <p:cNvSpPr>
            <a:spLocks xmlns:a="http://schemas.openxmlformats.org/drawingml/2006/main" noGrp="1"/>
          </p:cNvSpPr>
          <p:nvPr/>
        </p:nvSpPr>
        <p:spPr>
          <a:xfrm xmlns:a="http://schemas.openxmlformats.org/drawingml/2006/main">
            <a:off x="628650" y="904875"/>
            <a:ext cx="10839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Most errors are between adjacent floor codes.</a:t>
            </a:r>
          </a:p>
        </p:txBody>
      </p:sp>
      <p:sp>
        <p:nvSpPr>
          <p:cNvPr id="4" name="Straight Connector 3">
            <a:extLst xmlns:a="http://schemas.openxmlformats.org/drawingml/2006/main">
              <a:ext uri="{FF2B5EF4-FFF2-40B4-BE49-F238E27FC236}">
                <a16:creationId xmlns:a16="http://schemas.microsoft.com/office/drawing/2014/main" id="{3B0F8EFB-B1F7-44CD-AEA1-4F67DCE3711F}"/>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BD5DA"/>
            </a:solidFill>
            <a:prstDash val="solid"/>
          </a:ln>
        </p:spPr>
      </p:sp>
      <p:sp>
        <p:nvSpPr>
          <p:cNvPr id="5" name="Rectangle 4">
            <a:extLst xmlns:a="http://schemas.openxmlformats.org/drawingml/2006/main">
              <a:ext uri="{FF2B5EF4-FFF2-40B4-BE49-F238E27FC236}">
                <a16:creationId xmlns:a16="http://schemas.microsoft.com/office/drawing/2014/main" id="{ABED7316-558A-45C6-959B-FBF89DCB1982}"/>
              </a:ext>
            </a:extLst>
          </p:cNvPr>
          <p:cNvSpPr>
            <a:spLocks xmlns:a="http://schemas.openxmlformats.org/drawingml/2006/main" noGrp="1"/>
          </p:cNvSpPr>
          <p:nvPr/>
        </p:nvSpPr>
        <p:spPr>
          <a:xfrm xmlns:a="http://schemas.openxmlformats.org/drawingml/2006/main">
            <a:off x="609600" y="64770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900" b="0">
                <a:solidFill>
                  <a:srgbClr val="63788A"/>
                </a:solidFill>
                <a:latin typeface="Helvetica Neue"/>
                <a:ea typeface="Helvetica Neue"/>
                <a:cs typeface="Helvetica Neue"/>
              </a:defRPr>
            </a:defPPr>
            <a:lvl1pPr algn="r">
              <a:buNone/>
              <a:defRPr sz="900" b="0">
                <a:solidFill>
                  <a:srgbClr val="63788A"/>
                </a:solidFill>
                <a:latin typeface="Helvetica Neue"/>
                <a:ea typeface="Helvetica Neue"/>
                <a:cs typeface="Helvetica Neue"/>
              </a:defRPr>
            </a:lvl1pPr>
            <a:lvl2pPr algn="r">
              <a:buNone/>
              <a:defRPr sz="900" b="0">
                <a:solidFill>
                  <a:srgbClr val="63788A"/>
                </a:solidFill>
                <a:latin typeface="Helvetica Neue"/>
                <a:ea typeface="Helvetica Neue"/>
                <a:cs typeface="Helvetica Neue"/>
              </a:defRPr>
            </a:lvl2pPr>
            <a:lvl3pPr algn="r">
              <a:buNone/>
              <a:defRPr sz="900" b="0">
                <a:solidFill>
                  <a:srgbClr val="63788A"/>
                </a:solidFill>
                <a:latin typeface="Helvetica Neue"/>
                <a:ea typeface="Helvetica Neue"/>
                <a:cs typeface="Helvetica Neue"/>
              </a:defRPr>
            </a:lvl3pPr>
            <a:lvl4pPr algn="r">
              <a:buNone/>
              <a:defRPr sz="900" b="0">
                <a:solidFill>
                  <a:srgbClr val="63788A"/>
                </a:solidFill>
                <a:latin typeface="Helvetica Neue"/>
                <a:ea typeface="Helvetica Neue"/>
                <a:cs typeface="Helvetica Neue"/>
              </a:defRPr>
            </a:lvl4pPr>
            <a:lvl5pPr algn="r">
              <a:buNone/>
              <a:defRPr sz="900" b="0">
                <a:solidFill>
                  <a:srgbClr val="63788A"/>
                </a:solidFill>
                <a:latin typeface="Helvetica Neue"/>
                <a:ea typeface="Helvetica Neue"/>
                <a:cs typeface="Helvetica Neue"/>
              </a:defRPr>
            </a:lvl5pPr>
            <a:lvl6pPr algn="r">
              <a:buNone/>
              <a:defRPr sz="900" b="0">
                <a:solidFill>
                  <a:srgbClr val="63788A"/>
                </a:solidFill>
                <a:latin typeface="Helvetica Neue"/>
                <a:ea typeface="Helvetica Neue"/>
                <a:cs typeface="Helvetica Neue"/>
              </a:defRPr>
            </a:lvl6pPr>
            <a:lvl7pPr algn="r">
              <a:buNone/>
              <a:defRPr sz="900" b="0">
                <a:solidFill>
                  <a:srgbClr val="63788A"/>
                </a:solidFill>
                <a:latin typeface="Helvetica Neue"/>
                <a:ea typeface="Helvetica Neue"/>
                <a:cs typeface="Helvetica Neue"/>
              </a:defRPr>
            </a:lvl7pPr>
            <a:lvl8pPr algn="r">
              <a:buNone/>
              <a:defRPr sz="900" b="0">
                <a:solidFill>
                  <a:srgbClr val="63788A"/>
                </a:solidFill>
                <a:latin typeface="Helvetica Neue"/>
                <a:ea typeface="Helvetica Neue"/>
                <a:cs typeface="Helvetica Neue"/>
              </a:defRPr>
            </a:lvl8pPr>
            <a:lvl9pPr algn="r">
              <a:buNone/>
              <a:defRPr sz="900" b="0">
                <a:solidFill>
                  <a:srgbClr val="63788A"/>
                </a:solidFill>
                <a:latin typeface="Helvetica Neue"/>
                <a:ea typeface="Helvetica Neue"/>
                <a:cs typeface="Helvetica Neue"/>
              </a:defRPr>
            </a:lvl9pPr>
          </a:lstStyle>
          <a:p xmlns:a="http://schemas.openxmlformats.org/drawingml/2006/main">
            <a:pPr algn="r">
              <a:buNone/>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11</a:t>
            </a:r>
          </a:p>
        </p:txBody>
      </p:sp>
      <p:pic>
        <p:nvPicPr>
          <p:cNvPr id="6" name="Picture 5">
            <a:extLst xmlns:a="http://schemas.openxmlformats.org/drawingml/2006/main">
              <a:ext uri="{FF2B5EF4-FFF2-40B4-BE49-F238E27FC236}">
                <a16:creationId xmlns:a16="http://schemas.microsoft.com/office/drawing/2014/main" id="{62681A4C-FE18-40BC-9EB9-987FBB12C9B9}"/>
              </a:ext>
            </a:extLst>
          </p:cNvPr>
          <p:cNvPicPr>
            <a:picLocks xmlns:a="http://schemas.openxmlformats.org/drawingml/2006/main" noChangeAspect="1"/>
          </p:cNvPicPr>
          <p:nvPr/>
        </p:nvPicPr>
        <p:blipFill>
          <a:blip xmlns:r="http://schemas.openxmlformats.org/officeDocument/2006/relationships" xmlns:a="http://schemas.openxmlformats.org/drawingml/2006/main" r:embed="R2f2d834b0b234fc7"/>
          <a:stretch xmlns:a="http://schemas.openxmlformats.org/drawingml/2006/main"/>
        </p:blipFill>
        <p:spPr>
          <a:xfrm xmlns:a="http://schemas.openxmlformats.org/drawingml/2006/main">
            <a:off x="1167392" y="1381125"/>
            <a:ext cx="5904341" cy="4619625"/>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ED2DA532-0EB4-419E-B8D6-ECB943560FB5}"/>
              </a:ext>
            </a:extLst>
          </p:cNvPr>
          <p:cNvSpPr>
            <a:spLocks xmlns:a="http://schemas.openxmlformats.org/drawingml/2006/main" noGrp="1"/>
          </p:cNvSpPr>
          <p:nvPr/>
        </p:nvSpPr>
        <p:spPr>
          <a:xfrm xmlns:a="http://schemas.openxmlformats.org/drawingml/2006/main">
            <a:off x="8248650" y="1809750"/>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3750" b="1">
                <a:solidFill>
                  <a:srgbClr val="243A50"/>
                </a:solidFill>
                <a:latin typeface="Helvetica Neue"/>
                <a:ea typeface="Helvetica Neue"/>
                <a:cs typeface="Helvetica Neue"/>
              </a:defRPr>
            </a:defPPr>
            <a:lvl1pPr algn="l">
              <a:buNone/>
              <a:defRPr sz="3750" b="1">
                <a:solidFill>
                  <a:srgbClr val="243A50"/>
                </a:solidFill>
                <a:latin typeface="Helvetica Neue"/>
                <a:ea typeface="Helvetica Neue"/>
                <a:cs typeface="Helvetica Neue"/>
              </a:defRPr>
            </a:lvl1pPr>
            <a:lvl2pPr algn="l">
              <a:buNone/>
              <a:defRPr sz="3750" b="1">
                <a:solidFill>
                  <a:srgbClr val="243A50"/>
                </a:solidFill>
                <a:latin typeface="Helvetica Neue"/>
                <a:ea typeface="Helvetica Neue"/>
                <a:cs typeface="Helvetica Neue"/>
              </a:defRPr>
            </a:lvl2pPr>
            <a:lvl3pPr algn="l">
              <a:buNone/>
              <a:defRPr sz="3750" b="1">
                <a:solidFill>
                  <a:srgbClr val="243A50"/>
                </a:solidFill>
                <a:latin typeface="Helvetica Neue"/>
                <a:ea typeface="Helvetica Neue"/>
                <a:cs typeface="Helvetica Neue"/>
              </a:defRPr>
            </a:lvl3pPr>
            <a:lvl4pPr algn="l">
              <a:buNone/>
              <a:defRPr sz="3750" b="1">
                <a:solidFill>
                  <a:srgbClr val="243A50"/>
                </a:solidFill>
                <a:latin typeface="Helvetica Neue"/>
                <a:ea typeface="Helvetica Neue"/>
                <a:cs typeface="Helvetica Neue"/>
              </a:defRPr>
            </a:lvl4pPr>
            <a:lvl5pPr algn="l">
              <a:buNone/>
              <a:defRPr sz="3750" b="1">
                <a:solidFill>
                  <a:srgbClr val="243A50"/>
                </a:solidFill>
                <a:latin typeface="Helvetica Neue"/>
                <a:ea typeface="Helvetica Neue"/>
                <a:cs typeface="Helvetica Neue"/>
              </a:defRPr>
            </a:lvl5pPr>
            <a:lvl6pPr algn="l">
              <a:buNone/>
              <a:defRPr sz="3750" b="1">
                <a:solidFill>
                  <a:srgbClr val="243A50"/>
                </a:solidFill>
                <a:latin typeface="Helvetica Neue"/>
                <a:ea typeface="Helvetica Neue"/>
                <a:cs typeface="Helvetica Neue"/>
              </a:defRPr>
            </a:lvl6pPr>
            <a:lvl7pPr algn="l">
              <a:buNone/>
              <a:defRPr sz="3750" b="1">
                <a:solidFill>
                  <a:srgbClr val="243A50"/>
                </a:solidFill>
                <a:latin typeface="Helvetica Neue"/>
                <a:ea typeface="Helvetica Neue"/>
                <a:cs typeface="Helvetica Neue"/>
              </a:defRPr>
            </a:lvl7pPr>
            <a:lvl8pPr algn="l">
              <a:buNone/>
              <a:defRPr sz="3750" b="1">
                <a:solidFill>
                  <a:srgbClr val="243A50"/>
                </a:solidFill>
                <a:latin typeface="Helvetica Neue"/>
                <a:ea typeface="Helvetica Neue"/>
                <a:cs typeface="Helvetica Neue"/>
              </a:defRPr>
            </a:lvl8pPr>
            <a:lvl9pPr algn="l">
              <a:buNone/>
              <a:defRPr sz="3750" b="1">
                <a:solidFill>
                  <a:srgbClr val="243A50"/>
                </a:solidFill>
                <a:latin typeface="Helvetica Neue"/>
                <a:ea typeface="Helvetica Neue"/>
                <a:cs typeface="Helvetica Neue"/>
              </a:defRPr>
            </a:lvl9pPr>
          </a:lstStyle>
          <a:p xmlns:a="http://schemas.openxmlformats.org/drawingml/2006/main">
            <a:pPr algn="l">
              <a:buNone/>
              <a:defRPr sz="3750" b="1">
                <a:solidFill>
                  <a:srgbClr val="243A50"/>
                </a:solidFill>
                <a:latin typeface="Helvetica Neue"/>
                <a:ea typeface="Helvetica Neue"/>
                <a:cs typeface="Helvetica Neue"/>
              </a:defRPr>
            </a:pPr>
            <a:r>
              <a:rPr sz="3750" b="1">
                <a:solidFill>
                  <a:srgbClr val="243A50"/>
                </a:solidFill>
                <a:latin typeface="Helvetica Neue"/>
                <a:ea typeface="Helvetica Neue"/>
                <a:cs typeface="Helvetica Neue"/>
              </a:rPr>
              <a:t>88.93%</a:t>
            </a:r>
          </a:p>
        </p:txBody>
      </p:sp>
      <p:sp>
        <p:nvSpPr>
          <p:cNvPr id="8" name="Rectangle 7">
            <a:extLst xmlns:a="http://schemas.openxmlformats.org/drawingml/2006/main">
              <a:ext uri="{FF2B5EF4-FFF2-40B4-BE49-F238E27FC236}">
                <a16:creationId xmlns:a16="http://schemas.microsoft.com/office/drawing/2014/main" id="{61C8DEBA-F5E2-4DB3-9411-55A473C0E165}"/>
              </a:ext>
            </a:extLst>
          </p:cNvPr>
          <p:cNvSpPr>
            <a:spLocks xmlns:a="http://schemas.openxmlformats.org/drawingml/2006/main" noGrp="1"/>
          </p:cNvSpPr>
          <p:nvPr/>
        </p:nvSpPr>
        <p:spPr>
          <a:xfrm xmlns:a="http://schemas.openxmlformats.org/drawingml/2006/main">
            <a:off x="8248650" y="24765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held-out accuracy</a:t>
            </a:r>
          </a:p>
        </p:txBody>
      </p:sp>
      <p:sp>
        <p:nvSpPr>
          <p:cNvPr id="9" name="Rectangle 8">
            <a:extLst xmlns:a="http://schemas.openxmlformats.org/drawingml/2006/main">
              <a:ext uri="{FF2B5EF4-FFF2-40B4-BE49-F238E27FC236}">
                <a16:creationId xmlns:a16="http://schemas.microsoft.com/office/drawing/2014/main" id="{A35C7B7B-F0FC-42BA-BCBF-8D2595A64691}"/>
              </a:ext>
            </a:extLst>
          </p:cNvPr>
          <p:cNvSpPr>
            <a:spLocks xmlns:a="http://schemas.openxmlformats.org/drawingml/2006/main" noGrp="1"/>
          </p:cNvSpPr>
          <p:nvPr/>
        </p:nvSpPr>
        <p:spPr>
          <a:xfrm xmlns:a="http://schemas.openxmlformats.org/drawingml/2006/main">
            <a:off x="8248650" y="3190875"/>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3750" b="1">
                <a:solidFill>
                  <a:srgbClr val="64877F"/>
                </a:solidFill>
                <a:latin typeface="Helvetica Neue"/>
                <a:ea typeface="Helvetica Neue"/>
                <a:cs typeface="Helvetica Neue"/>
              </a:defRPr>
            </a:defPPr>
            <a:lvl1pPr algn="l">
              <a:buNone/>
              <a:defRPr sz="3750" b="1">
                <a:solidFill>
                  <a:srgbClr val="64877F"/>
                </a:solidFill>
                <a:latin typeface="Helvetica Neue"/>
                <a:ea typeface="Helvetica Neue"/>
                <a:cs typeface="Helvetica Neue"/>
              </a:defRPr>
            </a:lvl1pPr>
            <a:lvl2pPr algn="l">
              <a:buNone/>
              <a:defRPr sz="3750" b="1">
                <a:solidFill>
                  <a:srgbClr val="64877F"/>
                </a:solidFill>
                <a:latin typeface="Helvetica Neue"/>
                <a:ea typeface="Helvetica Neue"/>
                <a:cs typeface="Helvetica Neue"/>
              </a:defRPr>
            </a:lvl2pPr>
            <a:lvl3pPr algn="l">
              <a:buNone/>
              <a:defRPr sz="3750" b="1">
                <a:solidFill>
                  <a:srgbClr val="64877F"/>
                </a:solidFill>
                <a:latin typeface="Helvetica Neue"/>
                <a:ea typeface="Helvetica Neue"/>
                <a:cs typeface="Helvetica Neue"/>
              </a:defRPr>
            </a:lvl3pPr>
            <a:lvl4pPr algn="l">
              <a:buNone/>
              <a:defRPr sz="3750" b="1">
                <a:solidFill>
                  <a:srgbClr val="64877F"/>
                </a:solidFill>
                <a:latin typeface="Helvetica Neue"/>
                <a:ea typeface="Helvetica Neue"/>
                <a:cs typeface="Helvetica Neue"/>
              </a:defRPr>
            </a:lvl4pPr>
            <a:lvl5pPr algn="l">
              <a:buNone/>
              <a:defRPr sz="3750" b="1">
                <a:solidFill>
                  <a:srgbClr val="64877F"/>
                </a:solidFill>
                <a:latin typeface="Helvetica Neue"/>
                <a:ea typeface="Helvetica Neue"/>
                <a:cs typeface="Helvetica Neue"/>
              </a:defRPr>
            </a:lvl5pPr>
            <a:lvl6pPr algn="l">
              <a:buNone/>
              <a:defRPr sz="3750" b="1">
                <a:solidFill>
                  <a:srgbClr val="64877F"/>
                </a:solidFill>
                <a:latin typeface="Helvetica Neue"/>
                <a:ea typeface="Helvetica Neue"/>
                <a:cs typeface="Helvetica Neue"/>
              </a:defRPr>
            </a:lvl6pPr>
            <a:lvl7pPr algn="l">
              <a:buNone/>
              <a:defRPr sz="3750" b="1">
                <a:solidFill>
                  <a:srgbClr val="64877F"/>
                </a:solidFill>
                <a:latin typeface="Helvetica Neue"/>
                <a:ea typeface="Helvetica Neue"/>
                <a:cs typeface="Helvetica Neue"/>
              </a:defRPr>
            </a:lvl7pPr>
            <a:lvl8pPr algn="l">
              <a:buNone/>
              <a:defRPr sz="3750" b="1">
                <a:solidFill>
                  <a:srgbClr val="64877F"/>
                </a:solidFill>
                <a:latin typeface="Helvetica Neue"/>
                <a:ea typeface="Helvetica Neue"/>
                <a:cs typeface="Helvetica Neue"/>
              </a:defRPr>
            </a:lvl8pPr>
            <a:lvl9pPr algn="l">
              <a:buNone/>
              <a:defRPr sz="3750" b="1">
                <a:solidFill>
                  <a:srgbClr val="64877F"/>
                </a:solidFill>
                <a:latin typeface="Helvetica Neue"/>
                <a:ea typeface="Helvetica Neue"/>
                <a:cs typeface="Helvetica Neue"/>
              </a:defRPr>
            </a:lvl9pPr>
          </a:lstStyle>
          <a:p xmlns:a="http://schemas.openxmlformats.org/drawingml/2006/main">
            <a:pPr algn="l">
              <a:buNone/>
              <a:defRPr sz="3750" b="1">
                <a:solidFill>
                  <a:srgbClr val="64877F"/>
                </a:solidFill>
                <a:latin typeface="Helvetica Neue"/>
                <a:ea typeface="Helvetica Neue"/>
                <a:cs typeface="Helvetica Neue"/>
              </a:defRPr>
            </a:pPr>
            <a:r>
              <a:rPr sz="3750" b="1">
                <a:solidFill>
                  <a:srgbClr val="64877F"/>
                </a:solidFill>
                <a:latin typeface="Helvetica Neue"/>
                <a:ea typeface="Helvetica Neue"/>
                <a:cs typeface="Helvetica Neue"/>
              </a:rPr>
              <a:t>87.27%</a:t>
            </a:r>
          </a:p>
        </p:txBody>
      </p:sp>
      <p:sp>
        <p:nvSpPr>
          <p:cNvPr id="10" name="Rectangle 9">
            <a:extLst xmlns:a="http://schemas.openxmlformats.org/drawingml/2006/main">
              <a:ext uri="{FF2B5EF4-FFF2-40B4-BE49-F238E27FC236}">
                <a16:creationId xmlns:a16="http://schemas.microsoft.com/office/drawing/2014/main" id="{F14315E0-8246-458C-8562-5947FCF102F8}"/>
              </a:ext>
            </a:extLst>
          </p:cNvPr>
          <p:cNvSpPr>
            <a:spLocks xmlns:a="http://schemas.openxmlformats.org/drawingml/2006/main" noGrp="1"/>
          </p:cNvSpPr>
          <p:nvPr/>
        </p:nvSpPr>
        <p:spPr>
          <a:xfrm xmlns:a="http://schemas.openxmlformats.org/drawingml/2006/main">
            <a:off x="8248650" y="3857625"/>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held-out macro F1</a:t>
            </a:r>
          </a:p>
        </p:txBody>
      </p:sp>
      <p:sp>
        <p:nvSpPr>
          <p:cNvPr id="11" name="Rectangle 10">
            <a:extLst xmlns:a="http://schemas.openxmlformats.org/drawingml/2006/main">
              <a:ext uri="{FF2B5EF4-FFF2-40B4-BE49-F238E27FC236}">
                <a16:creationId xmlns:a16="http://schemas.microsoft.com/office/drawing/2014/main" id="{1BCA9EE7-F305-46B1-A917-09F38778C1FA}"/>
              </a:ext>
            </a:extLst>
          </p:cNvPr>
          <p:cNvSpPr>
            <a:spLocks xmlns:a="http://schemas.openxmlformats.org/drawingml/2006/main" noGrp="1"/>
          </p:cNvSpPr>
          <p:nvPr/>
        </p:nvSpPr>
        <p:spPr>
          <a:xfrm xmlns:a="http://schemas.openxmlformats.org/drawingml/2006/main">
            <a:off x="8286750" y="461962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1">
                <a:solidFill>
                  <a:srgbClr val="63788A"/>
                </a:solidFill>
                <a:latin typeface="Helvetica Neue"/>
                <a:ea typeface="Helvetica Neue"/>
                <a:cs typeface="Helvetica Neue"/>
              </a:defRPr>
            </a:defPPr>
            <a:lvl1pPr algn="l">
              <a:buNone/>
              <a:defRPr sz="1275" b="1">
                <a:solidFill>
                  <a:srgbClr val="63788A"/>
                </a:solidFill>
                <a:latin typeface="Helvetica Neue"/>
                <a:ea typeface="Helvetica Neue"/>
                <a:cs typeface="Helvetica Neue"/>
              </a:defRPr>
            </a:lvl1pPr>
            <a:lvl2pPr algn="l">
              <a:buNone/>
              <a:defRPr sz="1275" b="1">
                <a:solidFill>
                  <a:srgbClr val="63788A"/>
                </a:solidFill>
                <a:latin typeface="Helvetica Neue"/>
                <a:ea typeface="Helvetica Neue"/>
                <a:cs typeface="Helvetica Neue"/>
              </a:defRPr>
            </a:lvl2pPr>
            <a:lvl3pPr algn="l">
              <a:buNone/>
              <a:defRPr sz="1275" b="1">
                <a:solidFill>
                  <a:srgbClr val="63788A"/>
                </a:solidFill>
                <a:latin typeface="Helvetica Neue"/>
                <a:ea typeface="Helvetica Neue"/>
                <a:cs typeface="Helvetica Neue"/>
              </a:defRPr>
            </a:lvl3pPr>
            <a:lvl4pPr algn="l">
              <a:buNone/>
              <a:defRPr sz="1275" b="1">
                <a:solidFill>
                  <a:srgbClr val="63788A"/>
                </a:solidFill>
                <a:latin typeface="Helvetica Neue"/>
                <a:ea typeface="Helvetica Neue"/>
                <a:cs typeface="Helvetica Neue"/>
              </a:defRPr>
            </a:lvl4pPr>
            <a:lvl5pPr algn="l">
              <a:buNone/>
              <a:defRPr sz="1275" b="1">
                <a:solidFill>
                  <a:srgbClr val="63788A"/>
                </a:solidFill>
                <a:latin typeface="Helvetica Neue"/>
                <a:ea typeface="Helvetica Neue"/>
                <a:cs typeface="Helvetica Neue"/>
              </a:defRPr>
            </a:lvl5pPr>
            <a:lvl6pPr algn="l">
              <a:buNone/>
              <a:defRPr sz="1275" b="1">
                <a:solidFill>
                  <a:srgbClr val="63788A"/>
                </a:solidFill>
                <a:latin typeface="Helvetica Neue"/>
                <a:ea typeface="Helvetica Neue"/>
                <a:cs typeface="Helvetica Neue"/>
              </a:defRPr>
            </a:lvl6pPr>
            <a:lvl7pPr algn="l">
              <a:buNone/>
              <a:defRPr sz="1275" b="1">
                <a:solidFill>
                  <a:srgbClr val="63788A"/>
                </a:solidFill>
                <a:latin typeface="Helvetica Neue"/>
                <a:ea typeface="Helvetica Neue"/>
                <a:cs typeface="Helvetica Neue"/>
              </a:defRPr>
            </a:lvl7pPr>
            <a:lvl8pPr algn="l">
              <a:buNone/>
              <a:defRPr sz="1275" b="1">
                <a:solidFill>
                  <a:srgbClr val="63788A"/>
                </a:solidFill>
                <a:latin typeface="Helvetica Neue"/>
                <a:ea typeface="Helvetica Neue"/>
                <a:cs typeface="Helvetica Neue"/>
              </a:defRPr>
            </a:lvl8pPr>
            <a:lvl9pPr algn="l">
              <a:buNone/>
              <a:defRPr sz="1275" b="1">
                <a:solidFill>
                  <a:srgbClr val="63788A"/>
                </a:solidFill>
                <a:latin typeface="Helvetica Neue"/>
                <a:ea typeface="Helvetica Neue"/>
                <a:cs typeface="Helvetica Neue"/>
              </a:defRPr>
            </a:lvl9pPr>
          </a:lstStyle>
          <a:p xmlns:a="http://schemas.openxmlformats.org/drawingml/2006/main">
            <a:pPr algn="l">
              <a:buNone/>
              <a:defRPr sz="1275" b="1">
                <a:solidFill>
                  <a:srgbClr val="63788A"/>
                </a:solidFill>
                <a:latin typeface="Helvetica Neue"/>
                <a:ea typeface="Helvetica Neue"/>
                <a:cs typeface="Helvetica Neue"/>
              </a:defRPr>
            </a:pPr>
            <a:r>
              <a:rPr sz="1275" b="1">
                <a:solidFill>
                  <a:srgbClr val="63788A"/>
                </a:solidFill>
                <a:latin typeface="Helvetica Neue"/>
                <a:ea typeface="Helvetica Neue"/>
                <a:cs typeface="Helvetica Neue"/>
              </a:rPr>
              <a:t>Largest confusion</a:t>
            </a:r>
          </a:p>
        </p:txBody>
      </p:sp>
      <p:sp>
        <p:nvSpPr>
          <p:cNvPr id="12" name="Rectangle 11">
            <a:extLst xmlns:a="http://schemas.openxmlformats.org/drawingml/2006/main">
              <a:ext uri="{FF2B5EF4-FFF2-40B4-BE49-F238E27FC236}">
                <a16:creationId xmlns:a16="http://schemas.microsoft.com/office/drawing/2014/main" id="{7AC6684F-EBF1-431C-ADA4-23E96E9F2E43}"/>
              </a:ext>
            </a:extLst>
          </p:cNvPr>
          <p:cNvSpPr>
            <a:spLocks xmlns:a="http://schemas.openxmlformats.org/drawingml/2006/main" noGrp="1"/>
          </p:cNvSpPr>
          <p:nvPr/>
        </p:nvSpPr>
        <p:spPr>
          <a:xfrm xmlns:a="http://schemas.openxmlformats.org/drawingml/2006/main">
            <a:off x="8286750" y="4953000"/>
            <a:ext cx="314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75" b="1">
                <a:solidFill>
                  <a:srgbClr val="33485D"/>
                </a:solidFill>
                <a:latin typeface="Helvetica Neue"/>
                <a:ea typeface="Helvetica Neue"/>
                <a:cs typeface="Helvetica Neue"/>
              </a:defRPr>
            </a:defPPr>
            <a:lvl1pPr algn="l">
              <a:buNone/>
              <a:defRPr sz="1575" b="1">
                <a:solidFill>
                  <a:srgbClr val="33485D"/>
                </a:solidFill>
                <a:latin typeface="Helvetica Neue"/>
                <a:ea typeface="Helvetica Neue"/>
                <a:cs typeface="Helvetica Neue"/>
              </a:defRPr>
            </a:lvl1pPr>
            <a:lvl2pPr algn="l">
              <a:buNone/>
              <a:defRPr sz="1575" b="1">
                <a:solidFill>
                  <a:srgbClr val="33485D"/>
                </a:solidFill>
                <a:latin typeface="Helvetica Neue"/>
                <a:ea typeface="Helvetica Neue"/>
                <a:cs typeface="Helvetica Neue"/>
              </a:defRPr>
            </a:lvl2pPr>
            <a:lvl3pPr algn="l">
              <a:buNone/>
              <a:defRPr sz="1575" b="1">
                <a:solidFill>
                  <a:srgbClr val="33485D"/>
                </a:solidFill>
                <a:latin typeface="Helvetica Neue"/>
                <a:ea typeface="Helvetica Neue"/>
                <a:cs typeface="Helvetica Neue"/>
              </a:defRPr>
            </a:lvl3pPr>
            <a:lvl4pPr algn="l">
              <a:buNone/>
              <a:defRPr sz="1575" b="1">
                <a:solidFill>
                  <a:srgbClr val="33485D"/>
                </a:solidFill>
                <a:latin typeface="Helvetica Neue"/>
                <a:ea typeface="Helvetica Neue"/>
                <a:cs typeface="Helvetica Neue"/>
              </a:defRPr>
            </a:lvl4pPr>
            <a:lvl5pPr algn="l">
              <a:buNone/>
              <a:defRPr sz="1575" b="1">
                <a:solidFill>
                  <a:srgbClr val="33485D"/>
                </a:solidFill>
                <a:latin typeface="Helvetica Neue"/>
                <a:ea typeface="Helvetica Neue"/>
                <a:cs typeface="Helvetica Neue"/>
              </a:defRPr>
            </a:lvl5pPr>
            <a:lvl6pPr algn="l">
              <a:buNone/>
              <a:defRPr sz="1575" b="1">
                <a:solidFill>
                  <a:srgbClr val="33485D"/>
                </a:solidFill>
                <a:latin typeface="Helvetica Neue"/>
                <a:ea typeface="Helvetica Neue"/>
                <a:cs typeface="Helvetica Neue"/>
              </a:defRPr>
            </a:lvl6pPr>
            <a:lvl7pPr algn="l">
              <a:buNone/>
              <a:defRPr sz="1575" b="1">
                <a:solidFill>
                  <a:srgbClr val="33485D"/>
                </a:solidFill>
                <a:latin typeface="Helvetica Neue"/>
                <a:ea typeface="Helvetica Neue"/>
                <a:cs typeface="Helvetica Neue"/>
              </a:defRPr>
            </a:lvl7pPr>
            <a:lvl8pPr algn="l">
              <a:buNone/>
              <a:defRPr sz="1575" b="1">
                <a:solidFill>
                  <a:srgbClr val="33485D"/>
                </a:solidFill>
                <a:latin typeface="Helvetica Neue"/>
                <a:ea typeface="Helvetica Neue"/>
                <a:cs typeface="Helvetica Neue"/>
              </a:defRPr>
            </a:lvl8pPr>
            <a:lvl9pPr algn="l">
              <a:buNone/>
              <a:defRPr sz="1575" b="1">
                <a:solidFill>
                  <a:srgbClr val="33485D"/>
                </a:solidFill>
                <a:latin typeface="Helvetica Neue"/>
                <a:ea typeface="Helvetica Neue"/>
                <a:cs typeface="Helvetica Neue"/>
              </a:defRPr>
            </a:lvl9pPr>
          </a:lstStyle>
          <a:p xmlns:a="http://schemas.openxmlformats.org/drawingml/2006/main">
            <a:pPr algn="l">
              <a:buNone/>
              <a:defRPr sz="1575" b="1">
                <a:solidFill>
                  <a:srgbClr val="33485D"/>
                </a:solidFill>
                <a:latin typeface="Helvetica Neue"/>
                <a:ea typeface="Helvetica Neue"/>
                <a:cs typeface="Helvetica Neue"/>
              </a:defRPr>
            </a:pPr>
            <a:r>
              <a:rPr sz="1575" b="1">
                <a:solidFill>
                  <a:srgbClr val="33485D"/>
                </a:solidFill>
                <a:latin typeface="Helvetica Neue"/>
                <a:ea typeface="Helvetica Neue"/>
                <a:cs typeface="Helvetica Neue"/>
              </a:rPr>
              <a:t>true 1 → predicted 2 · 49 rows</a:t>
            </a:r>
          </a:p>
        </p:txBody>
      </p:sp>
    </p:spTree>
    <p:extLst>
      <p:ext uri="{BB962C8B-B14F-4D97-AF65-F5344CB8AC3E}">
        <p14:creationId xmlns:p14="http://schemas.microsoft.com/office/powerpoint/2010/main" val="903531775"/>
      </p:ext>
    </p:extLst>
  </p:cSld>
</p:sld>
</file>

<file path=ppt/slides/slide1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3" name="Rectangle 12">
            <a:extLst xmlns:a="http://schemas.openxmlformats.org/drawingml/2006/main">
              <a:ext uri="{FF2B5EF4-FFF2-40B4-BE49-F238E27FC236}">
                <a16:creationId xmlns:a16="http://schemas.microsoft.com/office/drawing/2014/main" id="{061C6DA4-76C2-413A-8A6C-D3350F3A9C15}"/>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C7DBD1"/>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AF5C1767-7037-4426-A6BE-A7C1F8FB1E3B}"/>
              </a:ext>
            </a:extLst>
          </p:cNvPr>
          <p:cNvSpPr>
            <a:spLocks xmlns:a="http://schemas.openxmlformats.org/drawingml/2006/main" noGrp="1"/>
          </p:cNvSpPr>
          <p:nvPr/>
        </p:nvSpPr>
        <p:spPr>
          <a:xfrm xmlns:a="http://schemas.openxmlformats.org/drawingml/2006/main">
            <a:off x="609600" y="37147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625" b="1">
                <a:solidFill>
                  <a:srgbClr val="243A50"/>
                </a:solidFill>
                <a:latin typeface="Helvetica Neue"/>
                <a:ea typeface="Helvetica Neue"/>
                <a:cs typeface="Helvetica Neue"/>
              </a:defRPr>
            </a:defPPr>
            <a:lvl1pPr algn="l">
              <a:buNone/>
              <a:defRPr sz="2625" b="1">
                <a:solidFill>
                  <a:srgbClr val="243A50"/>
                </a:solidFill>
                <a:latin typeface="Helvetica Neue"/>
                <a:ea typeface="Helvetica Neue"/>
                <a:cs typeface="Helvetica Neue"/>
              </a:defRPr>
            </a:lvl1pPr>
            <a:lvl2pPr algn="l">
              <a:buNone/>
              <a:defRPr sz="2625" b="1">
                <a:solidFill>
                  <a:srgbClr val="243A50"/>
                </a:solidFill>
                <a:latin typeface="Helvetica Neue"/>
                <a:ea typeface="Helvetica Neue"/>
                <a:cs typeface="Helvetica Neue"/>
              </a:defRPr>
            </a:lvl2pPr>
            <a:lvl3pPr algn="l">
              <a:buNone/>
              <a:defRPr sz="2625" b="1">
                <a:solidFill>
                  <a:srgbClr val="243A50"/>
                </a:solidFill>
                <a:latin typeface="Helvetica Neue"/>
                <a:ea typeface="Helvetica Neue"/>
                <a:cs typeface="Helvetica Neue"/>
              </a:defRPr>
            </a:lvl3pPr>
            <a:lvl4pPr algn="l">
              <a:buNone/>
              <a:defRPr sz="2625" b="1">
                <a:solidFill>
                  <a:srgbClr val="243A50"/>
                </a:solidFill>
                <a:latin typeface="Helvetica Neue"/>
                <a:ea typeface="Helvetica Neue"/>
                <a:cs typeface="Helvetica Neue"/>
              </a:defRPr>
            </a:lvl4pPr>
            <a:lvl5pPr algn="l">
              <a:buNone/>
              <a:defRPr sz="2625" b="1">
                <a:solidFill>
                  <a:srgbClr val="243A50"/>
                </a:solidFill>
                <a:latin typeface="Helvetica Neue"/>
                <a:ea typeface="Helvetica Neue"/>
                <a:cs typeface="Helvetica Neue"/>
              </a:defRPr>
            </a:lvl5pPr>
            <a:lvl6pPr algn="l">
              <a:buNone/>
              <a:defRPr sz="2625" b="1">
                <a:solidFill>
                  <a:srgbClr val="243A50"/>
                </a:solidFill>
                <a:latin typeface="Helvetica Neue"/>
                <a:ea typeface="Helvetica Neue"/>
                <a:cs typeface="Helvetica Neue"/>
              </a:defRPr>
            </a:lvl6pPr>
            <a:lvl7pPr algn="l">
              <a:buNone/>
              <a:defRPr sz="2625" b="1">
                <a:solidFill>
                  <a:srgbClr val="243A50"/>
                </a:solidFill>
                <a:latin typeface="Helvetica Neue"/>
                <a:ea typeface="Helvetica Neue"/>
                <a:cs typeface="Helvetica Neue"/>
              </a:defRPr>
            </a:lvl7pPr>
            <a:lvl8pPr algn="l">
              <a:buNone/>
              <a:defRPr sz="2625" b="1">
                <a:solidFill>
                  <a:srgbClr val="243A50"/>
                </a:solidFill>
                <a:latin typeface="Helvetica Neue"/>
                <a:ea typeface="Helvetica Neue"/>
                <a:cs typeface="Helvetica Neue"/>
              </a:defRPr>
            </a:lvl8pPr>
            <a:lvl9pPr algn="l">
              <a:buNone/>
              <a:defRPr sz="2625" b="1">
                <a:solidFill>
                  <a:srgbClr val="243A50"/>
                </a:solidFill>
                <a:latin typeface="Helvetica Neue"/>
                <a:ea typeface="Helvetica Neue"/>
                <a:cs typeface="Helvetica Neue"/>
              </a:defRPr>
            </a:lvl9pPr>
          </a:lstStyle>
          <a:p xmlns:a="http://schemas.openxmlformats.org/drawingml/2006/main">
            <a:pPr algn="l">
              <a:buNone/>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3 · Minority floor performance</a:t>
            </a:r>
          </a:p>
        </p:txBody>
      </p:sp>
      <p:sp>
        <p:nvSpPr>
          <p:cNvPr id="3" name="Rectangle 2">
            <a:extLst xmlns:a="http://schemas.openxmlformats.org/drawingml/2006/main">
              <a:ext uri="{FF2B5EF4-FFF2-40B4-BE49-F238E27FC236}">
                <a16:creationId xmlns:a16="http://schemas.microsoft.com/office/drawing/2014/main" id="{AA0F079E-88C9-486C-8887-C0C08B406DCF}"/>
              </a:ext>
            </a:extLst>
          </p:cNvPr>
          <p:cNvSpPr>
            <a:spLocks xmlns:a="http://schemas.openxmlformats.org/drawingml/2006/main" noGrp="1"/>
          </p:cNvSpPr>
          <p:nvPr/>
        </p:nvSpPr>
        <p:spPr>
          <a:xfrm xmlns:a="http://schemas.openxmlformats.org/drawingml/2006/main">
            <a:off x="628650" y="904875"/>
            <a:ext cx="10839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Floor 4 has limited held-out support and the weakest recall.</a:t>
            </a:r>
          </a:p>
        </p:txBody>
      </p:sp>
      <p:sp>
        <p:nvSpPr>
          <p:cNvPr id="4" name="Straight Connector 3">
            <a:extLst xmlns:a="http://schemas.openxmlformats.org/drawingml/2006/main">
              <a:ext uri="{FF2B5EF4-FFF2-40B4-BE49-F238E27FC236}">
                <a16:creationId xmlns:a16="http://schemas.microsoft.com/office/drawing/2014/main" id="{5DC032BB-B2B4-4158-BFE4-E911B2E6FDE9}"/>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BD5DA"/>
            </a:solidFill>
            <a:prstDash val="solid"/>
          </a:ln>
        </p:spPr>
      </p:sp>
      <p:sp>
        <p:nvSpPr>
          <p:cNvPr id="5" name="Rectangle 4">
            <a:extLst xmlns:a="http://schemas.openxmlformats.org/drawingml/2006/main">
              <a:ext uri="{FF2B5EF4-FFF2-40B4-BE49-F238E27FC236}">
                <a16:creationId xmlns:a16="http://schemas.microsoft.com/office/drawing/2014/main" id="{3B7086AB-8824-4FBE-876D-A3BA8AD47E8D}"/>
              </a:ext>
            </a:extLst>
          </p:cNvPr>
          <p:cNvSpPr>
            <a:spLocks xmlns:a="http://schemas.openxmlformats.org/drawingml/2006/main" noGrp="1"/>
          </p:cNvSpPr>
          <p:nvPr/>
        </p:nvSpPr>
        <p:spPr>
          <a:xfrm xmlns:a="http://schemas.openxmlformats.org/drawingml/2006/main">
            <a:off x="609600" y="64770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900" b="0">
                <a:solidFill>
                  <a:srgbClr val="63788A"/>
                </a:solidFill>
                <a:latin typeface="Helvetica Neue"/>
                <a:ea typeface="Helvetica Neue"/>
                <a:cs typeface="Helvetica Neue"/>
              </a:defRPr>
            </a:defPPr>
            <a:lvl1pPr algn="r">
              <a:buNone/>
              <a:defRPr sz="900" b="0">
                <a:solidFill>
                  <a:srgbClr val="63788A"/>
                </a:solidFill>
                <a:latin typeface="Helvetica Neue"/>
                <a:ea typeface="Helvetica Neue"/>
                <a:cs typeface="Helvetica Neue"/>
              </a:defRPr>
            </a:lvl1pPr>
            <a:lvl2pPr algn="r">
              <a:buNone/>
              <a:defRPr sz="900" b="0">
                <a:solidFill>
                  <a:srgbClr val="63788A"/>
                </a:solidFill>
                <a:latin typeface="Helvetica Neue"/>
                <a:ea typeface="Helvetica Neue"/>
                <a:cs typeface="Helvetica Neue"/>
              </a:defRPr>
            </a:lvl2pPr>
            <a:lvl3pPr algn="r">
              <a:buNone/>
              <a:defRPr sz="900" b="0">
                <a:solidFill>
                  <a:srgbClr val="63788A"/>
                </a:solidFill>
                <a:latin typeface="Helvetica Neue"/>
                <a:ea typeface="Helvetica Neue"/>
                <a:cs typeface="Helvetica Neue"/>
              </a:defRPr>
            </a:lvl3pPr>
            <a:lvl4pPr algn="r">
              <a:buNone/>
              <a:defRPr sz="900" b="0">
                <a:solidFill>
                  <a:srgbClr val="63788A"/>
                </a:solidFill>
                <a:latin typeface="Helvetica Neue"/>
                <a:ea typeface="Helvetica Neue"/>
                <a:cs typeface="Helvetica Neue"/>
              </a:defRPr>
            </a:lvl4pPr>
            <a:lvl5pPr algn="r">
              <a:buNone/>
              <a:defRPr sz="900" b="0">
                <a:solidFill>
                  <a:srgbClr val="63788A"/>
                </a:solidFill>
                <a:latin typeface="Helvetica Neue"/>
                <a:ea typeface="Helvetica Neue"/>
                <a:cs typeface="Helvetica Neue"/>
              </a:defRPr>
            </a:lvl5pPr>
            <a:lvl6pPr algn="r">
              <a:buNone/>
              <a:defRPr sz="900" b="0">
                <a:solidFill>
                  <a:srgbClr val="63788A"/>
                </a:solidFill>
                <a:latin typeface="Helvetica Neue"/>
                <a:ea typeface="Helvetica Neue"/>
                <a:cs typeface="Helvetica Neue"/>
              </a:defRPr>
            </a:lvl6pPr>
            <a:lvl7pPr algn="r">
              <a:buNone/>
              <a:defRPr sz="900" b="0">
                <a:solidFill>
                  <a:srgbClr val="63788A"/>
                </a:solidFill>
                <a:latin typeface="Helvetica Neue"/>
                <a:ea typeface="Helvetica Neue"/>
                <a:cs typeface="Helvetica Neue"/>
              </a:defRPr>
            </a:lvl7pPr>
            <a:lvl8pPr algn="r">
              <a:buNone/>
              <a:defRPr sz="900" b="0">
                <a:solidFill>
                  <a:srgbClr val="63788A"/>
                </a:solidFill>
                <a:latin typeface="Helvetica Neue"/>
                <a:ea typeface="Helvetica Neue"/>
                <a:cs typeface="Helvetica Neue"/>
              </a:defRPr>
            </a:lvl8pPr>
            <a:lvl9pPr algn="r">
              <a:buNone/>
              <a:defRPr sz="900" b="0">
                <a:solidFill>
                  <a:srgbClr val="63788A"/>
                </a:solidFill>
                <a:latin typeface="Helvetica Neue"/>
                <a:ea typeface="Helvetica Neue"/>
                <a:cs typeface="Helvetica Neue"/>
              </a:defRPr>
            </a:lvl9pPr>
          </a:lstStyle>
          <a:p xmlns:a="http://schemas.openxmlformats.org/drawingml/2006/main">
            <a:pPr algn="r">
              <a:buNone/>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12</a:t>
            </a:r>
          </a:p>
        </p:txBody>
      </p:sp>
      <p:pic>
        <p:nvPicPr>
          <p:cNvPr id="6" name="Picture 5">
            <a:extLst xmlns:a="http://schemas.openxmlformats.org/drawingml/2006/main">
              <a:ext uri="{FF2B5EF4-FFF2-40B4-BE49-F238E27FC236}">
                <a16:creationId xmlns:a16="http://schemas.microsoft.com/office/drawing/2014/main" id="{5581CD1A-A5C1-4593-8250-52B778093823}"/>
              </a:ext>
            </a:extLst>
          </p:cNvPr>
          <p:cNvPicPr>
            <a:picLocks xmlns:a="http://schemas.openxmlformats.org/drawingml/2006/main" noChangeAspect="1"/>
          </p:cNvPicPr>
          <p:nvPr/>
        </p:nvPicPr>
        <p:blipFill>
          <a:blip xmlns:r="http://schemas.openxmlformats.org/officeDocument/2006/relationships" xmlns:a="http://schemas.openxmlformats.org/drawingml/2006/main" r:embed="Rafae1197fe934808"/>
          <a:stretch xmlns:a="http://schemas.openxmlformats.org/drawingml/2006/main"/>
        </p:blipFill>
        <p:spPr>
          <a:xfrm xmlns:a="http://schemas.openxmlformats.org/drawingml/2006/main">
            <a:off x="552450" y="2360818"/>
            <a:ext cx="6286500" cy="2326864"/>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BB5D5130-D889-4B72-AA54-CFFDD2C1B6EB}"/>
              </a:ext>
            </a:extLst>
          </p:cNvPr>
          <p:cNvSpPr>
            <a:spLocks xmlns:a="http://schemas.openxmlformats.org/drawingml/2006/main" noGrp="1"/>
          </p:cNvSpPr>
          <p:nvPr/>
        </p:nvSpPr>
        <p:spPr>
          <a:xfrm xmlns:a="http://schemas.openxmlformats.org/drawingml/2006/main">
            <a:off x="7715250" y="1809750"/>
            <a:ext cx="323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3750" b="1">
                <a:solidFill>
                  <a:srgbClr val="243A50"/>
                </a:solidFill>
                <a:latin typeface="Helvetica Neue"/>
                <a:ea typeface="Helvetica Neue"/>
                <a:cs typeface="Helvetica Neue"/>
              </a:defRPr>
            </a:defPPr>
            <a:lvl1pPr algn="l">
              <a:buNone/>
              <a:defRPr sz="3750" b="1">
                <a:solidFill>
                  <a:srgbClr val="243A50"/>
                </a:solidFill>
                <a:latin typeface="Helvetica Neue"/>
                <a:ea typeface="Helvetica Neue"/>
                <a:cs typeface="Helvetica Neue"/>
              </a:defRPr>
            </a:lvl1pPr>
            <a:lvl2pPr algn="l">
              <a:buNone/>
              <a:defRPr sz="3750" b="1">
                <a:solidFill>
                  <a:srgbClr val="243A50"/>
                </a:solidFill>
                <a:latin typeface="Helvetica Neue"/>
                <a:ea typeface="Helvetica Neue"/>
                <a:cs typeface="Helvetica Neue"/>
              </a:defRPr>
            </a:lvl2pPr>
            <a:lvl3pPr algn="l">
              <a:buNone/>
              <a:defRPr sz="3750" b="1">
                <a:solidFill>
                  <a:srgbClr val="243A50"/>
                </a:solidFill>
                <a:latin typeface="Helvetica Neue"/>
                <a:ea typeface="Helvetica Neue"/>
                <a:cs typeface="Helvetica Neue"/>
              </a:defRPr>
            </a:lvl3pPr>
            <a:lvl4pPr algn="l">
              <a:buNone/>
              <a:defRPr sz="3750" b="1">
                <a:solidFill>
                  <a:srgbClr val="243A50"/>
                </a:solidFill>
                <a:latin typeface="Helvetica Neue"/>
                <a:ea typeface="Helvetica Neue"/>
                <a:cs typeface="Helvetica Neue"/>
              </a:defRPr>
            </a:lvl4pPr>
            <a:lvl5pPr algn="l">
              <a:buNone/>
              <a:defRPr sz="3750" b="1">
                <a:solidFill>
                  <a:srgbClr val="243A50"/>
                </a:solidFill>
                <a:latin typeface="Helvetica Neue"/>
                <a:ea typeface="Helvetica Neue"/>
                <a:cs typeface="Helvetica Neue"/>
              </a:defRPr>
            </a:lvl5pPr>
            <a:lvl6pPr algn="l">
              <a:buNone/>
              <a:defRPr sz="3750" b="1">
                <a:solidFill>
                  <a:srgbClr val="243A50"/>
                </a:solidFill>
                <a:latin typeface="Helvetica Neue"/>
                <a:ea typeface="Helvetica Neue"/>
                <a:cs typeface="Helvetica Neue"/>
              </a:defRPr>
            </a:lvl6pPr>
            <a:lvl7pPr algn="l">
              <a:buNone/>
              <a:defRPr sz="3750" b="1">
                <a:solidFill>
                  <a:srgbClr val="243A50"/>
                </a:solidFill>
                <a:latin typeface="Helvetica Neue"/>
                <a:ea typeface="Helvetica Neue"/>
                <a:cs typeface="Helvetica Neue"/>
              </a:defRPr>
            </a:lvl7pPr>
            <a:lvl8pPr algn="l">
              <a:buNone/>
              <a:defRPr sz="3750" b="1">
                <a:solidFill>
                  <a:srgbClr val="243A50"/>
                </a:solidFill>
                <a:latin typeface="Helvetica Neue"/>
                <a:ea typeface="Helvetica Neue"/>
                <a:cs typeface="Helvetica Neue"/>
              </a:defRPr>
            </a:lvl8pPr>
            <a:lvl9pPr algn="l">
              <a:buNone/>
              <a:defRPr sz="3750" b="1">
                <a:solidFill>
                  <a:srgbClr val="243A50"/>
                </a:solidFill>
                <a:latin typeface="Helvetica Neue"/>
                <a:ea typeface="Helvetica Neue"/>
                <a:cs typeface="Helvetica Neue"/>
              </a:defRPr>
            </a:lvl9pPr>
          </a:lstStyle>
          <a:p xmlns:a="http://schemas.openxmlformats.org/drawingml/2006/main">
            <a:pPr algn="l">
              <a:buNone/>
              <a:defRPr sz="3750" b="1">
                <a:solidFill>
                  <a:srgbClr val="243A50"/>
                </a:solidFill>
                <a:latin typeface="Helvetica Neue"/>
                <a:ea typeface="Helvetica Neue"/>
                <a:cs typeface="Helvetica Neue"/>
              </a:defRPr>
            </a:pPr>
            <a:r>
              <a:rPr sz="3750" b="1">
                <a:solidFill>
                  <a:srgbClr val="243A50"/>
                </a:solidFill>
                <a:latin typeface="Helvetica Neue"/>
                <a:ea typeface="Helvetica Neue"/>
                <a:cs typeface="Helvetica Neue"/>
              </a:rPr>
              <a:t>39</a:t>
            </a:r>
          </a:p>
        </p:txBody>
      </p:sp>
      <p:sp>
        <p:nvSpPr>
          <p:cNvPr id="8" name="Rectangle 7">
            <a:extLst xmlns:a="http://schemas.openxmlformats.org/drawingml/2006/main">
              <a:ext uri="{FF2B5EF4-FFF2-40B4-BE49-F238E27FC236}">
                <a16:creationId xmlns:a16="http://schemas.microsoft.com/office/drawing/2014/main" id="{0B61BE7E-34EC-45F5-B830-FC476457D0A1}"/>
              </a:ext>
            </a:extLst>
          </p:cNvPr>
          <p:cNvSpPr>
            <a:spLocks xmlns:a="http://schemas.openxmlformats.org/drawingml/2006/main" noGrp="1"/>
          </p:cNvSpPr>
          <p:nvPr/>
        </p:nvSpPr>
        <p:spPr>
          <a:xfrm xmlns:a="http://schemas.openxmlformats.org/drawingml/2006/main">
            <a:off x="7715250" y="2476500"/>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held-out floor-4 rows</a:t>
            </a:r>
          </a:p>
        </p:txBody>
      </p:sp>
      <p:sp>
        <p:nvSpPr>
          <p:cNvPr id="9" name="Rectangle 8">
            <a:extLst xmlns:a="http://schemas.openxmlformats.org/drawingml/2006/main">
              <a:ext uri="{FF2B5EF4-FFF2-40B4-BE49-F238E27FC236}">
                <a16:creationId xmlns:a16="http://schemas.microsoft.com/office/drawing/2014/main" id="{7A37EBB8-32DB-4A51-B8CE-79AEB15D3B88}"/>
              </a:ext>
            </a:extLst>
          </p:cNvPr>
          <p:cNvSpPr>
            <a:spLocks xmlns:a="http://schemas.openxmlformats.org/drawingml/2006/main" noGrp="1"/>
          </p:cNvSpPr>
          <p:nvPr/>
        </p:nvSpPr>
        <p:spPr>
          <a:xfrm xmlns:a="http://schemas.openxmlformats.org/drawingml/2006/main">
            <a:off x="7715250" y="3143250"/>
            <a:ext cx="323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3750" b="1">
                <a:solidFill>
                  <a:srgbClr val="A76F61"/>
                </a:solidFill>
                <a:latin typeface="Helvetica Neue"/>
                <a:ea typeface="Helvetica Neue"/>
                <a:cs typeface="Helvetica Neue"/>
              </a:defRPr>
            </a:defPPr>
            <a:lvl1pPr algn="l">
              <a:buNone/>
              <a:defRPr sz="3750" b="1">
                <a:solidFill>
                  <a:srgbClr val="A76F61"/>
                </a:solidFill>
                <a:latin typeface="Helvetica Neue"/>
                <a:ea typeface="Helvetica Neue"/>
                <a:cs typeface="Helvetica Neue"/>
              </a:defRPr>
            </a:lvl1pPr>
            <a:lvl2pPr algn="l">
              <a:buNone/>
              <a:defRPr sz="3750" b="1">
                <a:solidFill>
                  <a:srgbClr val="A76F61"/>
                </a:solidFill>
                <a:latin typeface="Helvetica Neue"/>
                <a:ea typeface="Helvetica Neue"/>
                <a:cs typeface="Helvetica Neue"/>
              </a:defRPr>
            </a:lvl2pPr>
            <a:lvl3pPr algn="l">
              <a:buNone/>
              <a:defRPr sz="3750" b="1">
                <a:solidFill>
                  <a:srgbClr val="A76F61"/>
                </a:solidFill>
                <a:latin typeface="Helvetica Neue"/>
                <a:ea typeface="Helvetica Neue"/>
                <a:cs typeface="Helvetica Neue"/>
              </a:defRPr>
            </a:lvl3pPr>
            <a:lvl4pPr algn="l">
              <a:buNone/>
              <a:defRPr sz="3750" b="1">
                <a:solidFill>
                  <a:srgbClr val="A76F61"/>
                </a:solidFill>
                <a:latin typeface="Helvetica Neue"/>
                <a:ea typeface="Helvetica Neue"/>
                <a:cs typeface="Helvetica Neue"/>
              </a:defRPr>
            </a:lvl4pPr>
            <a:lvl5pPr algn="l">
              <a:buNone/>
              <a:defRPr sz="3750" b="1">
                <a:solidFill>
                  <a:srgbClr val="A76F61"/>
                </a:solidFill>
                <a:latin typeface="Helvetica Neue"/>
                <a:ea typeface="Helvetica Neue"/>
                <a:cs typeface="Helvetica Neue"/>
              </a:defRPr>
            </a:lvl5pPr>
            <a:lvl6pPr algn="l">
              <a:buNone/>
              <a:defRPr sz="3750" b="1">
                <a:solidFill>
                  <a:srgbClr val="A76F61"/>
                </a:solidFill>
                <a:latin typeface="Helvetica Neue"/>
                <a:ea typeface="Helvetica Neue"/>
                <a:cs typeface="Helvetica Neue"/>
              </a:defRPr>
            </a:lvl6pPr>
            <a:lvl7pPr algn="l">
              <a:buNone/>
              <a:defRPr sz="3750" b="1">
                <a:solidFill>
                  <a:srgbClr val="A76F61"/>
                </a:solidFill>
                <a:latin typeface="Helvetica Neue"/>
                <a:ea typeface="Helvetica Neue"/>
                <a:cs typeface="Helvetica Neue"/>
              </a:defRPr>
            </a:lvl7pPr>
            <a:lvl8pPr algn="l">
              <a:buNone/>
              <a:defRPr sz="3750" b="1">
                <a:solidFill>
                  <a:srgbClr val="A76F61"/>
                </a:solidFill>
                <a:latin typeface="Helvetica Neue"/>
                <a:ea typeface="Helvetica Neue"/>
                <a:cs typeface="Helvetica Neue"/>
              </a:defRPr>
            </a:lvl8pPr>
            <a:lvl9pPr algn="l">
              <a:buNone/>
              <a:defRPr sz="3750" b="1">
                <a:solidFill>
                  <a:srgbClr val="A76F61"/>
                </a:solidFill>
                <a:latin typeface="Helvetica Neue"/>
                <a:ea typeface="Helvetica Neue"/>
                <a:cs typeface="Helvetica Neue"/>
              </a:defRPr>
            </a:lvl9pPr>
          </a:lstStyle>
          <a:p xmlns:a="http://schemas.openxmlformats.org/drawingml/2006/main">
            <a:pPr algn="l">
              <a:buNone/>
              <a:defRPr sz="3750" b="1">
                <a:solidFill>
                  <a:srgbClr val="A76F61"/>
                </a:solidFill>
                <a:latin typeface="Helvetica Neue"/>
                <a:ea typeface="Helvetica Neue"/>
                <a:cs typeface="Helvetica Neue"/>
              </a:defRPr>
            </a:pPr>
            <a:r>
              <a:rPr sz="3750" b="1">
                <a:solidFill>
                  <a:srgbClr val="A76F61"/>
                </a:solidFill>
                <a:latin typeface="Helvetica Neue"/>
                <a:ea typeface="Helvetica Neue"/>
                <a:cs typeface="Helvetica Neue"/>
              </a:rPr>
              <a:t>27 / 39</a:t>
            </a:r>
          </a:p>
        </p:txBody>
      </p:sp>
      <p:sp>
        <p:nvSpPr>
          <p:cNvPr id="10" name="Rectangle 9">
            <a:extLst xmlns:a="http://schemas.openxmlformats.org/drawingml/2006/main">
              <a:ext uri="{FF2B5EF4-FFF2-40B4-BE49-F238E27FC236}">
                <a16:creationId xmlns:a16="http://schemas.microsoft.com/office/drawing/2014/main" id="{75014B1F-4786-476C-A0F8-D57193F36B26}"/>
              </a:ext>
            </a:extLst>
          </p:cNvPr>
          <p:cNvSpPr>
            <a:spLocks xmlns:a="http://schemas.openxmlformats.org/drawingml/2006/main" noGrp="1"/>
          </p:cNvSpPr>
          <p:nvPr/>
        </p:nvSpPr>
        <p:spPr>
          <a:xfrm xmlns:a="http://schemas.openxmlformats.org/drawingml/2006/main">
            <a:off x="7715250" y="3810000"/>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correct floor-4 predictions</a:t>
            </a:r>
          </a:p>
        </p:txBody>
      </p:sp>
      <p:sp>
        <p:nvSpPr>
          <p:cNvPr id="11" name="Rectangle 10">
            <a:extLst xmlns:a="http://schemas.openxmlformats.org/drawingml/2006/main">
              <a:ext uri="{FF2B5EF4-FFF2-40B4-BE49-F238E27FC236}">
                <a16:creationId xmlns:a16="http://schemas.microsoft.com/office/drawing/2014/main" id="{8386CE8F-7855-4CE9-8C5E-2B5FB99B4EDD}"/>
              </a:ext>
            </a:extLst>
          </p:cNvPr>
          <p:cNvSpPr>
            <a:spLocks xmlns:a="http://schemas.openxmlformats.org/drawingml/2006/main" noGrp="1"/>
          </p:cNvSpPr>
          <p:nvPr/>
        </p:nvSpPr>
        <p:spPr>
          <a:xfrm xmlns:a="http://schemas.openxmlformats.org/drawingml/2006/main">
            <a:off x="7753350" y="4619625"/>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725" b="1">
                <a:solidFill>
                  <a:srgbClr val="243A50"/>
                </a:solidFill>
                <a:latin typeface="Helvetica Neue"/>
                <a:ea typeface="Helvetica Neue"/>
                <a:cs typeface="Helvetica Neue"/>
              </a:defRPr>
            </a:defPPr>
            <a:lvl1pPr algn="l">
              <a:buNone/>
              <a:defRPr sz="1725" b="1">
                <a:solidFill>
                  <a:srgbClr val="243A50"/>
                </a:solidFill>
                <a:latin typeface="Helvetica Neue"/>
                <a:ea typeface="Helvetica Neue"/>
                <a:cs typeface="Helvetica Neue"/>
              </a:defRPr>
            </a:lvl1pPr>
            <a:lvl2pPr algn="l">
              <a:buNone/>
              <a:defRPr sz="1725" b="1">
                <a:solidFill>
                  <a:srgbClr val="243A50"/>
                </a:solidFill>
                <a:latin typeface="Helvetica Neue"/>
                <a:ea typeface="Helvetica Neue"/>
                <a:cs typeface="Helvetica Neue"/>
              </a:defRPr>
            </a:lvl2pPr>
            <a:lvl3pPr algn="l">
              <a:buNone/>
              <a:defRPr sz="1725" b="1">
                <a:solidFill>
                  <a:srgbClr val="243A50"/>
                </a:solidFill>
                <a:latin typeface="Helvetica Neue"/>
                <a:ea typeface="Helvetica Neue"/>
                <a:cs typeface="Helvetica Neue"/>
              </a:defRPr>
            </a:lvl3pPr>
            <a:lvl4pPr algn="l">
              <a:buNone/>
              <a:defRPr sz="1725" b="1">
                <a:solidFill>
                  <a:srgbClr val="243A50"/>
                </a:solidFill>
                <a:latin typeface="Helvetica Neue"/>
                <a:ea typeface="Helvetica Neue"/>
                <a:cs typeface="Helvetica Neue"/>
              </a:defRPr>
            </a:lvl4pPr>
            <a:lvl5pPr algn="l">
              <a:buNone/>
              <a:defRPr sz="1725" b="1">
                <a:solidFill>
                  <a:srgbClr val="243A50"/>
                </a:solidFill>
                <a:latin typeface="Helvetica Neue"/>
                <a:ea typeface="Helvetica Neue"/>
                <a:cs typeface="Helvetica Neue"/>
              </a:defRPr>
            </a:lvl5pPr>
            <a:lvl6pPr algn="l">
              <a:buNone/>
              <a:defRPr sz="1725" b="1">
                <a:solidFill>
                  <a:srgbClr val="243A50"/>
                </a:solidFill>
                <a:latin typeface="Helvetica Neue"/>
                <a:ea typeface="Helvetica Neue"/>
                <a:cs typeface="Helvetica Neue"/>
              </a:defRPr>
            </a:lvl6pPr>
            <a:lvl7pPr algn="l">
              <a:buNone/>
              <a:defRPr sz="1725" b="1">
                <a:solidFill>
                  <a:srgbClr val="243A50"/>
                </a:solidFill>
                <a:latin typeface="Helvetica Neue"/>
                <a:ea typeface="Helvetica Neue"/>
                <a:cs typeface="Helvetica Neue"/>
              </a:defRPr>
            </a:lvl7pPr>
            <a:lvl8pPr algn="l">
              <a:buNone/>
              <a:defRPr sz="1725" b="1">
                <a:solidFill>
                  <a:srgbClr val="243A50"/>
                </a:solidFill>
                <a:latin typeface="Helvetica Neue"/>
                <a:ea typeface="Helvetica Neue"/>
                <a:cs typeface="Helvetica Neue"/>
              </a:defRPr>
            </a:lvl8pPr>
            <a:lvl9pPr algn="l">
              <a:buNone/>
              <a:defRPr sz="1725" b="1">
                <a:solidFill>
                  <a:srgbClr val="243A50"/>
                </a:solidFill>
                <a:latin typeface="Helvetica Neue"/>
                <a:ea typeface="Helvetica Neue"/>
                <a:cs typeface="Helvetica Neue"/>
              </a:defRPr>
            </a:lvl9pPr>
          </a:lstStyle>
          <a:p xmlns:a="http://schemas.openxmlformats.org/drawingml/2006/main">
            <a:pPr algn="l">
              <a:buNone/>
              <a:defRPr sz="1725" b="1">
                <a:solidFill>
                  <a:srgbClr val="243A50"/>
                </a:solidFill>
                <a:latin typeface="Helvetica Neue"/>
                <a:ea typeface="Helvetica Neue"/>
                <a:cs typeface="Helvetica Neue"/>
              </a:defRPr>
            </a:pPr>
            <a:r>
              <a:rPr sz="1725" b="1">
                <a:solidFill>
                  <a:srgbClr val="243A50"/>
                </a:solidFill>
                <a:latin typeface="Helvetica Neue"/>
                <a:ea typeface="Helvetica Neue"/>
                <a:cs typeface="Helvetica Neue"/>
              </a:rPr>
              <a:t>Floor-4 recall: 69.23%</a:t>
            </a:r>
          </a:p>
        </p:txBody>
      </p:sp>
      <p:sp>
        <p:nvSpPr>
          <p:cNvPr id="12" name="Rectangle 11">
            <a:extLst xmlns:a="http://schemas.openxmlformats.org/drawingml/2006/main">
              <a:ext uri="{FF2B5EF4-FFF2-40B4-BE49-F238E27FC236}">
                <a16:creationId xmlns:a16="http://schemas.microsoft.com/office/drawing/2014/main" id="{5BE2A039-9A9E-4EA5-9B6F-9CBEA0576CFB}"/>
              </a:ext>
            </a:extLst>
          </p:cNvPr>
          <p:cNvSpPr>
            <a:spLocks xmlns:a="http://schemas.openxmlformats.org/drawingml/2006/main" noGrp="1"/>
          </p:cNvSpPr>
          <p:nvPr/>
        </p:nvSpPr>
        <p:spPr>
          <a:xfrm xmlns:a="http://schemas.openxmlformats.org/drawingml/2006/main">
            <a:off x="7753350" y="5095875"/>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Report class-level errors with overall accuracy and macro F1.</a:t>
            </a:r>
          </a:p>
        </p:txBody>
      </p:sp>
    </p:spTree>
    <p:extLst>
      <p:ext uri="{BB962C8B-B14F-4D97-AF65-F5344CB8AC3E}">
        <p14:creationId xmlns:p14="http://schemas.microsoft.com/office/powerpoint/2010/main" val="1102344260"/>
      </p:ext>
    </p:extLst>
  </p:cSld>
</p:sld>
</file>

<file path=ppt/slides/slide1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24" name="Rectangle 23">
            <a:extLst xmlns:a="http://schemas.openxmlformats.org/drawingml/2006/main">
              <a:ext uri="{FF2B5EF4-FFF2-40B4-BE49-F238E27FC236}">
                <a16:creationId xmlns:a16="http://schemas.microsoft.com/office/drawing/2014/main" id="{84F88639-11A6-4DA1-898C-55CCC7E0BD4D}"/>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C7DBD1"/>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5648DFB3-2401-47FD-B53E-240D0DCA2AA8}"/>
              </a:ext>
            </a:extLst>
          </p:cNvPr>
          <p:cNvSpPr>
            <a:spLocks xmlns:a="http://schemas.openxmlformats.org/drawingml/2006/main" noGrp="1"/>
          </p:cNvSpPr>
          <p:nvPr/>
        </p:nvSpPr>
        <p:spPr>
          <a:xfrm xmlns:a="http://schemas.openxmlformats.org/drawingml/2006/main">
            <a:off x="609600" y="37147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625" b="1">
                <a:solidFill>
                  <a:srgbClr val="243A50"/>
                </a:solidFill>
                <a:latin typeface="Helvetica Neue"/>
                <a:ea typeface="Helvetica Neue"/>
                <a:cs typeface="Helvetica Neue"/>
              </a:defRPr>
            </a:defPPr>
            <a:lvl1pPr algn="l">
              <a:buNone/>
              <a:defRPr sz="2625" b="1">
                <a:solidFill>
                  <a:srgbClr val="243A50"/>
                </a:solidFill>
                <a:latin typeface="Helvetica Neue"/>
                <a:ea typeface="Helvetica Neue"/>
                <a:cs typeface="Helvetica Neue"/>
              </a:defRPr>
            </a:lvl1pPr>
            <a:lvl2pPr algn="l">
              <a:buNone/>
              <a:defRPr sz="2625" b="1">
                <a:solidFill>
                  <a:srgbClr val="243A50"/>
                </a:solidFill>
                <a:latin typeface="Helvetica Neue"/>
                <a:ea typeface="Helvetica Neue"/>
                <a:cs typeface="Helvetica Neue"/>
              </a:defRPr>
            </a:lvl2pPr>
            <a:lvl3pPr algn="l">
              <a:buNone/>
              <a:defRPr sz="2625" b="1">
                <a:solidFill>
                  <a:srgbClr val="243A50"/>
                </a:solidFill>
                <a:latin typeface="Helvetica Neue"/>
                <a:ea typeface="Helvetica Neue"/>
                <a:cs typeface="Helvetica Neue"/>
              </a:defRPr>
            </a:lvl3pPr>
            <a:lvl4pPr algn="l">
              <a:buNone/>
              <a:defRPr sz="2625" b="1">
                <a:solidFill>
                  <a:srgbClr val="243A50"/>
                </a:solidFill>
                <a:latin typeface="Helvetica Neue"/>
                <a:ea typeface="Helvetica Neue"/>
                <a:cs typeface="Helvetica Neue"/>
              </a:defRPr>
            </a:lvl4pPr>
            <a:lvl5pPr algn="l">
              <a:buNone/>
              <a:defRPr sz="2625" b="1">
                <a:solidFill>
                  <a:srgbClr val="243A50"/>
                </a:solidFill>
                <a:latin typeface="Helvetica Neue"/>
                <a:ea typeface="Helvetica Neue"/>
                <a:cs typeface="Helvetica Neue"/>
              </a:defRPr>
            </a:lvl5pPr>
            <a:lvl6pPr algn="l">
              <a:buNone/>
              <a:defRPr sz="2625" b="1">
                <a:solidFill>
                  <a:srgbClr val="243A50"/>
                </a:solidFill>
                <a:latin typeface="Helvetica Neue"/>
                <a:ea typeface="Helvetica Neue"/>
                <a:cs typeface="Helvetica Neue"/>
              </a:defRPr>
            </a:lvl6pPr>
            <a:lvl7pPr algn="l">
              <a:buNone/>
              <a:defRPr sz="2625" b="1">
                <a:solidFill>
                  <a:srgbClr val="243A50"/>
                </a:solidFill>
                <a:latin typeface="Helvetica Neue"/>
                <a:ea typeface="Helvetica Neue"/>
                <a:cs typeface="Helvetica Neue"/>
              </a:defRPr>
            </a:lvl7pPr>
            <a:lvl8pPr algn="l">
              <a:buNone/>
              <a:defRPr sz="2625" b="1">
                <a:solidFill>
                  <a:srgbClr val="243A50"/>
                </a:solidFill>
                <a:latin typeface="Helvetica Neue"/>
                <a:ea typeface="Helvetica Neue"/>
                <a:cs typeface="Helvetica Neue"/>
              </a:defRPr>
            </a:lvl8pPr>
            <a:lvl9pPr algn="l">
              <a:buNone/>
              <a:defRPr sz="2625" b="1">
                <a:solidFill>
                  <a:srgbClr val="243A50"/>
                </a:solidFill>
                <a:latin typeface="Helvetica Neue"/>
                <a:ea typeface="Helvetica Neue"/>
                <a:cs typeface="Helvetica Neue"/>
              </a:defRPr>
            </a:lvl9pPr>
          </a:lstStyle>
          <a:p xmlns:a="http://schemas.openxmlformats.org/drawingml/2006/main">
            <a:pPr algn="l">
              <a:buNone/>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4 · Coordinate regression pipeline</a:t>
            </a:r>
          </a:p>
        </p:txBody>
      </p:sp>
      <p:sp>
        <p:nvSpPr>
          <p:cNvPr id="3" name="Rectangle 2">
            <a:extLst xmlns:a="http://schemas.openxmlformats.org/drawingml/2006/main">
              <a:ext uri="{FF2B5EF4-FFF2-40B4-BE49-F238E27FC236}">
                <a16:creationId xmlns:a16="http://schemas.microsoft.com/office/drawing/2014/main" id="{2C78FBFD-D15B-441A-B9C4-987C6AE4369C}"/>
              </a:ext>
            </a:extLst>
          </p:cNvPr>
          <p:cNvSpPr>
            <a:spLocks xmlns:a="http://schemas.openxmlformats.org/drawingml/2006/main" noGrp="1"/>
          </p:cNvSpPr>
          <p:nvPr/>
        </p:nvSpPr>
        <p:spPr>
          <a:xfrm xmlns:a="http://schemas.openxmlformats.org/drawingml/2006/main">
            <a:off x="628650" y="904875"/>
            <a:ext cx="10839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Predict longitude and latitude together, then evaluate per-axis and joint error.</a:t>
            </a:r>
          </a:p>
        </p:txBody>
      </p:sp>
      <p:sp>
        <p:nvSpPr>
          <p:cNvPr id="4" name="Straight Connector 3">
            <a:extLst xmlns:a="http://schemas.openxmlformats.org/drawingml/2006/main">
              <a:ext uri="{FF2B5EF4-FFF2-40B4-BE49-F238E27FC236}">
                <a16:creationId xmlns:a16="http://schemas.microsoft.com/office/drawing/2014/main" id="{E08BB072-8F88-4B71-8E3A-5C9A5F6BE2CA}"/>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BD5DA"/>
            </a:solidFill>
            <a:prstDash val="solid"/>
          </a:ln>
        </p:spPr>
      </p:sp>
      <p:sp>
        <p:nvSpPr>
          <p:cNvPr id="5" name="Rectangle 4">
            <a:extLst xmlns:a="http://schemas.openxmlformats.org/drawingml/2006/main">
              <a:ext uri="{FF2B5EF4-FFF2-40B4-BE49-F238E27FC236}">
                <a16:creationId xmlns:a16="http://schemas.microsoft.com/office/drawing/2014/main" id="{DE3C327F-78FA-43AA-BE18-4621E9D33171}"/>
              </a:ext>
            </a:extLst>
          </p:cNvPr>
          <p:cNvSpPr>
            <a:spLocks xmlns:a="http://schemas.openxmlformats.org/drawingml/2006/main" noGrp="1"/>
          </p:cNvSpPr>
          <p:nvPr/>
        </p:nvSpPr>
        <p:spPr>
          <a:xfrm xmlns:a="http://schemas.openxmlformats.org/drawingml/2006/main">
            <a:off x="609600" y="64770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900" b="0">
                <a:solidFill>
                  <a:srgbClr val="63788A"/>
                </a:solidFill>
                <a:latin typeface="Helvetica Neue"/>
                <a:ea typeface="Helvetica Neue"/>
                <a:cs typeface="Helvetica Neue"/>
              </a:defRPr>
            </a:defPPr>
            <a:lvl1pPr algn="r">
              <a:buNone/>
              <a:defRPr sz="900" b="0">
                <a:solidFill>
                  <a:srgbClr val="63788A"/>
                </a:solidFill>
                <a:latin typeface="Helvetica Neue"/>
                <a:ea typeface="Helvetica Neue"/>
                <a:cs typeface="Helvetica Neue"/>
              </a:defRPr>
            </a:lvl1pPr>
            <a:lvl2pPr algn="r">
              <a:buNone/>
              <a:defRPr sz="900" b="0">
                <a:solidFill>
                  <a:srgbClr val="63788A"/>
                </a:solidFill>
                <a:latin typeface="Helvetica Neue"/>
                <a:ea typeface="Helvetica Neue"/>
                <a:cs typeface="Helvetica Neue"/>
              </a:defRPr>
            </a:lvl2pPr>
            <a:lvl3pPr algn="r">
              <a:buNone/>
              <a:defRPr sz="900" b="0">
                <a:solidFill>
                  <a:srgbClr val="63788A"/>
                </a:solidFill>
                <a:latin typeface="Helvetica Neue"/>
                <a:ea typeface="Helvetica Neue"/>
                <a:cs typeface="Helvetica Neue"/>
              </a:defRPr>
            </a:lvl3pPr>
            <a:lvl4pPr algn="r">
              <a:buNone/>
              <a:defRPr sz="900" b="0">
                <a:solidFill>
                  <a:srgbClr val="63788A"/>
                </a:solidFill>
                <a:latin typeface="Helvetica Neue"/>
                <a:ea typeface="Helvetica Neue"/>
                <a:cs typeface="Helvetica Neue"/>
              </a:defRPr>
            </a:lvl4pPr>
            <a:lvl5pPr algn="r">
              <a:buNone/>
              <a:defRPr sz="900" b="0">
                <a:solidFill>
                  <a:srgbClr val="63788A"/>
                </a:solidFill>
                <a:latin typeface="Helvetica Neue"/>
                <a:ea typeface="Helvetica Neue"/>
                <a:cs typeface="Helvetica Neue"/>
              </a:defRPr>
            </a:lvl5pPr>
            <a:lvl6pPr algn="r">
              <a:buNone/>
              <a:defRPr sz="900" b="0">
                <a:solidFill>
                  <a:srgbClr val="63788A"/>
                </a:solidFill>
                <a:latin typeface="Helvetica Neue"/>
                <a:ea typeface="Helvetica Neue"/>
                <a:cs typeface="Helvetica Neue"/>
              </a:defRPr>
            </a:lvl6pPr>
            <a:lvl7pPr algn="r">
              <a:buNone/>
              <a:defRPr sz="900" b="0">
                <a:solidFill>
                  <a:srgbClr val="63788A"/>
                </a:solidFill>
                <a:latin typeface="Helvetica Neue"/>
                <a:ea typeface="Helvetica Neue"/>
                <a:cs typeface="Helvetica Neue"/>
              </a:defRPr>
            </a:lvl7pPr>
            <a:lvl8pPr algn="r">
              <a:buNone/>
              <a:defRPr sz="900" b="0">
                <a:solidFill>
                  <a:srgbClr val="63788A"/>
                </a:solidFill>
                <a:latin typeface="Helvetica Neue"/>
                <a:ea typeface="Helvetica Neue"/>
                <a:cs typeface="Helvetica Neue"/>
              </a:defRPr>
            </a:lvl8pPr>
            <a:lvl9pPr algn="r">
              <a:buNone/>
              <a:defRPr sz="900" b="0">
                <a:solidFill>
                  <a:srgbClr val="63788A"/>
                </a:solidFill>
                <a:latin typeface="Helvetica Neue"/>
                <a:ea typeface="Helvetica Neue"/>
                <a:cs typeface="Helvetica Neue"/>
              </a:defRPr>
            </a:lvl9pPr>
          </a:lstStyle>
          <a:p xmlns:a="http://schemas.openxmlformats.org/drawingml/2006/main">
            <a:pPr algn="r">
              <a:buNone/>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13</a:t>
            </a:r>
          </a:p>
        </p:txBody>
      </p:sp>
      <p:sp>
        <p:nvSpPr>
          <p:cNvPr id="6" name="Rounded Rectangle 5">
            <a:extLst xmlns:a="http://schemas.openxmlformats.org/drawingml/2006/main">
              <a:ext uri="{FF2B5EF4-FFF2-40B4-BE49-F238E27FC236}">
                <a16:creationId xmlns:a16="http://schemas.microsoft.com/office/drawing/2014/main" id="{46C487FB-9F5A-4A5F-802B-D9B7639D1AF2}"/>
              </a:ext>
            </a:extLst>
          </p:cNvPr>
          <p:cNvSpPr>
            <a:spLocks xmlns:a="http://schemas.openxmlformats.org/drawingml/2006/main" noGrp="1"/>
          </p:cNvSpPr>
          <p:nvPr/>
        </p:nvSpPr>
        <p:spPr>
          <a:xfrm xmlns:a="http://schemas.openxmlformats.org/drawingml/2006/main">
            <a:off x="619125" y="2095500"/>
            <a:ext cx="2190750" cy="1476375"/>
          </a:xfrm>
          <a:prstGeom xmlns:a="http://schemas.openxmlformats.org/drawingml/2006/main" prst="roundRect">
            <a:avLst>
              <a:gd name="adj" fmla="val 5161"/>
            </a:avLst>
          </a:prstGeom>
          <a:solidFill xmlns:a="http://schemas.openxmlformats.org/drawingml/2006/main">
            <a:srgbClr val="E8EFF4"/>
          </a:solidFill>
          <a:ln xmlns:a="http://schemas.openxmlformats.org/drawingml/2006/main" w="9525">
            <a:solidFill>
              <a:srgbClr val="CBD5DA"/>
            </a:solidFill>
            <a:prstDash val="solid"/>
          </a:ln>
        </p:spPr>
      </p:sp>
      <p:sp>
        <p:nvSpPr>
          <p:cNvPr id="7" name="Rectangle 6">
            <a:extLst xmlns:a="http://schemas.openxmlformats.org/drawingml/2006/main">
              <a:ext uri="{FF2B5EF4-FFF2-40B4-BE49-F238E27FC236}">
                <a16:creationId xmlns:a16="http://schemas.microsoft.com/office/drawing/2014/main" id="{DF8FD519-5065-4E14-9B71-440A8B3F0ADF}"/>
              </a:ext>
            </a:extLst>
          </p:cNvPr>
          <p:cNvSpPr>
            <a:spLocks xmlns:a="http://schemas.openxmlformats.org/drawingml/2006/main" noGrp="1"/>
          </p:cNvSpPr>
          <p:nvPr/>
        </p:nvSpPr>
        <p:spPr>
          <a:xfrm xmlns:a="http://schemas.openxmlformats.org/drawingml/2006/main">
            <a:off x="733425" y="2209800"/>
            <a:ext cx="1962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Coordinate targets</a:t>
            </a:r>
          </a:p>
        </p:txBody>
      </p:sp>
      <p:sp>
        <p:nvSpPr>
          <p:cNvPr id="8" name="Rectangle 7">
            <a:extLst xmlns:a="http://schemas.openxmlformats.org/drawingml/2006/main">
              <a:ext uri="{FF2B5EF4-FFF2-40B4-BE49-F238E27FC236}">
                <a16:creationId xmlns:a16="http://schemas.microsoft.com/office/drawing/2014/main" id="{8CDFBB47-D4B5-4EA3-8EDA-36892843D0FA}"/>
              </a:ext>
            </a:extLst>
          </p:cNvPr>
          <p:cNvSpPr>
            <a:spLocks xmlns:a="http://schemas.openxmlformats.org/drawingml/2006/main" noGrp="1"/>
          </p:cNvSpPr>
          <p:nvPr/>
        </p:nvSpPr>
        <p:spPr>
          <a:xfrm xmlns:a="http://schemas.openxmlformats.org/drawingml/2006/main">
            <a:off x="752475" y="2609850"/>
            <a:ext cx="19240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longitude + latitude</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paired outputs</a:t>
            </a:r>
          </a:p>
        </p:txBody>
      </p:sp>
      <p:sp>
        <p:nvSpPr>
          <p:cNvPr id="9" name="Right Arrow 8">
            <a:extLst xmlns:a="http://schemas.openxmlformats.org/drawingml/2006/main">
              <a:ext uri="{FF2B5EF4-FFF2-40B4-BE49-F238E27FC236}">
                <a16:creationId xmlns:a16="http://schemas.microsoft.com/office/drawing/2014/main" id="{F002B693-91E6-4EDA-A28F-AA55240E5375}"/>
              </a:ext>
            </a:extLst>
          </p:cNvPr>
          <p:cNvSpPr>
            <a:spLocks xmlns:a="http://schemas.openxmlformats.org/drawingml/2006/main" noGrp="1"/>
          </p:cNvSpPr>
          <p:nvPr/>
        </p:nvSpPr>
        <p:spPr>
          <a:xfrm xmlns:a="http://schemas.openxmlformats.org/drawingml/2006/main">
            <a:off x="2943225" y="2752725"/>
            <a:ext cx="361950" cy="152400"/>
          </a:xfrm>
          <a:prstGeom xmlns:a="http://schemas.openxmlformats.org/drawingml/2006/main" prst="rightArrow">
            <a:avLst/>
          </a:prstGeom>
          <a:solidFill xmlns:a="http://schemas.openxmlformats.org/drawingml/2006/main">
            <a:srgbClr val="64877F"/>
          </a:solidFill>
          <a:ln xmlns:a="http://schemas.openxmlformats.org/drawingml/2006/main" w="0">
            <a:noFill/>
            <a:prstDash val="solid"/>
          </a:ln>
        </p:spPr>
      </p:sp>
      <p:sp>
        <p:nvSpPr>
          <p:cNvPr id="10" name="Rounded Rectangle 9">
            <a:extLst xmlns:a="http://schemas.openxmlformats.org/drawingml/2006/main">
              <a:ext uri="{FF2B5EF4-FFF2-40B4-BE49-F238E27FC236}">
                <a16:creationId xmlns:a16="http://schemas.microsoft.com/office/drawing/2014/main" id="{60E660DF-C214-474A-A54E-025B193FF0F2}"/>
              </a:ext>
            </a:extLst>
          </p:cNvPr>
          <p:cNvSpPr>
            <a:spLocks xmlns:a="http://schemas.openxmlformats.org/drawingml/2006/main" noGrp="1"/>
          </p:cNvSpPr>
          <p:nvPr/>
        </p:nvSpPr>
        <p:spPr>
          <a:xfrm xmlns:a="http://schemas.openxmlformats.org/drawingml/2006/main">
            <a:off x="3438525" y="2095500"/>
            <a:ext cx="2190750" cy="1476375"/>
          </a:xfrm>
          <a:prstGeom xmlns:a="http://schemas.openxmlformats.org/drawingml/2006/main" prst="roundRect">
            <a:avLst>
              <a:gd name="adj" fmla="val 5161"/>
            </a:avLst>
          </a:prstGeom>
          <a:solidFill xmlns:a="http://schemas.openxmlformats.org/drawingml/2006/main">
            <a:srgbClr val="F1E9DB"/>
          </a:solidFill>
          <a:ln xmlns:a="http://schemas.openxmlformats.org/drawingml/2006/main" w="9525">
            <a:solidFill>
              <a:srgbClr val="CBD5DA"/>
            </a:solidFill>
            <a:prstDash val="solid"/>
          </a:ln>
        </p:spPr>
      </p:sp>
      <p:sp>
        <p:nvSpPr>
          <p:cNvPr id="11" name="Rectangle 10">
            <a:extLst xmlns:a="http://schemas.openxmlformats.org/drawingml/2006/main">
              <a:ext uri="{FF2B5EF4-FFF2-40B4-BE49-F238E27FC236}">
                <a16:creationId xmlns:a16="http://schemas.microsoft.com/office/drawing/2014/main" id="{80705169-16D1-4DE5-8DEE-01961951431E}"/>
              </a:ext>
            </a:extLst>
          </p:cNvPr>
          <p:cNvSpPr>
            <a:spLocks xmlns:a="http://schemas.openxmlformats.org/drawingml/2006/main" noGrp="1"/>
          </p:cNvSpPr>
          <p:nvPr/>
        </p:nvSpPr>
        <p:spPr>
          <a:xfrm xmlns:a="http://schemas.openxmlformats.org/drawingml/2006/main">
            <a:off x="3552825" y="2209800"/>
            <a:ext cx="1962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Candidate search</a:t>
            </a:r>
          </a:p>
        </p:txBody>
      </p:sp>
      <p:sp>
        <p:nvSpPr>
          <p:cNvPr id="12" name="Rectangle 11">
            <a:extLst xmlns:a="http://schemas.openxmlformats.org/drawingml/2006/main">
              <a:ext uri="{FF2B5EF4-FFF2-40B4-BE49-F238E27FC236}">
                <a16:creationId xmlns:a16="http://schemas.microsoft.com/office/drawing/2014/main" id="{9876B26A-C676-4A6E-8CEC-FE96ECA72529}"/>
              </a:ext>
            </a:extLst>
          </p:cNvPr>
          <p:cNvSpPr>
            <a:spLocks xmlns:a="http://schemas.openxmlformats.org/drawingml/2006/main" noGrp="1"/>
          </p:cNvSpPr>
          <p:nvPr/>
        </p:nvSpPr>
        <p:spPr>
          <a:xfrm xmlns:a="http://schemas.openxmlformats.org/drawingml/2006/main">
            <a:off x="3571875" y="2609850"/>
            <a:ext cx="19240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10 Random Forest</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configurations</a:t>
            </a:r>
          </a:p>
        </p:txBody>
      </p:sp>
      <p:sp>
        <p:nvSpPr>
          <p:cNvPr id="13" name="Right Arrow 12">
            <a:extLst xmlns:a="http://schemas.openxmlformats.org/drawingml/2006/main">
              <a:ext uri="{FF2B5EF4-FFF2-40B4-BE49-F238E27FC236}">
                <a16:creationId xmlns:a16="http://schemas.microsoft.com/office/drawing/2014/main" id="{1B52CE32-5700-45A1-A0BD-52C39C512E5A}"/>
              </a:ext>
            </a:extLst>
          </p:cNvPr>
          <p:cNvSpPr>
            <a:spLocks xmlns:a="http://schemas.openxmlformats.org/drawingml/2006/main" noGrp="1"/>
          </p:cNvSpPr>
          <p:nvPr/>
        </p:nvSpPr>
        <p:spPr>
          <a:xfrm xmlns:a="http://schemas.openxmlformats.org/drawingml/2006/main">
            <a:off x="5762625" y="2752725"/>
            <a:ext cx="361950" cy="152400"/>
          </a:xfrm>
          <a:prstGeom xmlns:a="http://schemas.openxmlformats.org/drawingml/2006/main" prst="rightArrow">
            <a:avLst/>
          </a:prstGeom>
          <a:solidFill xmlns:a="http://schemas.openxmlformats.org/drawingml/2006/main">
            <a:srgbClr val="64877F"/>
          </a:solidFill>
          <a:ln xmlns:a="http://schemas.openxmlformats.org/drawingml/2006/main" w="0">
            <a:noFill/>
            <a:prstDash val="solid"/>
          </a:ln>
        </p:spPr>
      </p:sp>
      <p:sp>
        <p:nvSpPr>
          <p:cNvPr id="14" name="Rounded Rectangle 13">
            <a:extLst xmlns:a="http://schemas.openxmlformats.org/drawingml/2006/main">
              <a:ext uri="{FF2B5EF4-FFF2-40B4-BE49-F238E27FC236}">
                <a16:creationId xmlns:a16="http://schemas.microsoft.com/office/drawing/2014/main" id="{89747E6F-5314-4E9B-8DB4-76D42EBE5942}"/>
              </a:ext>
            </a:extLst>
          </p:cNvPr>
          <p:cNvSpPr>
            <a:spLocks xmlns:a="http://schemas.openxmlformats.org/drawingml/2006/main" noGrp="1"/>
          </p:cNvSpPr>
          <p:nvPr/>
        </p:nvSpPr>
        <p:spPr>
          <a:xfrm xmlns:a="http://schemas.openxmlformats.org/drawingml/2006/main">
            <a:off x="6257925" y="2095500"/>
            <a:ext cx="2190750" cy="1476375"/>
          </a:xfrm>
          <a:prstGeom xmlns:a="http://schemas.openxmlformats.org/drawingml/2006/main" prst="roundRect">
            <a:avLst>
              <a:gd name="adj" fmla="val 5161"/>
            </a:avLst>
          </a:prstGeom>
          <a:solidFill xmlns:a="http://schemas.openxmlformats.org/drawingml/2006/main">
            <a:srgbClr val="C7DBD1"/>
          </a:solidFill>
          <a:ln xmlns:a="http://schemas.openxmlformats.org/drawingml/2006/main" w="9525">
            <a:solidFill>
              <a:srgbClr val="CBD5DA"/>
            </a:solidFill>
            <a:prstDash val="solid"/>
          </a:ln>
        </p:spPr>
      </p:sp>
      <p:sp>
        <p:nvSpPr>
          <p:cNvPr id="15" name="Rectangle 14">
            <a:extLst xmlns:a="http://schemas.openxmlformats.org/drawingml/2006/main">
              <a:ext uri="{FF2B5EF4-FFF2-40B4-BE49-F238E27FC236}">
                <a16:creationId xmlns:a16="http://schemas.microsoft.com/office/drawing/2014/main" id="{6899F75E-CF84-47ED-A2F8-7C1C1C57B088}"/>
              </a:ext>
            </a:extLst>
          </p:cNvPr>
          <p:cNvSpPr>
            <a:spLocks xmlns:a="http://schemas.openxmlformats.org/drawingml/2006/main" noGrp="1"/>
          </p:cNvSpPr>
          <p:nvPr/>
        </p:nvSpPr>
        <p:spPr>
          <a:xfrm xmlns:a="http://schemas.openxmlformats.org/drawingml/2006/main">
            <a:off x="6372225" y="2209800"/>
            <a:ext cx="1962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Selection metric</a:t>
            </a:r>
          </a:p>
        </p:txBody>
      </p:sp>
      <p:sp>
        <p:nvSpPr>
          <p:cNvPr id="16" name="Rectangle 15">
            <a:extLst xmlns:a="http://schemas.openxmlformats.org/drawingml/2006/main">
              <a:ext uri="{FF2B5EF4-FFF2-40B4-BE49-F238E27FC236}">
                <a16:creationId xmlns:a16="http://schemas.microsoft.com/office/drawing/2014/main" id="{EE006789-7EEB-47A1-8525-3B036D405590}"/>
              </a:ext>
            </a:extLst>
          </p:cNvPr>
          <p:cNvSpPr>
            <a:spLocks xmlns:a="http://schemas.openxmlformats.org/drawingml/2006/main" noGrp="1"/>
          </p:cNvSpPr>
          <p:nvPr/>
        </p:nvSpPr>
        <p:spPr>
          <a:xfrm xmlns:a="http://schemas.openxmlformats.org/drawingml/2006/main">
            <a:off x="6391275" y="2609850"/>
            <a:ext cx="19240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mean Euclidean error</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on internal validation</a:t>
            </a:r>
          </a:p>
        </p:txBody>
      </p:sp>
      <p:sp>
        <p:nvSpPr>
          <p:cNvPr id="17" name="Right Arrow 16">
            <a:extLst xmlns:a="http://schemas.openxmlformats.org/drawingml/2006/main">
              <a:ext uri="{FF2B5EF4-FFF2-40B4-BE49-F238E27FC236}">
                <a16:creationId xmlns:a16="http://schemas.microsoft.com/office/drawing/2014/main" id="{4CD10A73-A0B8-40DA-8F08-7805035D52A8}"/>
              </a:ext>
            </a:extLst>
          </p:cNvPr>
          <p:cNvSpPr>
            <a:spLocks xmlns:a="http://schemas.openxmlformats.org/drawingml/2006/main" noGrp="1"/>
          </p:cNvSpPr>
          <p:nvPr/>
        </p:nvSpPr>
        <p:spPr>
          <a:xfrm xmlns:a="http://schemas.openxmlformats.org/drawingml/2006/main">
            <a:off x="8582025" y="2752725"/>
            <a:ext cx="361950" cy="152400"/>
          </a:xfrm>
          <a:prstGeom xmlns:a="http://schemas.openxmlformats.org/drawingml/2006/main" prst="rightArrow">
            <a:avLst/>
          </a:prstGeom>
          <a:solidFill xmlns:a="http://schemas.openxmlformats.org/drawingml/2006/main">
            <a:srgbClr val="64877F"/>
          </a:solidFill>
          <a:ln xmlns:a="http://schemas.openxmlformats.org/drawingml/2006/main" w="0">
            <a:noFill/>
            <a:prstDash val="solid"/>
          </a:ln>
        </p:spPr>
      </p:sp>
      <p:sp>
        <p:nvSpPr>
          <p:cNvPr id="18" name="Rounded Rectangle 17">
            <a:extLst xmlns:a="http://schemas.openxmlformats.org/drawingml/2006/main">
              <a:ext uri="{FF2B5EF4-FFF2-40B4-BE49-F238E27FC236}">
                <a16:creationId xmlns:a16="http://schemas.microsoft.com/office/drawing/2014/main" id="{B844DB0D-DD2F-4827-A680-E6C7CF5525B5}"/>
              </a:ext>
            </a:extLst>
          </p:cNvPr>
          <p:cNvSpPr>
            <a:spLocks xmlns:a="http://schemas.openxmlformats.org/drawingml/2006/main" noGrp="1"/>
          </p:cNvSpPr>
          <p:nvPr/>
        </p:nvSpPr>
        <p:spPr>
          <a:xfrm xmlns:a="http://schemas.openxmlformats.org/drawingml/2006/main">
            <a:off x="9077325" y="2095500"/>
            <a:ext cx="2476500" cy="1476375"/>
          </a:xfrm>
          <a:prstGeom xmlns:a="http://schemas.openxmlformats.org/drawingml/2006/main" prst="roundRect">
            <a:avLst>
              <a:gd name="adj" fmla="val 5161"/>
            </a:avLst>
          </a:prstGeom>
          <a:solidFill xmlns:a="http://schemas.openxmlformats.org/drawingml/2006/main">
            <a:srgbClr val="DCE7ED"/>
          </a:solidFill>
          <a:ln xmlns:a="http://schemas.openxmlformats.org/drawingml/2006/main" w="9525">
            <a:solidFill>
              <a:srgbClr val="CBD5DA"/>
            </a:solidFill>
            <a:prstDash val="solid"/>
          </a:ln>
        </p:spPr>
      </p:sp>
      <p:sp>
        <p:nvSpPr>
          <p:cNvPr id="19" name="Rectangle 18">
            <a:extLst xmlns:a="http://schemas.openxmlformats.org/drawingml/2006/main">
              <a:ext uri="{FF2B5EF4-FFF2-40B4-BE49-F238E27FC236}">
                <a16:creationId xmlns:a16="http://schemas.microsoft.com/office/drawing/2014/main" id="{A67075C4-E104-4C6F-8188-AB69F30B6BC5}"/>
              </a:ext>
            </a:extLst>
          </p:cNvPr>
          <p:cNvSpPr>
            <a:spLocks xmlns:a="http://schemas.openxmlformats.org/drawingml/2006/main" noGrp="1"/>
          </p:cNvSpPr>
          <p:nvPr/>
        </p:nvSpPr>
        <p:spPr>
          <a:xfrm xmlns:a="http://schemas.openxmlformats.org/drawingml/2006/main">
            <a:off x="9191625" y="2209800"/>
            <a:ext cx="22479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Selected model</a:t>
            </a:r>
          </a:p>
        </p:txBody>
      </p:sp>
      <p:sp>
        <p:nvSpPr>
          <p:cNvPr id="20" name="Rectangle 19">
            <a:extLst xmlns:a="http://schemas.openxmlformats.org/drawingml/2006/main">
              <a:ext uri="{FF2B5EF4-FFF2-40B4-BE49-F238E27FC236}">
                <a16:creationId xmlns:a16="http://schemas.microsoft.com/office/drawing/2014/main" id="{D1A8B3F9-6F8B-4435-B6FF-94F6576B4441}"/>
              </a:ext>
            </a:extLst>
          </p:cNvPr>
          <p:cNvSpPr>
            <a:spLocks xmlns:a="http://schemas.openxmlformats.org/drawingml/2006/main" noGrp="1"/>
          </p:cNvSpPr>
          <p:nvPr/>
        </p:nvSpPr>
        <p:spPr>
          <a:xfrm xmlns:a="http://schemas.openxmlformats.org/drawingml/2006/main">
            <a:off x="9210675" y="2609850"/>
            <a:ext cx="22098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150 trees · leaf 1</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max_features = 0.5</a:t>
            </a:r>
          </a:p>
        </p:txBody>
      </p:sp>
      <p:sp>
        <p:nvSpPr>
          <p:cNvPr id="21" name="Rectangle 20">
            <a:extLst xmlns:a="http://schemas.openxmlformats.org/drawingml/2006/main">
              <a:ext uri="{FF2B5EF4-FFF2-40B4-BE49-F238E27FC236}">
                <a16:creationId xmlns:a16="http://schemas.microsoft.com/office/drawing/2014/main" id="{C59CF479-7DCC-46F3-B771-936F660393D6}"/>
              </a:ext>
            </a:extLst>
          </p:cNvPr>
          <p:cNvSpPr>
            <a:spLocks xmlns:a="http://schemas.openxmlformats.org/drawingml/2006/main" noGrp="1"/>
          </p:cNvSpPr>
          <p:nvPr/>
        </p:nvSpPr>
        <p:spPr>
          <a:xfrm xmlns:a="http://schemas.openxmlformats.org/drawingml/2006/main">
            <a:off x="742950" y="43624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1">
                <a:solidFill>
                  <a:srgbClr val="64877F"/>
                </a:solidFill>
                <a:latin typeface="Helvetica Neue"/>
                <a:ea typeface="Helvetica Neue"/>
                <a:cs typeface="Helvetica Neue"/>
              </a:defRPr>
            </a:defPPr>
            <a:lvl1pPr algn="l">
              <a:buNone/>
              <a:defRPr sz="1350" b="1">
                <a:solidFill>
                  <a:srgbClr val="64877F"/>
                </a:solidFill>
                <a:latin typeface="Helvetica Neue"/>
                <a:ea typeface="Helvetica Neue"/>
                <a:cs typeface="Helvetica Neue"/>
              </a:defRPr>
            </a:lvl1pPr>
            <a:lvl2pPr algn="l">
              <a:buNone/>
              <a:defRPr sz="1350" b="1">
                <a:solidFill>
                  <a:srgbClr val="64877F"/>
                </a:solidFill>
                <a:latin typeface="Helvetica Neue"/>
                <a:ea typeface="Helvetica Neue"/>
                <a:cs typeface="Helvetica Neue"/>
              </a:defRPr>
            </a:lvl2pPr>
            <a:lvl3pPr algn="l">
              <a:buNone/>
              <a:defRPr sz="1350" b="1">
                <a:solidFill>
                  <a:srgbClr val="64877F"/>
                </a:solidFill>
                <a:latin typeface="Helvetica Neue"/>
                <a:ea typeface="Helvetica Neue"/>
                <a:cs typeface="Helvetica Neue"/>
              </a:defRPr>
            </a:lvl3pPr>
            <a:lvl4pPr algn="l">
              <a:buNone/>
              <a:defRPr sz="1350" b="1">
                <a:solidFill>
                  <a:srgbClr val="64877F"/>
                </a:solidFill>
                <a:latin typeface="Helvetica Neue"/>
                <a:ea typeface="Helvetica Neue"/>
                <a:cs typeface="Helvetica Neue"/>
              </a:defRPr>
            </a:lvl4pPr>
            <a:lvl5pPr algn="l">
              <a:buNone/>
              <a:defRPr sz="1350" b="1">
                <a:solidFill>
                  <a:srgbClr val="64877F"/>
                </a:solidFill>
                <a:latin typeface="Helvetica Neue"/>
                <a:ea typeface="Helvetica Neue"/>
                <a:cs typeface="Helvetica Neue"/>
              </a:defRPr>
            </a:lvl5pPr>
            <a:lvl6pPr algn="l">
              <a:buNone/>
              <a:defRPr sz="1350" b="1">
                <a:solidFill>
                  <a:srgbClr val="64877F"/>
                </a:solidFill>
                <a:latin typeface="Helvetica Neue"/>
                <a:ea typeface="Helvetica Neue"/>
                <a:cs typeface="Helvetica Neue"/>
              </a:defRPr>
            </a:lvl6pPr>
            <a:lvl7pPr algn="l">
              <a:buNone/>
              <a:defRPr sz="1350" b="1">
                <a:solidFill>
                  <a:srgbClr val="64877F"/>
                </a:solidFill>
                <a:latin typeface="Helvetica Neue"/>
                <a:ea typeface="Helvetica Neue"/>
                <a:cs typeface="Helvetica Neue"/>
              </a:defRPr>
            </a:lvl7pPr>
            <a:lvl8pPr algn="l">
              <a:buNone/>
              <a:defRPr sz="1350" b="1">
                <a:solidFill>
                  <a:srgbClr val="64877F"/>
                </a:solidFill>
                <a:latin typeface="Helvetica Neue"/>
                <a:ea typeface="Helvetica Neue"/>
                <a:cs typeface="Helvetica Neue"/>
              </a:defRPr>
            </a:lvl8pPr>
            <a:lvl9pPr algn="l">
              <a:buNone/>
              <a:defRPr sz="1350" b="1">
                <a:solidFill>
                  <a:srgbClr val="64877F"/>
                </a:solidFill>
                <a:latin typeface="Helvetica Neue"/>
                <a:ea typeface="Helvetica Neue"/>
                <a:cs typeface="Helvetica Neue"/>
              </a:defRPr>
            </a:lvl9pPr>
          </a:lstStyle>
          <a:p xmlns:a="http://schemas.openxmlformats.org/drawingml/2006/main">
            <a:pPr algn="l">
              <a:buNone/>
              <a:defRPr sz="1350" b="1">
                <a:solidFill>
                  <a:srgbClr val="64877F"/>
                </a:solidFill>
                <a:latin typeface="Helvetica Neue"/>
                <a:ea typeface="Helvetica Neue"/>
                <a:cs typeface="Helvetica Neue"/>
              </a:defRPr>
            </a:pPr>
            <a:r>
              <a:rPr sz="1350" b="1">
                <a:solidFill>
                  <a:srgbClr val="64877F"/>
                </a:solidFill>
                <a:latin typeface="Helvetica Neue"/>
                <a:ea typeface="Helvetica Neue"/>
                <a:cs typeface="Helvetica Neue"/>
              </a:rPr>
              <a:t>Outputs</a:t>
            </a:r>
          </a:p>
        </p:txBody>
      </p:sp>
      <p:sp>
        <p:nvSpPr>
          <p:cNvPr id="22" name="Rectangle 21">
            <a:extLst xmlns:a="http://schemas.openxmlformats.org/drawingml/2006/main">
              <a:ext uri="{FF2B5EF4-FFF2-40B4-BE49-F238E27FC236}">
                <a16:creationId xmlns:a16="http://schemas.microsoft.com/office/drawing/2014/main" id="{8A36F366-2996-464E-B270-3FAA2BDFE0D0}"/>
              </a:ext>
            </a:extLst>
          </p:cNvPr>
          <p:cNvSpPr>
            <a:spLocks xmlns:a="http://schemas.openxmlformats.org/drawingml/2006/main" noGrp="1"/>
          </p:cNvSpPr>
          <p:nvPr/>
        </p:nvSpPr>
        <p:spPr>
          <a:xfrm xmlns:a="http://schemas.openxmlformats.org/drawingml/2006/main">
            <a:off x="742950" y="476250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75" b="1">
                <a:solidFill>
                  <a:srgbClr val="243A50"/>
                </a:solidFill>
                <a:latin typeface="Helvetica Neue"/>
                <a:ea typeface="Helvetica Neue"/>
                <a:cs typeface="Helvetica Neue"/>
              </a:defRPr>
            </a:defPPr>
            <a:lvl1pPr algn="l">
              <a:buNone/>
              <a:defRPr sz="1575" b="1">
                <a:solidFill>
                  <a:srgbClr val="243A50"/>
                </a:solidFill>
                <a:latin typeface="Helvetica Neue"/>
                <a:ea typeface="Helvetica Neue"/>
                <a:cs typeface="Helvetica Neue"/>
              </a:defRPr>
            </a:lvl1pPr>
            <a:lvl2pPr algn="l">
              <a:buNone/>
              <a:defRPr sz="1575" b="1">
                <a:solidFill>
                  <a:srgbClr val="243A50"/>
                </a:solidFill>
                <a:latin typeface="Helvetica Neue"/>
                <a:ea typeface="Helvetica Neue"/>
                <a:cs typeface="Helvetica Neue"/>
              </a:defRPr>
            </a:lvl2pPr>
            <a:lvl3pPr algn="l">
              <a:buNone/>
              <a:defRPr sz="1575" b="1">
                <a:solidFill>
                  <a:srgbClr val="243A50"/>
                </a:solidFill>
                <a:latin typeface="Helvetica Neue"/>
                <a:ea typeface="Helvetica Neue"/>
                <a:cs typeface="Helvetica Neue"/>
              </a:defRPr>
            </a:lvl3pPr>
            <a:lvl4pPr algn="l">
              <a:buNone/>
              <a:defRPr sz="1575" b="1">
                <a:solidFill>
                  <a:srgbClr val="243A50"/>
                </a:solidFill>
                <a:latin typeface="Helvetica Neue"/>
                <a:ea typeface="Helvetica Neue"/>
                <a:cs typeface="Helvetica Neue"/>
              </a:defRPr>
            </a:lvl4pPr>
            <a:lvl5pPr algn="l">
              <a:buNone/>
              <a:defRPr sz="1575" b="1">
                <a:solidFill>
                  <a:srgbClr val="243A50"/>
                </a:solidFill>
                <a:latin typeface="Helvetica Neue"/>
                <a:ea typeface="Helvetica Neue"/>
                <a:cs typeface="Helvetica Neue"/>
              </a:defRPr>
            </a:lvl5pPr>
            <a:lvl6pPr algn="l">
              <a:buNone/>
              <a:defRPr sz="1575" b="1">
                <a:solidFill>
                  <a:srgbClr val="243A50"/>
                </a:solidFill>
                <a:latin typeface="Helvetica Neue"/>
                <a:ea typeface="Helvetica Neue"/>
                <a:cs typeface="Helvetica Neue"/>
              </a:defRPr>
            </a:lvl6pPr>
            <a:lvl7pPr algn="l">
              <a:buNone/>
              <a:defRPr sz="1575" b="1">
                <a:solidFill>
                  <a:srgbClr val="243A50"/>
                </a:solidFill>
                <a:latin typeface="Helvetica Neue"/>
                <a:ea typeface="Helvetica Neue"/>
                <a:cs typeface="Helvetica Neue"/>
              </a:defRPr>
            </a:lvl7pPr>
            <a:lvl8pPr algn="l">
              <a:buNone/>
              <a:defRPr sz="1575" b="1">
                <a:solidFill>
                  <a:srgbClr val="243A50"/>
                </a:solidFill>
                <a:latin typeface="Helvetica Neue"/>
                <a:ea typeface="Helvetica Neue"/>
                <a:cs typeface="Helvetica Neue"/>
              </a:defRPr>
            </a:lvl8pPr>
            <a:lvl9pPr algn="l">
              <a:buNone/>
              <a:defRPr sz="1575" b="1">
                <a:solidFill>
                  <a:srgbClr val="243A50"/>
                </a:solidFill>
                <a:latin typeface="Helvetica Neue"/>
                <a:ea typeface="Helvetica Neue"/>
                <a:cs typeface="Helvetica Neue"/>
              </a:defRPr>
            </a:lvl9pPr>
          </a:lstStyle>
          <a:p xmlns:a="http://schemas.openxmlformats.org/drawingml/2006/main">
            <a:pPr algn="l">
              <a:buNone/>
              <a:defRPr sz="1575" b="1">
                <a:solidFill>
                  <a:srgbClr val="243A50"/>
                </a:solidFill>
                <a:latin typeface="Helvetica Neue"/>
                <a:ea typeface="Helvetica Neue"/>
                <a:cs typeface="Helvetica Neue"/>
              </a:defRPr>
            </a:pPr>
            <a:r>
              <a:rPr sz="1575" b="1">
                <a:solidFill>
                  <a:srgbClr val="243A50"/>
                </a:solidFill>
                <a:latin typeface="Helvetica Neue"/>
                <a:ea typeface="Helvetica Neue"/>
                <a:cs typeface="Helvetica Neue"/>
              </a:rPr>
              <a:t>Longitude MAE  ·  Latitude MAE  ·  Euclidean error distribution  ·  spatial error map</a:t>
            </a:r>
          </a:p>
        </p:txBody>
      </p:sp>
      <p:sp>
        <p:nvSpPr>
          <p:cNvPr id="23" name="Rectangle 22">
            <a:extLst xmlns:a="http://schemas.openxmlformats.org/drawingml/2006/main">
              <a:ext uri="{FF2B5EF4-FFF2-40B4-BE49-F238E27FC236}">
                <a16:creationId xmlns:a16="http://schemas.microsoft.com/office/drawing/2014/main" id="{E6C7355A-C4B2-4231-BA51-8148AA1765F1}"/>
              </a:ext>
            </a:extLst>
          </p:cNvPr>
          <p:cNvSpPr>
            <a:spLocks xmlns:a="http://schemas.openxmlformats.org/drawingml/2006/main" noGrp="1"/>
          </p:cNvSpPr>
          <p:nvPr/>
        </p:nvSpPr>
        <p:spPr>
          <a:xfrm xmlns:a="http://schemas.openxmlformats.org/drawingml/2006/main">
            <a:off x="742950" y="530542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63788A"/>
                </a:solidFill>
                <a:latin typeface="Helvetica Neue"/>
                <a:ea typeface="Helvetica Neue"/>
                <a:cs typeface="Helvetica Neue"/>
              </a:defRPr>
            </a:defPPr>
            <a:lvl1pPr algn="l">
              <a:buNone/>
              <a:defRPr sz="1275" b="0">
                <a:solidFill>
                  <a:srgbClr val="63788A"/>
                </a:solidFill>
                <a:latin typeface="Helvetica Neue"/>
                <a:ea typeface="Helvetica Neue"/>
                <a:cs typeface="Helvetica Neue"/>
              </a:defRPr>
            </a:lvl1pPr>
            <a:lvl2pPr algn="l">
              <a:buNone/>
              <a:defRPr sz="1275" b="0">
                <a:solidFill>
                  <a:srgbClr val="63788A"/>
                </a:solidFill>
                <a:latin typeface="Helvetica Neue"/>
                <a:ea typeface="Helvetica Neue"/>
                <a:cs typeface="Helvetica Neue"/>
              </a:defRPr>
            </a:lvl2pPr>
            <a:lvl3pPr algn="l">
              <a:buNone/>
              <a:defRPr sz="1275" b="0">
                <a:solidFill>
                  <a:srgbClr val="63788A"/>
                </a:solidFill>
                <a:latin typeface="Helvetica Neue"/>
                <a:ea typeface="Helvetica Neue"/>
                <a:cs typeface="Helvetica Neue"/>
              </a:defRPr>
            </a:lvl3pPr>
            <a:lvl4pPr algn="l">
              <a:buNone/>
              <a:defRPr sz="1275" b="0">
                <a:solidFill>
                  <a:srgbClr val="63788A"/>
                </a:solidFill>
                <a:latin typeface="Helvetica Neue"/>
                <a:ea typeface="Helvetica Neue"/>
                <a:cs typeface="Helvetica Neue"/>
              </a:defRPr>
            </a:lvl4pPr>
            <a:lvl5pPr algn="l">
              <a:buNone/>
              <a:defRPr sz="1275" b="0">
                <a:solidFill>
                  <a:srgbClr val="63788A"/>
                </a:solidFill>
                <a:latin typeface="Helvetica Neue"/>
                <a:ea typeface="Helvetica Neue"/>
                <a:cs typeface="Helvetica Neue"/>
              </a:defRPr>
            </a:lvl5pPr>
            <a:lvl6pPr algn="l">
              <a:buNone/>
              <a:defRPr sz="1275" b="0">
                <a:solidFill>
                  <a:srgbClr val="63788A"/>
                </a:solidFill>
                <a:latin typeface="Helvetica Neue"/>
                <a:ea typeface="Helvetica Neue"/>
                <a:cs typeface="Helvetica Neue"/>
              </a:defRPr>
            </a:lvl6pPr>
            <a:lvl7pPr algn="l">
              <a:buNone/>
              <a:defRPr sz="1275" b="0">
                <a:solidFill>
                  <a:srgbClr val="63788A"/>
                </a:solidFill>
                <a:latin typeface="Helvetica Neue"/>
                <a:ea typeface="Helvetica Neue"/>
                <a:cs typeface="Helvetica Neue"/>
              </a:defRPr>
            </a:lvl7pPr>
            <a:lvl8pPr algn="l">
              <a:buNone/>
              <a:defRPr sz="1275" b="0">
                <a:solidFill>
                  <a:srgbClr val="63788A"/>
                </a:solidFill>
                <a:latin typeface="Helvetica Neue"/>
                <a:ea typeface="Helvetica Neue"/>
                <a:cs typeface="Helvetica Neue"/>
              </a:defRPr>
            </a:lvl8pPr>
            <a:lvl9pPr algn="l">
              <a:buNone/>
              <a:defRPr sz="1275" b="0">
                <a:solidFill>
                  <a:srgbClr val="63788A"/>
                </a:solidFill>
                <a:latin typeface="Helvetica Neue"/>
                <a:ea typeface="Helvetica Neue"/>
                <a:cs typeface="Helvetica Neue"/>
              </a:defRPr>
            </a:lvl9pPr>
          </a:lstStyle>
          <a:p xmlns:a="http://schemas.openxmlformats.org/drawingml/2006/main">
            <a:pPr algn="l">
              <a:buNone/>
              <a:defRPr sz="1275" b="0">
                <a:solidFill>
                  <a:srgbClr val="63788A"/>
                </a:solidFill>
                <a:latin typeface="Helvetica Neue"/>
                <a:ea typeface="Helvetica Neue"/>
                <a:cs typeface="Helvetica Neue"/>
              </a:defRPr>
            </a:pPr>
            <a:r>
              <a:rPr sz="1275" b="0">
                <a:solidFill>
                  <a:srgbClr val="63788A"/>
                </a:solidFill>
                <a:latin typeface="Helvetica Neue"/>
                <a:ea typeface="Helvetica Neue"/>
                <a:cs typeface="Helvetica Neue"/>
              </a:rPr>
              <a:t>Coordinate labels use EPSG:3857 in the notebook; the repository does not independently verify the CRS.</a:t>
            </a:r>
          </a:p>
        </p:txBody>
      </p:sp>
    </p:spTree>
    <p:extLst>
      <p:ext uri="{BB962C8B-B14F-4D97-AF65-F5344CB8AC3E}">
        <p14:creationId xmlns:p14="http://schemas.microsoft.com/office/powerpoint/2010/main" val="660820901"/>
      </p:ext>
    </p:extLst>
  </p:cSld>
</p:sld>
</file>

<file path=ppt/slides/slide1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3" name="Rectangle 12">
            <a:extLst xmlns:a="http://schemas.openxmlformats.org/drawingml/2006/main">
              <a:ext uri="{FF2B5EF4-FFF2-40B4-BE49-F238E27FC236}">
                <a16:creationId xmlns:a16="http://schemas.microsoft.com/office/drawing/2014/main" id="{31894891-3528-4847-9B01-DF68FB99B852}"/>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C7DBD1"/>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838E918C-D2CC-4662-B6C4-F5FA5A8A3079}"/>
              </a:ext>
            </a:extLst>
          </p:cNvPr>
          <p:cNvSpPr>
            <a:spLocks xmlns:a="http://schemas.openxmlformats.org/drawingml/2006/main" noGrp="1"/>
          </p:cNvSpPr>
          <p:nvPr/>
        </p:nvSpPr>
        <p:spPr>
          <a:xfrm xmlns:a="http://schemas.openxmlformats.org/drawingml/2006/main">
            <a:off x="609600" y="37147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625" b="1">
                <a:solidFill>
                  <a:srgbClr val="243A50"/>
                </a:solidFill>
                <a:latin typeface="Helvetica Neue"/>
                <a:ea typeface="Helvetica Neue"/>
                <a:cs typeface="Helvetica Neue"/>
              </a:defRPr>
            </a:defPPr>
            <a:lvl1pPr algn="l">
              <a:buNone/>
              <a:defRPr sz="2625" b="1">
                <a:solidFill>
                  <a:srgbClr val="243A50"/>
                </a:solidFill>
                <a:latin typeface="Helvetica Neue"/>
                <a:ea typeface="Helvetica Neue"/>
                <a:cs typeface="Helvetica Neue"/>
              </a:defRPr>
            </a:lvl1pPr>
            <a:lvl2pPr algn="l">
              <a:buNone/>
              <a:defRPr sz="2625" b="1">
                <a:solidFill>
                  <a:srgbClr val="243A50"/>
                </a:solidFill>
                <a:latin typeface="Helvetica Neue"/>
                <a:ea typeface="Helvetica Neue"/>
                <a:cs typeface="Helvetica Neue"/>
              </a:defRPr>
            </a:lvl2pPr>
            <a:lvl3pPr algn="l">
              <a:buNone/>
              <a:defRPr sz="2625" b="1">
                <a:solidFill>
                  <a:srgbClr val="243A50"/>
                </a:solidFill>
                <a:latin typeface="Helvetica Neue"/>
                <a:ea typeface="Helvetica Neue"/>
                <a:cs typeface="Helvetica Neue"/>
              </a:defRPr>
            </a:lvl3pPr>
            <a:lvl4pPr algn="l">
              <a:buNone/>
              <a:defRPr sz="2625" b="1">
                <a:solidFill>
                  <a:srgbClr val="243A50"/>
                </a:solidFill>
                <a:latin typeface="Helvetica Neue"/>
                <a:ea typeface="Helvetica Neue"/>
                <a:cs typeface="Helvetica Neue"/>
              </a:defRPr>
            </a:lvl4pPr>
            <a:lvl5pPr algn="l">
              <a:buNone/>
              <a:defRPr sz="2625" b="1">
                <a:solidFill>
                  <a:srgbClr val="243A50"/>
                </a:solidFill>
                <a:latin typeface="Helvetica Neue"/>
                <a:ea typeface="Helvetica Neue"/>
                <a:cs typeface="Helvetica Neue"/>
              </a:defRPr>
            </a:lvl5pPr>
            <a:lvl6pPr algn="l">
              <a:buNone/>
              <a:defRPr sz="2625" b="1">
                <a:solidFill>
                  <a:srgbClr val="243A50"/>
                </a:solidFill>
                <a:latin typeface="Helvetica Neue"/>
                <a:ea typeface="Helvetica Neue"/>
                <a:cs typeface="Helvetica Neue"/>
              </a:defRPr>
            </a:lvl6pPr>
            <a:lvl7pPr algn="l">
              <a:buNone/>
              <a:defRPr sz="2625" b="1">
                <a:solidFill>
                  <a:srgbClr val="243A50"/>
                </a:solidFill>
                <a:latin typeface="Helvetica Neue"/>
                <a:ea typeface="Helvetica Neue"/>
                <a:cs typeface="Helvetica Neue"/>
              </a:defRPr>
            </a:lvl7pPr>
            <a:lvl8pPr algn="l">
              <a:buNone/>
              <a:defRPr sz="2625" b="1">
                <a:solidFill>
                  <a:srgbClr val="243A50"/>
                </a:solidFill>
                <a:latin typeface="Helvetica Neue"/>
                <a:ea typeface="Helvetica Neue"/>
                <a:cs typeface="Helvetica Neue"/>
              </a:defRPr>
            </a:lvl8pPr>
            <a:lvl9pPr algn="l">
              <a:buNone/>
              <a:defRPr sz="2625" b="1">
                <a:solidFill>
                  <a:srgbClr val="243A50"/>
                </a:solidFill>
                <a:latin typeface="Helvetica Neue"/>
                <a:ea typeface="Helvetica Neue"/>
                <a:cs typeface="Helvetica Neue"/>
              </a:defRPr>
            </a:lvl9pPr>
          </a:lstStyle>
          <a:p xmlns:a="http://schemas.openxmlformats.org/drawingml/2006/main">
            <a:pPr algn="l">
              <a:buNone/>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4 · Actual versus predicted coordinates</a:t>
            </a:r>
          </a:p>
        </p:txBody>
      </p:sp>
      <p:sp>
        <p:nvSpPr>
          <p:cNvPr id="3" name="Rectangle 2">
            <a:extLst xmlns:a="http://schemas.openxmlformats.org/drawingml/2006/main">
              <a:ext uri="{FF2B5EF4-FFF2-40B4-BE49-F238E27FC236}">
                <a16:creationId xmlns:a16="http://schemas.microsoft.com/office/drawing/2014/main" id="{576FAC82-E1E6-4958-884F-CC23E694351B}"/>
              </a:ext>
            </a:extLst>
          </p:cNvPr>
          <p:cNvSpPr>
            <a:spLocks xmlns:a="http://schemas.openxmlformats.org/drawingml/2006/main" noGrp="1"/>
          </p:cNvSpPr>
          <p:nvPr/>
        </p:nvSpPr>
        <p:spPr>
          <a:xfrm xmlns:a="http://schemas.openxmlformats.org/drawingml/2006/main">
            <a:off x="628650" y="904875"/>
            <a:ext cx="10839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The scatter points cluster around the perfect-prediction line, with visible outliers.</a:t>
            </a:r>
          </a:p>
        </p:txBody>
      </p:sp>
      <p:sp>
        <p:nvSpPr>
          <p:cNvPr id="4" name="Straight Connector 3">
            <a:extLst xmlns:a="http://schemas.openxmlformats.org/drawingml/2006/main">
              <a:ext uri="{FF2B5EF4-FFF2-40B4-BE49-F238E27FC236}">
                <a16:creationId xmlns:a16="http://schemas.microsoft.com/office/drawing/2014/main" id="{14DE5DA3-33B6-4D57-A0F1-8CF2F4EDA1AD}"/>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BD5DA"/>
            </a:solidFill>
            <a:prstDash val="solid"/>
          </a:ln>
        </p:spPr>
      </p:sp>
      <p:sp>
        <p:nvSpPr>
          <p:cNvPr id="5" name="Rectangle 4">
            <a:extLst xmlns:a="http://schemas.openxmlformats.org/drawingml/2006/main">
              <a:ext uri="{FF2B5EF4-FFF2-40B4-BE49-F238E27FC236}">
                <a16:creationId xmlns:a16="http://schemas.microsoft.com/office/drawing/2014/main" id="{425873BE-733A-4FE0-9C70-93E1908F058E}"/>
              </a:ext>
            </a:extLst>
          </p:cNvPr>
          <p:cNvSpPr>
            <a:spLocks xmlns:a="http://schemas.openxmlformats.org/drawingml/2006/main" noGrp="1"/>
          </p:cNvSpPr>
          <p:nvPr/>
        </p:nvSpPr>
        <p:spPr>
          <a:xfrm xmlns:a="http://schemas.openxmlformats.org/drawingml/2006/main">
            <a:off x="609600" y="64770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900" b="0">
                <a:solidFill>
                  <a:srgbClr val="63788A"/>
                </a:solidFill>
                <a:latin typeface="Helvetica Neue"/>
                <a:ea typeface="Helvetica Neue"/>
                <a:cs typeface="Helvetica Neue"/>
              </a:defRPr>
            </a:defPPr>
            <a:lvl1pPr algn="r">
              <a:buNone/>
              <a:defRPr sz="900" b="0">
                <a:solidFill>
                  <a:srgbClr val="63788A"/>
                </a:solidFill>
                <a:latin typeface="Helvetica Neue"/>
                <a:ea typeface="Helvetica Neue"/>
                <a:cs typeface="Helvetica Neue"/>
              </a:defRPr>
            </a:lvl1pPr>
            <a:lvl2pPr algn="r">
              <a:buNone/>
              <a:defRPr sz="900" b="0">
                <a:solidFill>
                  <a:srgbClr val="63788A"/>
                </a:solidFill>
                <a:latin typeface="Helvetica Neue"/>
                <a:ea typeface="Helvetica Neue"/>
                <a:cs typeface="Helvetica Neue"/>
              </a:defRPr>
            </a:lvl2pPr>
            <a:lvl3pPr algn="r">
              <a:buNone/>
              <a:defRPr sz="900" b="0">
                <a:solidFill>
                  <a:srgbClr val="63788A"/>
                </a:solidFill>
                <a:latin typeface="Helvetica Neue"/>
                <a:ea typeface="Helvetica Neue"/>
                <a:cs typeface="Helvetica Neue"/>
              </a:defRPr>
            </a:lvl3pPr>
            <a:lvl4pPr algn="r">
              <a:buNone/>
              <a:defRPr sz="900" b="0">
                <a:solidFill>
                  <a:srgbClr val="63788A"/>
                </a:solidFill>
                <a:latin typeface="Helvetica Neue"/>
                <a:ea typeface="Helvetica Neue"/>
                <a:cs typeface="Helvetica Neue"/>
              </a:defRPr>
            </a:lvl4pPr>
            <a:lvl5pPr algn="r">
              <a:buNone/>
              <a:defRPr sz="900" b="0">
                <a:solidFill>
                  <a:srgbClr val="63788A"/>
                </a:solidFill>
                <a:latin typeface="Helvetica Neue"/>
                <a:ea typeface="Helvetica Neue"/>
                <a:cs typeface="Helvetica Neue"/>
              </a:defRPr>
            </a:lvl5pPr>
            <a:lvl6pPr algn="r">
              <a:buNone/>
              <a:defRPr sz="900" b="0">
                <a:solidFill>
                  <a:srgbClr val="63788A"/>
                </a:solidFill>
                <a:latin typeface="Helvetica Neue"/>
                <a:ea typeface="Helvetica Neue"/>
                <a:cs typeface="Helvetica Neue"/>
              </a:defRPr>
            </a:lvl6pPr>
            <a:lvl7pPr algn="r">
              <a:buNone/>
              <a:defRPr sz="900" b="0">
                <a:solidFill>
                  <a:srgbClr val="63788A"/>
                </a:solidFill>
                <a:latin typeface="Helvetica Neue"/>
                <a:ea typeface="Helvetica Neue"/>
                <a:cs typeface="Helvetica Neue"/>
              </a:defRPr>
            </a:lvl7pPr>
            <a:lvl8pPr algn="r">
              <a:buNone/>
              <a:defRPr sz="900" b="0">
                <a:solidFill>
                  <a:srgbClr val="63788A"/>
                </a:solidFill>
                <a:latin typeface="Helvetica Neue"/>
                <a:ea typeface="Helvetica Neue"/>
                <a:cs typeface="Helvetica Neue"/>
              </a:defRPr>
            </a:lvl8pPr>
            <a:lvl9pPr algn="r">
              <a:buNone/>
              <a:defRPr sz="900" b="0">
                <a:solidFill>
                  <a:srgbClr val="63788A"/>
                </a:solidFill>
                <a:latin typeface="Helvetica Neue"/>
                <a:ea typeface="Helvetica Neue"/>
                <a:cs typeface="Helvetica Neue"/>
              </a:defRPr>
            </a:lvl9pPr>
          </a:lstStyle>
          <a:p xmlns:a="http://schemas.openxmlformats.org/drawingml/2006/main">
            <a:pPr algn="r">
              <a:buNone/>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14</a:t>
            </a:r>
          </a:p>
        </p:txBody>
      </p:sp>
      <p:pic>
        <p:nvPicPr>
          <p:cNvPr id="6" name="Picture 5">
            <a:extLst xmlns:a="http://schemas.openxmlformats.org/drawingml/2006/main">
              <a:ext uri="{FF2B5EF4-FFF2-40B4-BE49-F238E27FC236}">
                <a16:creationId xmlns:a16="http://schemas.microsoft.com/office/drawing/2014/main" id="{2B0DF413-4545-4725-AA90-7B3F5EA7653F}"/>
              </a:ext>
            </a:extLst>
          </p:cNvPr>
          <p:cNvPicPr>
            <a:picLocks xmlns:a="http://schemas.openxmlformats.org/drawingml/2006/main" noChangeAspect="1"/>
          </p:cNvPicPr>
          <p:nvPr/>
        </p:nvPicPr>
        <p:blipFill>
          <a:blip xmlns:r="http://schemas.openxmlformats.org/officeDocument/2006/relationships" xmlns:a="http://schemas.openxmlformats.org/drawingml/2006/main" r:embed="Ra1ee76c16c1c4506"/>
          <a:stretch xmlns:a="http://schemas.openxmlformats.org/drawingml/2006/main"/>
        </p:blipFill>
        <p:spPr>
          <a:xfrm xmlns:a="http://schemas.openxmlformats.org/drawingml/2006/main">
            <a:off x="428625" y="1633665"/>
            <a:ext cx="8096250" cy="3971669"/>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3C1E6F3B-BC33-4E4F-8A41-A4E8F4E94596}"/>
              </a:ext>
            </a:extLst>
          </p:cNvPr>
          <p:cNvSpPr>
            <a:spLocks xmlns:a="http://schemas.openxmlformats.org/drawingml/2006/main" noGrp="1"/>
          </p:cNvSpPr>
          <p:nvPr/>
        </p:nvSpPr>
        <p:spPr>
          <a:xfrm xmlns:a="http://schemas.openxmlformats.org/drawingml/2006/main">
            <a:off x="8905875" y="1952625"/>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3750" b="1">
                <a:solidFill>
                  <a:srgbClr val="243A50"/>
                </a:solidFill>
                <a:latin typeface="Helvetica Neue"/>
                <a:ea typeface="Helvetica Neue"/>
                <a:cs typeface="Helvetica Neue"/>
              </a:defRPr>
            </a:defPPr>
            <a:lvl1pPr algn="l">
              <a:buNone/>
              <a:defRPr sz="3750" b="1">
                <a:solidFill>
                  <a:srgbClr val="243A50"/>
                </a:solidFill>
                <a:latin typeface="Helvetica Neue"/>
                <a:ea typeface="Helvetica Neue"/>
                <a:cs typeface="Helvetica Neue"/>
              </a:defRPr>
            </a:lvl1pPr>
            <a:lvl2pPr algn="l">
              <a:buNone/>
              <a:defRPr sz="3750" b="1">
                <a:solidFill>
                  <a:srgbClr val="243A50"/>
                </a:solidFill>
                <a:latin typeface="Helvetica Neue"/>
                <a:ea typeface="Helvetica Neue"/>
                <a:cs typeface="Helvetica Neue"/>
              </a:defRPr>
            </a:lvl2pPr>
            <a:lvl3pPr algn="l">
              <a:buNone/>
              <a:defRPr sz="3750" b="1">
                <a:solidFill>
                  <a:srgbClr val="243A50"/>
                </a:solidFill>
                <a:latin typeface="Helvetica Neue"/>
                <a:ea typeface="Helvetica Neue"/>
                <a:cs typeface="Helvetica Neue"/>
              </a:defRPr>
            </a:lvl3pPr>
            <a:lvl4pPr algn="l">
              <a:buNone/>
              <a:defRPr sz="3750" b="1">
                <a:solidFill>
                  <a:srgbClr val="243A50"/>
                </a:solidFill>
                <a:latin typeface="Helvetica Neue"/>
                <a:ea typeface="Helvetica Neue"/>
                <a:cs typeface="Helvetica Neue"/>
              </a:defRPr>
            </a:lvl4pPr>
            <a:lvl5pPr algn="l">
              <a:buNone/>
              <a:defRPr sz="3750" b="1">
                <a:solidFill>
                  <a:srgbClr val="243A50"/>
                </a:solidFill>
                <a:latin typeface="Helvetica Neue"/>
                <a:ea typeface="Helvetica Neue"/>
                <a:cs typeface="Helvetica Neue"/>
              </a:defRPr>
            </a:lvl5pPr>
            <a:lvl6pPr algn="l">
              <a:buNone/>
              <a:defRPr sz="3750" b="1">
                <a:solidFill>
                  <a:srgbClr val="243A50"/>
                </a:solidFill>
                <a:latin typeface="Helvetica Neue"/>
                <a:ea typeface="Helvetica Neue"/>
                <a:cs typeface="Helvetica Neue"/>
              </a:defRPr>
            </a:lvl6pPr>
            <a:lvl7pPr algn="l">
              <a:buNone/>
              <a:defRPr sz="3750" b="1">
                <a:solidFill>
                  <a:srgbClr val="243A50"/>
                </a:solidFill>
                <a:latin typeface="Helvetica Neue"/>
                <a:ea typeface="Helvetica Neue"/>
                <a:cs typeface="Helvetica Neue"/>
              </a:defRPr>
            </a:lvl7pPr>
            <a:lvl8pPr algn="l">
              <a:buNone/>
              <a:defRPr sz="3750" b="1">
                <a:solidFill>
                  <a:srgbClr val="243A50"/>
                </a:solidFill>
                <a:latin typeface="Helvetica Neue"/>
                <a:ea typeface="Helvetica Neue"/>
                <a:cs typeface="Helvetica Neue"/>
              </a:defRPr>
            </a:lvl8pPr>
            <a:lvl9pPr algn="l">
              <a:buNone/>
              <a:defRPr sz="3750" b="1">
                <a:solidFill>
                  <a:srgbClr val="243A50"/>
                </a:solidFill>
                <a:latin typeface="Helvetica Neue"/>
                <a:ea typeface="Helvetica Neue"/>
                <a:cs typeface="Helvetica Neue"/>
              </a:defRPr>
            </a:lvl9pPr>
          </a:lstStyle>
          <a:p xmlns:a="http://schemas.openxmlformats.org/drawingml/2006/main">
            <a:pPr algn="l">
              <a:buNone/>
              <a:defRPr sz="3750" b="1">
                <a:solidFill>
                  <a:srgbClr val="243A50"/>
                </a:solidFill>
                <a:latin typeface="Helvetica Neue"/>
                <a:ea typeface="Helvetica Neue"/>
                <a:cs typeface="Helvetica Neue"/>
              </a:defRPr>
            </a:pPr>
            <a:r>
              <a:rPr sz="3750" b="1">
                <a:solidFill>
                  <a:srgbClr val="243A50"/>
                </a:solidFill>
                <a:latin typeface="Helvetica Neue"/>
                <a:ea typeface="Helvetica Neue"/>
                <a:cs typeface="Helvetica Neue"/>
              </a:rPr>
              <a:t>8.10</a:t>
            </a:r>
          </a:p>
        </p:txBody>
      </p:sp>
      <p:sp>
        <p:nvSpPr>
          <p:cNvPr id="8" name="Rectangle 7">
            <a:extLst xmlns:a="http://schemas.openxmlformats.org/drawingml/2006/main">
              <a:ext uri="{FF2B5EF4-FFF2-40B4-BE49-F238E27FC236}">
                <a16:creationId xmlns:a16="http://schemas.microsoft.com/office/drawing/2014/main" id="{017B5BAF-0808-4B0D-A4AF-F433875B217F}"/>
              </a:ext>
            </a:extLst>
          </p:cNvPr>
          <p:cNvSpPr>
            <a:spLocks xmlns:a="http://schemas.openxmlformats.org/drawingml/2006/main" noGrp="1"/>
          </p:cNvSpPr>
          <p:nvPr/>
        </p:nvSpPr>
        <p:spPr>
          <a:xfrm xmlns:a="http://schemas.openxmlformats.org/drawingml/2006/main">
            <a:off x="8905875" y="2619375"/>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longitude MAE</a:t>
            </a:r>
          </a:p>
        </p:txBody>
      </p:sp>
      <p:sp>
        <p:nvSpPr>
          <p:cNvPr id="9" name="Rectangle 8">
            <a:extLst xmlns:a="http://schemas.openxmlformats.org/drawingml/2006/main">
              <a:ext uri="{FF2B5EF4-FFF2-40B4-BE49-F238E27FC236}">
                <a16:creationId xmlns:a16="http://schemas.microsoft.com/office/drawing/2014/main" id="{E821E933-6E2E-46A5-9DA4-7F3EF4BE6442}"/>
              </a:ext>
            </a:extLst>
          </p:cNvPr>
          <p:cNvSpPr>
            <a:spLocks xmlns:a="http://schemas.openxmlformats.org/drawingml/2006/main" noGrp="1"/>
          </p:cNvSpPr>
          <p:nvPr/>
        </p:nvSpPr>
        <p:spPr>
          <a:xfrm xmlns:a="http://schemas.openxmlformats.org/drawingml/2006/main">
            <a:off x="8905875" y="3333750"/>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3750" b="1">
                <a:solidFill>
                  <a:srgbClr val="64877F"/>
                </a:solidFill>
                <a:latin typeface="Helvetica Neue"/>
                <a:ea typeface="Helvetica Neue"/>
                <a:cs typeface="Helvetica Neue"/>
              </a:defRPr>
            </a:defPPr>
            <a:lvl1pPr algn="l">
              <a:buNone/>
              <a:defRPr sz="3750" b="1">
                <a:solidFill>
                  <a:srgbClr val="64877F"/>
                </a:solidFill>
                <a:latin typeface="Helvetica Neue"/>
                <a:ea typeface="Helvetica Neue"/>
                <a:cs typeface="Helvetica Neue"/>
              </a:defRPr>
            </a:lvl1pPr>
            <a:lvl2pPr algn="l">
              <a:buNone/>
              <a:defRPr sz="3750" b="1">
                <a:solidFill>
                  <a:srgbClr val="64877F"/>
                </a:solidFill>
                <a:latin typeface="Helvetica Neue"/>
                <a:ea typeface="Helvetica Neue"/>
                <a:cs typeface="Helvetica Neue"/>
              </a:defRPr>
            </a:lvl2pPr>
            <a:lvl3pPr algn="l">
              <a:buNone/>
              <a:defRPr sz="3750" b="1">
                <a:solidFill>
                  <a:srgbClr val="64877F"/>
                </a:solidFill>
                <a:latin typeface="Helvetica Neue"/>
                <a:ea typeface="Helvetica Neue"/>
                <a:cs typeface="Helvetica Neue"/>
              </a:defRPr>
            </a:lvl3pPr>
            <a:lvl4pPr algn="l">
              <a:buNone/>
              <a:defRPr sz="3750" b="1">
                <a:solidFill>
                  <a:srgbClr val="64877F"/>
                </a:solidFill>
                <a:latin typeface="Helvetica Neue"/>
                <a:ea typeface="Helvetica Neue"/>
                <a:cs typeface="Helvetica Neue"/>
              </a:defRPr>
            </a:lvl4pPr>
            <a:lvl5pPr algn="l">
              <a:buNone/>
              <a:defRPr sz="3750" b="1">
                <a:solidFill>
                  <a:srgbClr val="64877F"/>
                </a:solidFill>
                <a:latin typeface="Helvetica Neue"/>
                <a:ea typeface="Helvetica Neue"/>
                <a:cs typeface="Helvetica Neue"/>
              </a:defRPr>
            </a:lvl5pPr>
            <a:lvl6pPr algn="l">
              <a:buNone/>
              <a:defRPr sz="3750" b="1">
                <a:solidFill>
                  <a:srgbClr val="64877F"/>
                </a:solidFill>
                <a:latin typeface="Helvetica Neue"/>
                <a:ea typeface="Helvetica Neue"/>
                <a:cs typeface="Helvetica Neue"/>
              </a:defRPr>
            </a:lvl6pPr>
            <a:lvl7pPr algn="l">
              <a:buNone/>
              <a:defRPr sz="3750" b="1">
                <a:solidFill>
                  <a:srgbClr val="64877F"/>
                </a:solidFill>
                <a:latin typeface="Helvetica Neue"/>
                <a:ea typeface="Helvetica Neue"/>
                <a:cs typeface="Helvetica Neue"/>
              </a:defRPr>
            </a:lvl7pPr>
            <a:lvl8pPr algn="l">
              <a:buNone/>
              <a:defRPr sz="3750" b="1">
                <a:solidFill>
                  <a:srgbClr val="64877F"/>
                </a:solidFill>
                <a:latin typeface="Helvetica Neue"/>
                <a:ea typeface="Helvetica Neue"/>
                <a:cs typeface="Helvetica Neue"/>
              </a:defRPr>
            </a:lvl8pPr>
            <a:lvl9pPr algn="l">
              <a:buNone/>
              <a:defRPr sz="3750" b="1">
                <a:solidFill>
                  <a:srgbClr val="64877F"/>
                </a:solidFill>
                <a:latin typeface="Helvetica Neue"/>
                <a:ea typeface="Helvetica Neue"/>
                <a:cs typeface="Helvetica Neue"/>
              </a:defRPr>
            </a:lvl9pPr>
          </a:lstStyle>
          <a:p xmlns:a="http://schemas.openxmlformats.org/drawingml/2006/main">
            <a:pPr algn="l">
              <a:buNone/>
              <a:defRPr sz="3750" b="1">
                <a:solidFill>
                  <a:srgbClr val="64877F"/>
                </a:solidFill>
                <a:latin typeface="Helvetica Neue"/>
                <a:ea typeface="Helvetica Neue"/>
                <a:cs typeface="Helvetica Neue"/>
              </a:defRPr>
            </a:pPr>
            <a:r>
              <a:rPr sz="3750" b="1">
                <a:solidFill>
                  <a:srgbClr val="64877F"/>
                </a:solidFill>
                <a:latin typeface="Helvetica Neue"/>
                <a:ea typeface="Helvetica Neue"/>
                <a:cs typeface="Helvetica Neue"/>
              </a:rPr>
              <a:t>6.81</a:t>
            </a:r>
          </a:p>
        </p:txBody>
      </p:sp>
      <p:sp>
        <p:nvSpPr>
          <p:cNvPr id="10" name="Rectangle 9">
            <a:extLst xmlns:a="http://schemas.openxmlformats.org/drawingml/2006/main">
              <a:ext uri="{FF2B5EF4-FFF2-40B4-BE49-F238E27FC236}">
                <a16:creationId xmlns:a16="http://schemas.microsoft.com/office/drawing/2014/main" id="{7C09480C-17FA-4691-9F1D-E5D5852F42D4}"/>
              </a:ext>
            </a:extLst>
          </p:cNvPr>
          <p:cNvSpPr>
            <a:spLocks xmlns:a="http://schemas.openxmlformats.org/drawingml/2006/main" noGrp="1"/>
          </p:cNvSpPr>
          <p:nvPr/>
        </p:nvSpPr>
        <p:spPr>
          <a:xfrm xmlns:a="http://schemas.openxmlformats.org/drawingml/2006/main">
            <a:off x="8905875" y="400050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latitude MAE</a:t>
            </a:r>
          </a:p>
        </p:txBody>
      </p:sp>
      <p:sp>
        <p:nvSpPr>
          <p:cNvPr id="11" name="Rectangle 10">
            <a:extLst xmlns:a="http://schemas.openxmlformats.org/drawingml/2006/main">
              <a:ext uri="{FF2B5EF4-FFF2-40B4-BE49-F238E27FC236}">
                <a16:creationId xmlns:a16="http://schemas.microsoft.com/office/drawing/2014/main" id="{BCA7A622-BFAB-4E4C-AAA0-2C2BA680AA02}"/>
              </a:ext>
            </a:extLst>
          </p:cNvPr>
          <p:cNvSpPr>
            <a:spLocks xmlns:a="http://schemas.openxmlformats.org/drawingml/2006/main" noGrp="1"/>
          </p:cNvSpPr>
          <p:nvPr/>
        </p:nvSpPr>
        <p:spPr>
          <a:xfrm xmlns:a="http://schemas.openxmlformats.org/drawingml/2006/main">
            <a:off x="8924925" y="48577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63788A"/>
                </a:solidFill>
                <a:latin typeface="Helvetica Neue"/>
                <a:ea typeface="Helvetica Neue"/>
                <a:cs typeface="Helvetica Neue"/>
              </a:defRPr>
            </a:defPPr>
            <a:lvl1pPr algn="l">
              <a:buNone/>
              <a:defRPr sz="1275" b="0">
                <a:solidFill>
                  <a:srgbClr val="63788A"/>
                </a:solidFill>
                <a:latin typeface="Helvetica Neue"/>
                <a:ea typeface="Helvetica Neue"/>
                <a:cs typeface="Helvetica Neue"/>
              </a:defRPr>
            </a:lvl1pPr>
            <a:lvl2pPr algn="l">
              <a:buNone/>
              <a:defRPr sz="1275" b="0">
                <a:solidFill>
                  <a:srgbClr val="63788A"/>
                </a:solidFill>
                <a:latin typeface="Helvetica Neue"/>
                <a:ea typeface="Helvetica Neue"/>
                <a:cs typeface="Helvetica Neue"/>
              </a:defRPr>
            </a:lvl2pPr>
            <a:lvl3pPr algn="l">
              <a:buNone/>
              <a:defRPr sz="1275" b="0">
                <a:solidFill>
                  <a:srgbClr val="63788A"/>
                </a:solidFill>
                <a:latin typeface="Helvetica Neue"/>
                <a:ea typeface="Helvetica Neue"/>
                <a:cs typeface="Helvetica Neue"/>
              </a:defRPr>
            </a:lvl3pPr>
            <a:lvl4pPr algn="l">
              <a:buNone/>
              <a:defRPr sz="1275" b="0">
                <a:solidFill>
                  <a:srgbClr val="63788A"/>
                </a:solidFill>
                <a:latin typeface="Helvetica Neue"/>
                <a:ea typeface="Helvetica Neue"/>
                <a:cs typeface="Helvetica Neue"/>
              </a:defRPr>
            </a:lvl4pPr>
            <a:lvl5pPr algn="l">
              <a:buNone/>
              <a:defRPr sz="1275" b="0">
                <a:solidFill>
                  <a:srgbClr val="63788A"/>
                </a:solidFill>
                <a:latin typeface="Helvetica Neue"/>
                <a:ea typeface="Helvetica Neue"/>
                <a:cs typeface="Helvetica Neue"/>
              </a:defRPr>
            </a:lvl5pPr>
            <a:lvl6pPr algn="l">
              <a:buNone/>
              <a:defRPr sz="1275" b="0">
                <a:solidFill>
                  <a:srgbClr val="63788A"/>
                </a:solidFill>
                <a:latin typeface="Helvetica Neue"/>
                <a:ea typeface="Helvetica Neue"/>
                <a:cs typeface="Helvetica Neue"/>
              </a:defRPr>
            </a:lvl6pPr>
            <a:lvl7pPr algn="l">
              <a:buNone/>
              <a:defRPr sz="1275" b="0">
                <a:solidFill>
                  <a:srgbClr val="63788A"/>
                </a:solidFill>
                <a:latin typeface="Helvetica Neue"/>
                <a:ea typeface="Helvetica Neue"/>
                <a:cs typeface="Helvetica Neue"/>
              </a:defRPr>
            </a:lvl7pPr>
            <a:lvl8pPr algn="l">
              <a:buNone/>
              <a:defRPr sz="1275" b="0">
                <a:solidFill>
                  <a:srgbClr val="63788A"/>
                </a:solidFill>
                <a:latin typeface="Helvetica Neue"/>
                <a:ea typeface="Helvetica Neue"/>
                <a:cs typeface="Helvetica Neue"/>
              </a:defRPr>
            </a:lvl8pPr>
            <a:lvl9pPr algn="l">
              <a:buNone/>
              <a:defRPr sz="1275" b="0">
                <a:solidFill>
                  <a:srgbClr val="63788A"/>
                </a:solidFill>
                <a:latin typeface="Helvetica Neue"/>
                <a:ea typeface="Helvetica Neue"/>
                <a:cs typeface="Helvetica Neue"/>
              </a:defRPr>
            </a:lvl9pPr>
          </a:lstStyle>
          <a:p xmlns:a="http://schemas.openxmlformats.org/drawingml/2006/main">
            <a:pPr algn="l">
              <a:buNone/>
              <a:defRPr sz="1275" b="0">
                <a:solidFill>
                  <a:srgbClr val="63788A"/>
                </a:solidFill>
                <a:latin typeface="Helvetica Neue"/>
                <a:ea typeface="Helvetica Neue"/>
                <a:cs typeface="Helvetica Neue"/>
              </a:defRPr>
            </a:pPr>
            <a:r>
              <a:rPr sz="1275" b="0">
                <a:solidFill>
                  <a:srgbClr val="63788A"/>
                </a:solidFill>
                <a:latin typeface="Helvetica Neue"/>
                <a:ea typeface="Helvetica Neue"/>
                <a:cs typeface="Helvetica Neue"/>
              </a:rPr>
              <a:t>Reported coordinate units*</a:t>
            </a:r>
          </a:p>
        </p:txBody>
      </p:sp>
      <p:sp>
        <p:nvSpPr>
          <p:cNvPr id="12" name="Rectangle 11">
            <a:extLst xmlns:a="http://schemas.openxmlformats.org/drawingml/2006/main">
              <a:ext uri="{FF2B5EF4-FFF2-40B4-BE49-F238E27FC236}">
                <a16:creationId xmlns:a16="http://schemas.microsoft.com/office/drawing/2014/main" id="{4DB0E8D6-14FB-4770-B1BB-47FA10A09C2A}"/>
              </a:ext>
            </a:extLst>
          </p:cNvPr>
          <p:cNvSpPr>
            <a:spLocks xmlns:a="http://schemas.openxmlformats.org/drawingml/2006/main" noGrp="1"/>
          </p:cNvSpPr>
          <p:nvPr/>
        </p:nvSpPr>
        <p:spPr>
          <a:xfrm xmlns:a="http://schemas.openxmlformats.org/drawingml/2006/main">
            <a:off x="8924925" y="5238750"/>
            <a:ext cx="2628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050" b="0">
                <a:solidFill>
                  <a:srgbClr val="63788A"/>
                </a:solidFill>
                <a:latin typeface="Helvetica Neue"/>
                <a:ea typeface="Helvetica Neue"/>
                <a:cs typeface="Helvetica Neue"/>
              </a:defRPr>
            </a:defPPr>
            <a:lvl1pPr algn="l">
              <a:buNone/>
              <a:defRPr sz="1050" b="0">
                <a:solidFill>
                  <a:srgbClr val="63788A"/>
                </a:solidFill>
                <a:latin typeface="Helvetica Neue"/>
                <a:ea typeface="Helvetica Neue"/>
                <a:cs typeface="Helvetica Neue"/>
              </a:defRPr>
            </a:lvl1pPr>
            <a:lvl2pPr algn="l">
              <a:buNone/>
              <a:defRPr sz="1050" b="0">
                <a:solidFill>
                  <a:srgbClr val="63788A"/>
                </a:solidFill>
                <a:latin typeface="Helvetica Neue"/>
                <a:ea typeface="Helvetica Neue"/>
                <a:cs typeface="Helvetica Neue"/>
              </a:defRPr>
            </a:lvl2pPr>
            <a:lvl3pPr algn="l">
              <a:buNone/>
              <a:defRPr sz="1050" b="0">
                <a:solidFill>
                  <a:srgbClr val="63788A"/>
                </a:solidFill>
                <a:latin typeface="Helvetica Neue"/>
                <a:ea typeface="Helvetica Neue"/>
                <a:cs typeface="Helvetica Neue"/>
              </a:defRPr>
            </a:lvl3pPr>
            <a:lvl4pPr algn="l">
              <a:buNone/>
              <a:defRPr sz="1050" b="0">
                <a:solidFill>
                  <a:srgbClr val="63788A"/>
                </a:solidFill>
                <a:latin typeface="Helvetica Neue"/>
                <a:ea typeface="Helvetica Neue"/>
                <a:cs typeface="Helvetica Neue"/>
              </a:defRPr>
            </a:lvl4pPr>
            <a:lvl5pPr algn="l">
              <a:buNone/>
              <a:defRPr sz="1050" b="0">
                <a:solidFill>
                  <a:srgbClr val="63788A"/>
                </a:solidFill>
                <a:latin typeface="Helvetica Neue"/>
                <a:ea typeface="Helvetica Neue"/>
                <a:cs typeface="Helvetica Neue"/>
              </a:defRPr>
            </a:lvl5pPr>
            <a:lvl6pPr algn="l">
              <a:buNone/>
              <a:defRPr sz="1050" b="0">
                <a:solidFill>
                  <a:srgbClr val="63788A"/>
                </a:solidFill>
                <a:latin typeface="Helvetica Neue"/>
                <a:ea typeface="Helvetica Neue"/>
                <a:cs typeface="Helvetica Neue"/>
              </a:defRPr>
            </a:lvl6pPr>
            <a:lvl7pPr algn="l">
              <a:buNone/>
              <a:defRPr sz="1050" b="0">
                <a:solidFill>
                  <a:srgbClr val="63788A"/>
                </a:solidFill>
                <a:latin typeface="Helvetica Neue"/>
                <a:ea typeface="Helvetica Neue"/>
                <a:cs typeface="Helvetica Neue"/>
              </a:defRPr>
            </a:lvl7pPr>
            <a:lvl8pPr algn="l">
              <a:buNone/>
              <a:defRPr sz="1050" b="0">
                <a:solidFill>
                  <a:srgbClr val="63788A"/>
                </a:solidFill>
                <a:latin typeface="Helvetica Neue"/>
                <a:ea typeface="Helvetica Neue"/>
                <a:cs typeface="Helvetica Neue"/>
              </a:defRPr>
            </a:lvl8pPr>
            <a:lvl9pPr algn="l">
              <a:buNone/>
              <a:defRPr sz="1050" b="0">
                <a:solidFill>
                  <a:srgbClr val="63788A"/>
                </a:solidFill>
                <a:latin typeface="Helvetica Neue"/>
                <a:ea typeface="Helvetica Neue"/>
                <a:cs typeface="Helvetica Neue"/>
              </a:defRPr>
            </a:lvl9pPr>
          </a:lstStyle>
          <a:p xmlns:a="http://schemas.openxmlformats.org/drawingml/2006/main">
            <a:pPr algn="l">
              <a:buNone/>
              <a:defRPr sz="1050" b="0">
                <a:solidFill>
                  <a:srgbClr val="63788A"/>
                </a:solidFill>
                <a:latin typeface="Helvetica Neue"/>
                <a:ea typeface="Helvetica Neue"/>
                <a:cs typeface="Helvetica Neue"/>
              </a:defRPr>
            </a:pPr>
            <a:r>
              <a:rPr sz="1050" b="0">
                <a:solidFill>
                  <a:srgbClr val="63788A"/>
                </a:solidFill>
                <a:latin typeface="Helvetica Neue"/>
                <a:ea typeface="Helvetica Neue"/>
                <a:cs typeface="Helvetica Neue"/>
              </a:rPr>
              <a:t>*Notebook CRS label is not independently verified.</a:t>
            </a:r>
          </a:p>
        </p:txBody>
      </p:sp>
    </p:spTree>
    <p:extLst>
      <p:ext uri="{BB962C8B-B14F-4D97-AF65-F5344CB8AC3E}">
        <p14:creationId xmlns:p14="http://schemas.microsoft.com/office/powerpoint/2010/main" val="194327002"/>
      </p:ext>
    </p:extLst>
  </p:cSld>
</p:sld>
</file>

<file path=ppt/slides/slide1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BCB72DEB-C16C-4948-B1BC-4CC5D8CBDE2F}"/>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C7DBD1"/>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D58508D2-3D90-4695-B123-9A50CC51E0F4}"/>
              </a:ext>
            </a:extLst>
          </p:cNvPr>
          <p:cNvSpPr>
            <a:spLocks xmlns:a="http://schemas.openxmlformats.org/drawingml/2006/main" noGrp="1"/>
          </p:cNvSpPr>
          <p:nvPr/>
        </p:nvSpPr>
        <p:spPr>
          <a:xfrm xmlns:a="http://schemas.openxmlformats.org/drawingml/2006/main">
            <a:off x="609600" y="37147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625" b="1">
                <a:solidFill>
                  <a:srgbClr val="243A50"/>
                </a:solidFill>
                <a:latin typeface="Helvetica Neue"/>
                <a:ea typeface="Helvetica Neue"/>
                <a:cs typeface="Helvetica Neue"/>
              </a:defRPr>
            </a:defPPr>
            <a:lvl1pPr algn="l">
              <a:buNone/>
              <a:defRPr sz="2625" b="1">
                <a:solidFill>
                  <a:srgbClr val="243A50"/>
                </a:solidFill>
                <a:latin typeface="Helvetica Neue"/>
                <a:ea typeface="Helvetica Neue"/>
                <a:cs typeface="Helvetica Neue"/>
              </a:defRPr>
            </a:lvl1pPr>
            <a:lvl2pPr algn="l">
              <a:buNone/>
              <a:defRPr sz="2625" b="1">
                <a:solidFill>
                  <a:srgbClr val="243A50"/>
                </a:solidFill>
                <a:latin typeface="Helvetica Neue"/>
                <a:ea typeface="Helvetica Neue"/>
                <a:cs typeface="Helvetica Neue"/>
              </a:defRPr>
            </a:lvl2pPr>
            <a:lvl3pPr algn="l">
              <a:buNone/>
              <a:defRPr sz="2625" b="1">
                <a:solidFill>
                  <a:srgbClr val="243A50"/>
                </a:solidFill>
                <a:latin typeface="Helvetica Neue"/>
                <a:ea typeface="Helvetica Neue"/>
                <a:cs typeface="Helvetica Neue"/>
              </a:defRPr>
            </a:lvl3pPr>
            <a:lvl4pPr algn="l">
              <a:buNone/>
              <a:defRPr sz="2625" b="1">
                <a:solidFill>
                  <a:srgbClr val="243A50"/>
                </a:solidFill>
                <a:latin typeface="Helvetica Neue"/>
                <a:ea typeface="Helvetica Neue"/>
                <a:cs typeface="Helvetica Neue"/>
              </a:defRPr>
            </a:lvl4pPr>
            <a:lvl5pPr algn="l">
              <a:buNone/>
              <a:defRPr sz="2625" b="1">
                <a:solidFill>
                  <a:srgbClr val="243A50"/>
                </a:solidFill>
                <a:latin typeface="Helvetica Neue"/>
                <a:ea typeface="Helvetica Neue"/>
                <a:cs typeface="Helvetica Neue"/>
              </a:defRPr>
            </a:lvl5pPr>
            <a:lvl6pPr algn="l">
              <a:buNone/>
              <a:defRPr sz="2625" b="1">
                <a:solidFill>
                  <a:srgbClr val="243A50"/>
                </a:solidFill>
                <a:latin typeface="Helvetica Neue"/>
                <a:ea typeface="Helvetica Neue"/>
                <a:cs typeface="Helvetica Neue"/>
              </a:defRPr>
            </a:lvl6pPr>
            <a:lvl7pPr algn="l">
              <a:buNone/>
              <a:defRPr sz="2625" b="1">
                <a:solidFill>
                  <a:srgbClr val="243A50"/>
                </a:solidFill>
                <a:latin typeface="Helvetica Neue"/>
                <a:ea typeface="Helvetica Neue"/>
                <a:cs typeface="Helvetica Neue"/>
              </a:defRPr>
            </a:lvl7pPr>
            <a:lvl8pPr algn="l">
              <a:buNone/>
              <a:defRPr sz="2625" b="1">
                <a:solidFill>
                  <a:srgbClr val="243A50"/>
                </a:solidFill>
                <a:latin typeface="Helvetica Neue"/>
                <a:ea typeface="Helvetica Neue"/>
                <a:cs typeface="Helvetica Neue"/>
              </a:defRPr>
            </a:lvl8pPr>
            <a:lvl9pPr algn="l">
              <a:buNone/>
              <a:defRPr sz="2625" b="1">
                <a:solidFill>
                  <a:srgbClr val="243A50"/>
                </a:solidFill>
                <a:latin typeface="Helvetica Neue"/>
                <a:ea typeface="Helvetica Neue"/>
                <a:cs typeface="Helvetica Neue"/>
              </a:defRPr>
            </a:lvl9pPr>
          </a:lstStyle>
          <a:p xmlns:a="http://schemas.openxmlformats.org/drawingml/2006/main">
            <a:pPr algn="l">
              <a:buNone/>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4 · Where coordinate errors occur</a:t>
            </a:r>
          </a:p>
        </p:txBody>
      </p:sp>
      <p:sp>
        <p:nvSpPr>
          <p:cNvPr id="3" name="Rectangle 2">
            <a:extLst xmlns:a="http://schemas.openxmlformats.org/drawingml/2006/main">
              <a:ext uri="{FF2B5EF4-FFF2-40B4-BE49-F238E27FC236}">
                <a16:creationId xmlns:a16="http://schemas.microsoft.com/office/drawing/2014/main" id="{2436FC00-50CE-4A04-9B65-6568580E3D86}"/>
              </a:ext>
            </a:extLst>
          </p:cNvPr>
          <p:cNvSpPr>
            <a:spLocks xmlns:a="http://schemas.openxmlformats.org/drawingml/2006/main" noGrp="1"/>
          </p:cNvSpPr>
          <p:nvPr/>
        </p:nvSpPr>
        <p:spPr>
          <a:xfrm xmlns:a="http://schemas.openxmlformats.org/drawingml/2006/main">
            <a:off x="628650" y="904875"/>
            <a:ext cx="10839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The error map shows error magnitude at each held-out coordinate.</a:t>
            </a:r>
          </a:p>
        </p:txBody>
      </p:sp>
      <p:sp>
        <p:nvSpPr>
          <p:cNvPr id="4" name="Straight Connector 3">
            <a:extLst xmlns:a="http://schemas.openxmlformats.org/drawingml/2006/main">
              <a:ext uri="{FF2B5EF4-FFF2-40B4-BE49-F238E27FC236}">
                <a16:creationId xmlns:a16="http://schemas.microsoft.com/office/drawing/2014/main" id="{F3CA6148-61BB-49EC-A5DC-B129BAB025E4}"/>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BD5DA"/>
            </a:solidFill>
            <a:prstDash val="solid"/>
          </a:ln>
        </p:spPr>
      </p:sp>
      <p:sp>
        <p:nvSpPr>
          <p:cNvPr id="5" name="Rectangle 4">
            <a:extLst xmlns:a="http://schemas.openxmlformats.org/drawingml/2006/main">
              <a:ext uri="{FF2B5EF4-FFF2-40B4-BE49-F238E27FC236}">
                <a16:creationId xmlns:a16="http://schemas.microsoft.com/office/drawing/2014/main" id="{0C2A206E-CDED-43E8-8021-F43B0E49CD4F}"/>
              </a:ext>
            </a:extLst>
          </p:cNvPr>
          <p:cNvSpPr>
            <a:spLocks xmlns:a="http://schemas.openxmlformats.org/drawingml/2006/main" noGrp="1"/>
          </p:cNvSpPr>
          <p:nvPr/>
        </p:nvSpPr>
        <p:spPr>
          <a:xfrm xmlns:a="http://schemas.openxmlformats.org/drawingml/2006/main">
            <a:off x="609600" y="64770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900" b="0">
                <a:solidFill>
                  <a:srgbClr val="63788A"/>
                </a:solidFill>
                <a:latin typeface="Helvetica Neue"/>
                <a:ea typeface="Helvetica Neue"/>
                <a:cs typeface="Helvetica Neue"/>
              </a:defRPr>
            </a:defPPr>
            <a:lvl1pPr algn="r">
              <a:buNone/>
              <a:defRPr sz="900" b="0">
                <a:solidFill>
                  <a:srgbClr val="63788A"/>
                </a:solidFill>
                <a:latin typeface="Helvetica Neue"/>
                <a:ea typeface="Helvetica Neue"/>
                <a:cs typeface="Helvetica Neue"/>
              </a:defRPr>
            </a:lvl1pPr>
            <a:lvl2pPr algn="r">
              <a:buNone/>
              <a:defRPr sz="900" b="0">
                <a:solidFill>
                  <a:srgbClr val="63788A"/>
                </a:solidFill>
                <a:latin typeface="Helvetica Neue"/>
                <a:ea typeface="Helvetica Neue"/>
                <a:cs typeface="Helvetica Neue"/>
              </a:defRPr>
            </a:lvl2pPr>
            <a:lvl3pPr algn="r">
              <a:buNone/>
              <a:defRPr sz="900" b="0">
                <a:solidFill>
                  <a:srgbClr val="63788A"/>
                </a:solidFill>
                <a:latin typeface="Helvetica Neue"/>
                <a:ea typeface="Helvetica Neue"/>
                <a:cs typeface="Helvetica Neue"/>
              </a:defRPr>
            </a:lvl3pPr>
            <a:lvl4pPr algn="r">
              <a:buNone/>
              <a:defRPr sz="900" b="0">
                <a:solidFill>
                  <a:srgbClr val="63788A"/>
                </a:solidFill>
                <a:latin typeface="Helvetica Neue"/>
                <a:ea typeface="Helvetica Neue"/>
                <a:cs typeface="Helvetica Neue"/>
              </a:defRPr>
            </a:lvl4pPr>
            <a:lvl5pPr algn="r">
              <a:buNone/>
              <a:defRPr sz="900" b="0">
                <a:solidFill>
                  <a:srgbClr val="63788A"/>
                </a:solidFill>
                <a:latin typeface="Helvetica Neue"/>
                <a:ea typeface="Helvetica Neue"/>
                <a:cs typeface="Helvetica Neue"/>
              </a:defRPr>
            </a:lvl5pPr>
            <a:lvl6pPr algn="r">
              <a:buNone/>
              <a:defRPr sz="900" b="0">
                <a:solidFill>
                  <a:srgbClr val="63788A"/>
                </a:solidFill>
                <a:latin typeface="Helvetica Neue"/>
                <a:ea typeface="Helvetica Neue"/>
                <a:cs typeface="Helvetica Neue"/>
              </a:defRPr>
            </a:lvl6pPr>
            <a:lvl7pPr algn="r">
              <a:buNone/>
              <a:defRPr sz="900" b="0">
                <a:solidFill>
                  <a:srgbClr val="63788A"/>
                </a:solidFill>
                <a:latin typeface="Helvetica Neue"/>
                <a:ea typeface="Helvetica Neue"/>
                <a:cs typeface="Helvetica Neue"/>
              </a:defRPr>
            </a:lvl7pPr>
            <a:lvl8pPr algn="r">
              <a:buNone/>
              <a:defRPr sz="900" b="0">
                <a:solidFill>
                  <a:srgbClr val="63788A"/>
                </a:solidFill>
                <a:latin typeface="Helvetica Neue"/>
                <a:ea typeface="Helvetica Neue"/>
                <a:cs typeface="Helvetica Neue"/>
              </a:defRPr>
            </a:lvl8pPr>
            <a:lvl9pPr algn="r">
              <a:buNone/>
              <a:defRPr sz="900" b="0">
                <a:solidFill>
                  <a:srgbClr val="63788A"/>
                </a:solidFill>
                <a:latin typeface="Helvetica Neue"/>
                <a:ea typeface="Helvetica Neue"/>
                <a:cs typeface="Helvetica Neue"/>
              </a:defRPr>
            </a:lvl9pPr>
          </a:lstStyle>
          <a:p xmlns:a="http://schemas.openxmlformats.org/drawingml/2006/main">
            <a:pPr algn="r">
              <a:buNone/>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15</a:t>
            </a:r>
          </a:p>
        </p:txBody>
      </p:sp>
      <p:pic>
        <p:nvPicPr>
          <p:cNvPr id="6" name="Picture 5">
            <a:extLst xmlns:a="http://schemas.openxmlformats.org/drawingml/2006/main">
              <a:ext uri="{FF2B5EF4-FFF2-40B4-BE49-F238E27FC236}">
                <a16:creationId xmlns:a16="http://schemas.microsoft.com/office/drawing/2014/main" id="{EA631805-AEC3-4846-8376-504B09E23F83}"/>
              </a:ext>
            </a:extLst>
          </p:cNvPr>
          <p:cNvPicPr>
            <a:picLocks xmlns:a="http://schemas.openxmlformats.org/drawingml/2006/main" noChangeAspect="1"/>
          </p:cNvPicPr>
          <p:nvPr/>
        </p:nvPicPr>
        <p:blipFill>
          <a:blip xmlns:r="http://schemas.openxmlformats.org/officeDocument/2006/relationships" xmlns:a="http://schemas.openxmlformats.org/drawingml/2006/main" r:embed="R8852e71128db41e3"/>
          <a:stretch xmlns:a="http://schemas.openxmlformats.org/drawingml/2006/main"/>
        </p:blipFill>
        <p:spPr>
          <a:xfrm xmlns:a="http://schemas.openxmlformats.org/drawingml/2006/main">
            <a:off x="1067116" y="1381125"/>
            <a:ext cx="7247892" cy="457200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F97EE4D5-2D56-4484-A84A-499490933E9C}"/>
              </a:ext>
            </a:extLst>
          </p:cNvPr>
          <p:cNvSpPr>
            <a:spLocks xmlns:a="http://schemas.openxmlformats.org/drawingml/2006/main" noGrp="1"/>
          </p:cNvSpPr>
          <p:nvPr/>
        </p:nvSpPr>
        <p:spPr>
          <a:xfrm xmlns:a="http://schemas.openxmlformats.org/drawingml/2006/main">
            <a:off x="9191625" y="20764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1">
                <a:solidFill>
                  <a:srgbClr val="63788A"/>
                </a:solidFill>
                <a:latin typeface="Helvetica Neue"/>
                <a:ea typeface="Helvetica Neue"/>
                <a:cs typeface="Helvetica Neue"/>
              </a:defRPr>
            </a:defPPr>
            <a:lvl1pPr algn="l">
              <a:buNone/>
              <a:defRPr sz="1350" b="1">
                <a:solidFill>
                  <a:srgbClr val="63788A"/>
                </a:solidFill>
                <a:latin typeface="Helvetica Neue"/>
                <a:ea typeface="Helvetica Neue"/>
                <a:cs typeface="Helvetica Neue"/>
              </a:defRPr>
            </a:lvl1pPr>
            <a:lvl2pPr algn="l">
              <a:buNone/>
              <a:defRPr sz="1350" b="1">
                <a:solidFill>
                  <a:srgbClr val="63788A"/>
                </a:solidFill>
                <a:latin typeface="Helvetica Neue"/>
                <a:ea typeface="Helvetica Neue"/>
                <a:cs typeface="Helvetica Neue"/>
              </a:defRPr>
            </a:lvl2pPr>
            <a:lvl3pPr algn="l">
              <a:buNone/>
              <a:defRPr sz="1350" b="1">
                <a:solidFill>
                  <a:srgbClr val="63788A"/>
                </a:solidFill>
                <a:latin typeface="Helvetica Neue"/>
                <a:ea typeface="Helvetica Neue"/>
                <a:cs typeface="Helvetica Neue"/>
              </a:defRPr>
            </a:lvl3pPr>
            <a:lvl4pPr algn="l">
              <a:buNone/>
              <a:defRPr sz="1350" b="1">
                <a:solidFill>
                  <a:srgbClr val="63788A"/>
                </a:solidFill>
                <a:latin typeface="Helvetica Neue"/>
                <a:ea typeface="Helvetica Neue"/>
                <a:cs typeface="Helvetica Neue"/>
              </a:defRPr>
            </a:lvl4pPr>
            <a:lvl5pPr algn="l">
              <a:buNone/>
              <a:defRPr sz="1350" b="1">
                <a:solidFill>
                  <a:srgbClr val="63788A"/>
                </a:solidFill>
                <a:latin typeface="Helvetica Neue"/>
                <a:ea typeface="Helvetica Neue"/>
                <a:cs typeface="Helvetica Neue"/>
              </a:defRPr>
            </a:lvl5pPr>
            <a:lvl6pPr algn="l">
              <a:buNone/>
              <a:defRPr sz="1350" b="1">
                <a:solidFill>
                  <a:srgbClr val="63788A"/>
                </a:solidFill>
                <a:latin typeface="Helvetica Neue"/>
                <a:ea typeface="Helvetica Neue"/>
                <a:cs typeface="Helvetica Neue"/>
              </a:defRPr>
            </a:lvl6pPr>
            <a:lvl7pPr algn="l">
              <a:buNone/>
              <a:defRPr sz="1350" b="1">
                <a:solidFill>
                  <a:srgbClr val="63788A"/>
                </a:solidFill>
                <a:latin typeface="Helvetica Neue"/>
                <a:ea typeface="Helvetica Neue"/>
                <a:cs typeface="Helvetica Neue"/>
              </a:defRPr>
            </a:lvl7pPr>
            <a:lvl8pPr algn="l">
              <a:buNone/>
              <a:defRPr sz="1350" b="1">
                <a:solidFill>
                  <a:srgbClr val="63788A"/>
                </a:solidFill>
                <a:latin typeface="Helvetica Neue"/>
                <a:ea typeface="Helvetica Neue"/>
                <a:cs typeface="Helvetica Neue"/>
              </a:defRPr>
            </a:lvl8pPr>
            <a:lvl9pPr algn="l">
              <a:buNone/>
              <a:defRPr sz="1350" b="1">
                <a:solidFill>
                  <a:srgbClr val="63788A"/>
                </a:solidFill>
                <a:latin typeface="Helvetica Neue"/>
                <a:ea typeface="Helvetica Neue"/>
                <a:cs typeface="Helvetica Neue"/>
              </a:defRPr>
            </a:lvl9pPr>
          </a:lstStyle>
          <a:p xmlns:a="http://schemas.openxmlformats.org/drawingml/2006/main">
            <a:pPr algn="l">
              <a:buNone/>
              <a:defRPr sz="1350" b="1">
                <a:solidFill>
                  <a:srgbClr val="63788A"/>
                </a:solidFill>
                <a:latin typeface="Helvetica Neue"/>
                <a:ea typeface="Helvetica Neue"/>
                <a:cs typeface="Helvetica Neue"/>
              </a:defRPr>
            </a:pPr>
            <a:r>
              <a:rPr sz="1350" b="1">
                <a:solidFill>
                  <a:srgbClr val="63788A"/>
                </a:solidFill>
                <a:latin typeface="Helvetica Neue"/>
                <a:ea typeface="Helvetica Neue"/>
                <a:cs typeface="Helvetica Neue"/>
              </a:rPr>
              <a:t>Colour encodes</a:t>
            </a:r>
          </a:p>
        </p:txBody>
      </p:sp>
      <p:sp>
        <p:nvSpPr>
          <p:cNvPr id="8" name="Rectangle 7">
            <a:extLst xmlns:a="http://schemas.openxmlformats.org/drawingml/2006/main">
              <a:ext uri="{FF2B5EF4-FFF2-40B4-BE49-F238E27FC236}">
                <a16:creationId xmlns:a16="http://schemas.microsoft.com/office/drawing/2014/main" id="{D3AF5841-149A-4898-B8F9-4006AF8E88D7}"/>
              </a:ext>
            </a:extLst>
          </p:cNvPr>
          <p:cNvSpPr>
            <a:spLocks xmlns:a="http://schemas.openxmlformats.org/drawingml/2006/main" noGrp="1"/>
          </p:cNvSpPr>
          <p:nvPr/>
        </p:nvSpPr>
        <p:spPr>
          <a:xfrm xmlns:a="http://schemas.openxmlformats.org/drawingml/2006/main">
            <a:off x="9191625" y="242887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025" b="1">
                <a:solidFill>
                  <a:srgbClr val="243A50"/>
                </a:solidFill>
                <a:latin typeface="Helvetica Neue"/>
                <a:ea typeface="Helvetica Neue"/>
                <a:cs typeface="Helvetica Neue"/>
              </a:defRPr>
            </a:defPPr>
            <a:lvl1pPr algn="l">
              <a:buNone/>
              <a:defRPr sz="2025" b="1">
                <a:solidFill>
                  <a:srgbClr val="243A50"/>
                </a:solidFill>
                <a:latin typeface="Helvetica Neue"/>
                <a:ea typeface="Helvetica Neue"/>
                <a:cs typeface="Helvetica Neue"/>
              </a:defRPr>
            </a:lvl1pPr>
            <a:lvl2pPr algn="l">
              <a:buNone/>
              <a:defRPr sz="2025" b="1">
                <a:solidFill>
                  <a:srgbClr val="243A50"/>
                </a:solidFill>
                <a:latin typeface="Helvetica Neue"/>
                <a:ea typeface="Helvetica Neue"/>
                <a:cs typeface="Helvetica Neue"/>
              </a:defRPr>
            </a:lvl2pPr>
            <a:lvl3pPr algn="l">
              <a:buNone/>
              <a:defRPr sz="2025" b="1">
                <a:solidFill>
                  <a:srgbClr val="243A50"/>
                </a:solidFill>
                <a:latin typeface="Helvetica Neue"/>
                <a:ea typeface="Helvetica Neue"/>
                <a:cs typeface="Helvetica Neue"/>
              </a:defRPr>
            </a:lvl3pPr>
            <a:lvl4pPr algn="l">
              <a:buNone/>
              <a:defRPr sz="2025" b="1">
                <a:solidFill>
                  <a:srgbClr val="243A50"/>
                </a:solidFill>
                <a:latin typeface="Helvetica Neue"/>
                <a:ea typeface="Helvetica Neue"/>
                <a:cs typeface="Helvetica Neue"/>
              </a:defRPr>
            </a:lvl4pPr>
            <a:lvl5pPr algn="l">
              <a:buNone/>
              <a:defRPr sz="2025" b="1">
                <a:solidFill>
                  <a:srgbClr val="243A50"/>
                </a:solidFill>
                <a:latin typeface="Helvetica Neue"/>
                <a:ea typeface="Helvetica Neue"/>
                <a:cs typeface="Helvetica Neue"/>
              </a:defRPr>
            </a:lvl5pPr>
            <a:lvl6pPr algn="l">
              <a:buNone/>
              <a:defRPr sz="2025" b="1">
                <a:solidFill>
                  <a:srgbClr val="243A50"/>
                </a:solidFill>
                <a:latin typeface="Helvetica Neue"/>
                <a:ea typeface="Helvetica Neue"/>
                <a:cs typeface="Helvetica Neue"/>
              </a:defRPr>
            </a:lvl6pPr>
            <a:lvl7pPr algn="l">
              <a:buNone/>
              <a:defRPr sz="2025" b="1">
                <a:solidFill>
                  <a:srgbClr val="243A50"/>
                </a:solidFill>
                <a:latin typeface="Helvetica Neue"/>
                <a:ea typeface="Helvetica Neue"/>
                <a:cs typeface="Helvetica Neue"/>
              </a:defRPr>
            </a:lvl7pPr>
            <a:lvl8pPr algn="l">
              <a:buNone/>
              <a:defRPr sz="2025" b="1">
                <a:solidFill>
                  <a:srgbClr val="243A50"/>
                </a:solidFill>
                <a:latin typeface="Helvetica Neue"/>
                <a:ea typeface="Helvetica Neue"/>
                <a:cs typeface="Helvetica Neue"/>
              </a:defRPr>
            </a:lvl8pPr>
            <a:lvl9pPr algn="l">
              <a:buNone/>
              <a:defRPr sz="2025" b="1">
                <a:solidFill>
                  <a:srgbClr val="243A50"/>
                </a:solidFill>
                <a:latin typeface="Helvetica Neue"/>
                <a:ea typeface="Helvetica Neue"/>
                <a:cs typeface="Helvetica Neue"/>
              </a:defRPr>
            </a:lvl9pPr>
          </a:lstStyle>
          <a:p xmlns:a="http://schemas.openxmlformats.org/drawingml/2006/main">
            <a:pPr algn="l">
              <a:buNone/>
              <a:defRPr sz="2025" b="1">
                <a:solidFill>
                  <a:srgbClr val="243A50"/>
                </a:solidFill>
                <a:latin typeface="Helvetica Neue"/>
                <a:ea typeface="Helvetica Neue"/>
                <a:cs typeface="Helvetica Neue"/>
              </a:defRPr>
            </a:pPr>
            <a:r>
              <a:rPr sz="2025" b="1">
                <a:solidFill>
                  <a:srgbClr val="243A50"/>
                </a:solidFill>
                <a:latin typeface="Helvetica Neue"/>
                <a:ea typeface="Helvetica Neue"/>
                <a:cs typeface="Helvetica Neue"/>
              </a:rPr>
              <a:t>Euclidean error</a:t>
            </a:r>
          </a:p>
        </p:txBody>
      </p:sp>
      <p:sp>
        <p:nvSpPr>
          <p:cNvPr id="9" name="Rectangle 8">
            <a:extLst xmlns:a="http://schemas.openxmlformats.org/drawingml/2006/main">
              <a:ext uri="{FF2B5EF4-FFF2-40B4-BE49-F238E27FC236}">
                <a16:creationId xmlns:a16="http://schemas.microsoft.com/office/drawing/2014/main" id="{FD1D7B04-1342-4837-991D-6D268CC80452}"/>
              </a:ext>
            </a:extLst>
          </p:cNvPr>
          <p:cNvSpPr>
            <a:spLocks xmlns:a="http://schemas.openxmlformats.org/drawingml/2006/main" noGrp="1"/>
          </p:cNvSpPr>
          <p:nvPr/>
        </p:nvSpPr>
        <p:spPr>
          <a:xfrm xmlns:a="http://schemas.openxmlformats.org/drawingml/2006/main">
            <a:off x="9191625" y="3143250"/>
            <a:ext cx="2333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425" b="0">
                <a:solidFill>
                  <a:srgbClr val="33485D"/>
                </a:solidFill>
                <a:latin typeface="Helvetica Neue"/>
                <a:ea typeface="Helvetica Neue"/>
                <a:cs typeface="Helvetica Neue"/>
              </a:defRPr>
            </a:defPPr>
            <a:lvl1pPr algn="l">
              <a:buNone/>
              <a:defRPr sz="1425" b="0">
                <a:solidFill>
                  <a:srgbClr val="33485D"/>
                </a:solidFill>
                <a:latin typeface="Helvetica Neue"/>
                <a:ea typeface="Helvetica Neue"/>
                <a:cs typeface="Helvetica Neue"/>
              </a:defRPr>
            </a:lvl1pPr>
            <a:lvl2pPr algn="l">
              <a:buNone/>
              <a:defRPr sz="1425" b="0">
                <a:solidFill>
                  <a:srgbClr val="33485D"/>
                </a:solidFill>
                <a:latin typeface="Helvetica Neue"/>
                <a:ea typeface="Helvetica Neue"/>
                <a:cs typeface="Helvetica Neue"/>
              </a:defRPr>
            </a:lvl2pPr>
            <a:lvl3pPr algn="l">
              <a:buNone/>
              <a:defRPr sz="1425" b="0">
                <a:solidFill>
                  <a:srgbClr val="33485D"/>
                </a:solidFill>
                <a:latin typeface="Helvetica Neue"/>
                <a:ea typeface="Helvetica Neue"/>
                <a:cs typeface="Helvetica Neue"/>
              </a:defRPr>
            </a:lvl3pPr>
            <a:lvl4pPr algn="l">
              <a:buNone/>
              <a:defRPr sz="1425" b="0">
                <a:solidFill>
                  <a:srgbClr val="33485D"/>
                </a:solidFill>
                <a:latin typeface="Helvetica Neue"/>
                <a:ea typeface="Helvetica Neue"/>
                <a:cs typeface="Helvetica Neue"/>
              </a:defRPr>
            </a:lvl4pPr>
            <a:lvl5pPr algn="l">
              <a:buNone/>
              <a:defRPr sz="1425" b="0">
                <a:solidFill>
                  <a:srgbClr val="33485D"/>
                </a:solidFill>
                <a:latin typeface="Helvetica Neue"/>
                <a:ea typeface="Helvetica Neue"/>
                <a:cs typeface="Helvetica Neue"/>
              </a:defRPr>
            </a:lvl5pPr>
            <a:lvl6pPr algn="l">
              <a:buNone/>
              <a:defRPr sz="1425" b="0">
                <a:solidFill>
                  <a:srgbClr val="33485D"/>
                </a:solidFill>
                <a:latin typeface="Helvetica Neue"/>
                <a:ea typeface="Helvetica Neue"/>
                <a:cs typeface="Helvetica Neue"/>
              </a:defRPr>
            </a:lvl6pPr>
            <a:lvl7pPr algn="l">
              <a:buNone/>
              <a:defRPr sz="1425" b="0">
                <a:solidFill>
                  <a:srgbClr val="33485D"/>
                </a:solidFill>
                <a:latin typeface="Helvetica Neue"/>
                <a:ea typeface="Helvetica Neue"/>
                <a:cs typeface="Helvetica Neue"/>
              </a:defRPr>
            </a:lvl7pPr>
            <a:lvl8pPr algn="l">
              <a:buNone/>
              <a:defRPr sz="1425" b="0">
                <a:solidFill>
                  <a:srgbClr val="33485D"/>
                </a:solidFill>
                <a:latin typeface="Helvetica Neue"/>
                <a:ea typeface="Helvetica Neue"/>
                <a:cs typeface="Helvetica Neue"/>
              </a:defRPr>
            </a:lvl8pPr>
            <a:lvl9pPr algn="l">
              <a:buNone/>
              <a:defRPr sz="1425" b="0">
                <a:solidFill>
                  <a:srgbClr val="33485D"/>
                </a:solidFill>
                <a:latin typeface="Helvetica Neue"/>
                <a:ea typeface="Helvetica Neue"/>
                <a:cs typeface="Helvetica Neue"/>
              </a:defRPr>
            </a:lvl9pPr>
          </a:lstStyle>
          <a:p xmlns:a="http://schemas.openxmlformats.org/drawingml/2006/main">
            <a:pPr algn="l">
              <a:buNone/>
              <a:defRPr sz="1425" b="0">
                <a:solidFill>
                  <a:srgbClr val="33485D"/>
                </a:solidFill>
                <a:latin typeface="Helvetica Neue"/>
                <a:ea typeface="Helvetica Neue"/>
                <a:cs typeface="Helvetica Neue"/>
              </a:defRPr>
            </a:pPr>
            <a:r>
              <a:rPr sz="1425" b="0">
                <a:solidFill>
                  <a:srgbClr val="33485D"/>
                </a:solidFill>
                <a:latin typeface="Helvetica Neue"/>
                <a:ea typeface="Helvetica Neue"/>
                <a:cs typeface="Helvetica Neue"/>
              </a:rPr>
              <a:t>Large residuals appear at scattered positions rather than as one uniform offset.</a:t>
            </a:r>
          </a:p>
        </p:txBody>
      </p:sp>
      <p:sp>
        <p:nvSpPr>
          <p:cNvPr id="10" name="Rectangle 9">
            <a:extLst xmlns:a="http://schemas.openxmlformats.org/drawingml/2006/main">
              <a:ext uri="{FF2B5EF4-FFF2-40B4-BE49-F238E27FC236}">
                <a16:creationId xmlns:a16="http://schemas.microsoft.com/office/drawing/2014/main" id="{E3672706-0ACC-4274-BDAA-2613DCF94719}"/>
              </a:ext>
            </a:extLst>
          </p:cNvPr>
          <p:cNvSpPr>
            <a:spLocks xmlns:a="http://schemas.openxmlformats.org/drawingml/2006/main" noGrp="1"/>
          </p:cNvSpPr>
          <p:nvPr/>
        </p:nvSpPr>
        <p:spPr>
          <a:xfrm xmlns:a="http://schemas.openxmlformats.org/drawingml/2006/main">
            <a:off x="9191625" y="4429125"/>
            <a:ext cx="23336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63788A"/>
                </a:solidFill>
                <a:latin typeface="Helvetica Neue"/>
                <a:ea typeface="Helvetica Neue"/>
                <a:cs typeface="Helvetica Neue"/>
              </a:defRPr>
            </a:defPPr>
            <a:lvl1pPr algn="l">
              <a:buNone/>
              <a:defRPr sz="1275" b="0">
                <a:solidFill>
                  <a:srgbClr val="63788A"/>
                </a:solidFill>
                <a:latin typeface="Helvetica Neue"/>
                <a:ea typeface="Helvetica Neue"/>
                <a:cs typeface="Helvetica Neue"/>
              </a:defRPr>
            </a:lvl1pPr>
            <a:lvl2pPr algn="l">
              <a:buNone/>
              <a:defRPr sz="1275" b="0">
                <a:solidFill>
                  <a:srgbClr val="63788A"/>
                </a:solidFill>
                <a:latin typeface="Helvetica Neue"/>
                <a:ea typeface="Helvetica Neue"/>
                <a:cs typeface="Helvetica Neue"/>
              </a:defRPr>
            </a:lvl2pPr>
            <a:lvl3pPr algn="l">
              <a:buNone/>
              <a:defRPr sz="1275" b="0">
                <a:solidFill>
                  <a:srgbClr val="63788A"/>
                </a:solidFill>
                <a:latin typeface="Helvetica Neue"/>
                <a:ea typeface="Helvetica Neue"/>
                <a:cs typeface="Helvetica Neue"/>
              </a:defRPr>
            </a:lvl3pPr>
            <a:lvl4pPr algn="l">
              <a:buNone/>
              <a:defRPr sz="1275" b="0">
                <a:solidFill>
                  <a:srgbClr val="63788A"/>
                </a:solidFill>
                <a:latin typeface="Helvetica Neue"/>
                <a:ea typeface="Helvetica Neue"/>
                <a:cs typeface="Helvetica Neue"/>
              </a:defRPr>
            </a:lvl4pPr>
            <a:lvl5pPr algn="l">
              <a:buNone/>
              <a:defRPr sz="1275" b="0">
                <a:solidFill>
                  <a:srgbClr val="63788A"/>
                </a:solidFill>
                <a:latin typeface="Helvetica Neue"/>
                <a:ea typeface="Helvetica Neue"/>
                <a:cs typeface="Helvetica Neue"/>
              </a:defRPr>
            </a:lvl5pPr>
            <a:lvl6pPr algn="l">
              <a:buNone/>
              <a:defRPr sz="1275" b="0">
                <a:solidFill>
                  <a:srgbClr val="63788A"/>
                </a:solidFill>
                <a:latin typeface="Helvetica Neue"/>
                <a:ea typeface="Helvetica Neue"/>
                <a:cs typeface="Helvetica Neue"/>
              </a:defRPr>
            </a:lvl6pPr>
            <a:lvl7pPr algn="l">
              <a:buNone/>
              <a:defRPr sz="1275" b="0">
                <a:solidFill>
                  <a:srgbClr val="63788A"/>
                </a:solidFill>
                <a:latin typeface="Helvetica Neue"/>
                <a:ea typeface="Helvetica Neue"/>
                <a:cs typeface="Helvetica Neue"/>
              </a:defRPr>
            </a:lvl7pPr>
            <a:lvl8pPr algn="l">
              <a:buNone/>
              <a:defRPr sz="1275" b="0">
                <a:solidFill>
                  <a:srgbClr val="63788A"/>
                </a:solidFill>
                <a:latin typeface="Helvetica Neue"/>
                <a:ea typeface="Helvetica Neue"/>
                <a:cs typeface="Helvetica Neue"/>
              </a:defRPr>
            </a:lvl8pPr>
            <a:lvl9pPr algn="l">
              <a:buNone/>
              <a:defRPr sz="1275" b="0">
                <a:solidFill>
                  <a:srgbClr val="63788A"/>
                </a:solidFill>
                <a:latin typeface="Helvetica Neue"/>
                <a:ea typeface="Helvetica Neue"/>
                <a:cs typeface="Helvetica Neue"/>
              </a:defRPr>
            </a:lvl9pPr>
          </a:lstStyle>
          <a:p xmlns:a="http://schemas.openxmlformats.org/drawingml/2006/main">
            <a:pPr algn="l">
              <a:buNone/>
              <a:defRPr sz="1275" b="0">
                <a:solidFill>
                  <a:srgbClr val="63788A"/>
                </a:solidFill>
                <a:latin typeface="Helvetica Neue"/>
                <a:ea typeface="Helvetica Neue"/>
                <a:cs typeface="Helvetica Neue"/>
              </a:defRPr>
            </a:pPr>
            <a:r>
              <a:rPr sz="1275" b="0">
                <a:solidFill>
                  <a:srgbClr val="63788A"/>
                </a:solidFill>
                <a:latin typeface="Helvetica Neue"/>
                <a:ea typeface="Helvetica Neue"/>
                <a:cs typeface="Helvetica Neue"/>
              </a:rPr>
              <a:t>Read the colour scale in the figure; extreme points stretch the range.</a:t>
            </a:r>
          </a:p>
        </p:txBody>
      </p:sp>
    </p:spTree>
    <p:extLst>
      <p:ext uri="{BB962C8B-B14F-4D97-AF65-F5344CB8AC3E}">
        <p14:creationId xmlns:p14="http://schemas.microsoft.com/office/powerpoint/2010/main" val="732448526"/>
      </p:ext>
    </p:extLst>
  </p:cSld>
</p:sld>
</file>

<file path=ppt/slides/slide1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BD133DA6-0739-48FF-BEAB-293E98B58DC2}"/>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C7DBD1"/>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0BB0742F-D213-46FE-BD41-6268268E6446}"/>
              </a:ext>
            </a:extLst>
          </p:cNvPr>
          <p:cNvSpPr>
            <a:spLocks xmlns:a="http://schemas.openxmlformats.org/drawingml/2006/main" noGrp="1"/>
          </p:cNvSpPr>
          <p:nvPr/>
        </p:nvSpPr>
        <p:spPr>
          <a:xfrm xmlns:a="http://schemas.openxmlformats.org/drawingml/2006/main">
            <a:off x="609600" y="37147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625" b="1">
                <a:solidFill>
                  <a:srgbClr val="243A50"/>
                </a:solidFill>
                <a:latin typeface="Helvetica Neue"/>
                <a:ea typeface="Helvetica Neue"/>
                <a:cs typeface="Helvetica Neue"/>
              </a:defRPr>
            </a:defPPr>
            <a:lvl1pPr algn="l">
              <a:buNone/>
              <a:defRPr sz="2625" b="1">
                <a:solidFill>
                  <a:srgbClr val="243A50"/>
                </a:solidFill>
                <a:latin typeface="Helvetica Neue"/>
                <a:ea typeface="Helvetica Neue"/>
                <a:cs typeface="Helvetica Neue"/>
              </a:defRPr>
            </a:lvl1pPr>
            <a:lvl2pPr algn="l">
              <a:buNone/>
              <a:defRPr sz="2625" b="1">
                <a:solidFill>
                  <a:srgbClr val="243A50"/>
                </a:solidFill>
                <a:latin typeface="Helvetica Neue"/>
                <a:ea typeface="Helvetica Neue"/>
                <a:cs typeface="Helvetica Neue"/>
              </a:defRPr>
            </a:lvl2pPr>
            <a:lvl3pPr algn="l">
              <a:buNone/>
              <a:defRPr sz="2625" b="1">
                <a:solidFill>
                  <a:srgbClr val="243A50"/>
                </a:solidFill>
                <a:latin typeface="Helvetica Neue"/>
                <a:ea typeface="Helvetica Neue"/>
                <a:cs typeface="Helvetica Neue"/>
              </a:defRPr>
            </a:lvl3pPr>
            <a:lvl4pPr algn="l">
              <a:buNone/>
              <a:defRPr sz="2625" b="1">
                <a:solidFill>
                  <a:srgbClr val="243A50"/>
                </a:solidFill>
                <a:latin typeface="Helvetica Neue"/>
                <a:ea typeface="Helvetica Neue"/>
                <a:cs typeface="Helvetica Neue"/>
              </a:defRPr>
            </a:lvl4pPr>
            <a:lvl5pPr algn="l">
              <a:buNone/>
              <a:defRPr sz="2625" b="1">
                <a:solidFill>
                  <a:srgbClr val="243A50"/>
                </a:solidFill>
                <a:latin typeface="Helvetica Neue"/>
                <a:ea typeface="Helvetica Neue"/>
                <a:cs typeface="Helvetica Neue"/>
              </a:defRPr>
            </a:lvl5pPr>
            <a:lvl6pPr algn="l">
              <a:buNone/>
              <a:defRPr sz="2625" b="1">
                <a:solidFill>
                  <a:srgbClr val="243A50"/>
                </a:solidFill>
                <a:latin typeface="Helvetica Neue"/>
                <a:ea typeface="Helvetica Neue"/>
                <a:cs typeface="Helvetica Neue"/>
              </a:defRPr>
            </a:lvl6pPr>
            <a:lvl7pPr algn="l">
              <a:buNone/>
              <a:defRPr sz="2625" b="1">
                <a:solidFill>
                  <a:srgbClr val="243A50"/>
                </a:solidFill>
                <a:latin typeface="Helvetica Neue"/>
                <a:ea typeface="Helvetica Neue"/>
                <a:cs typeface="Helvetica Neue"/>
              </a:defRPr>
            </a:lvl7pPr>
            <a:lvl8pPr algn="l">
              <a:buNone/>
              <a:defRPr sz="2625" b="1">
                <a:solidFill>
                  <a:srgbClr val="243A50"/>
                </a:solidFill>
                <a:latin typeface="Helvetica Neue"/>
                <a:ea typeface="Helvetica Neue"/>
                <a:cs typeface="Helvetica Neue"/>
              </a:defRPr>
            </a:lvl8pPr>
            <a:lvl9pPr algn="l">
              <a:buNone/>
              <a:defRPr sz="2625" b="1">
                <a:solidFill>
                  <a:srgbClr val="243A50"/>
                </a:solidFill>
                <a:latin typeface="Helvetica Neue"/>
                <a:ea typeface="Helvetica Neue"/>
                <a:cs typeface="Helvetica Neue"/>
              </a:defRPr>
            </a:lvl9pPr>
          </a:lstStyle>
          <a:p xmlns:a="http://schemas.openxmlformats.org/drawingml/2006/main">
            <a:pPr algn="l">
              <a:buNone/>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4 · Coordinate error distribution</a:t>
            </a:r>
          </a:p>
        </p:txBody>
      </p:sp>
      <p:sp>
        <p:nvSpPr>
          <p:cNvPr id="3" name="Rectangle 2">
            <a:extLst xmlns:a="http://schemas.openxmlformats.org/drawingml/2006/main">
              <a:ext uri="{FF2B5EF4-FFF2-40B4-BE49-F238E27FC236}">
                <a16:creationId xmlns:a16="http://schemas.microsoft.com/office/drawing/2014/main" id="{8E67FFD9-BDE3-4D6F-9745-86BC18E0CA71}"/>
              </a:ext>
            </a:extLst>
          </p:cNvPr>
          <p:cNvSpPr>
            <a:spLocks xmlns:a="http://schemas.openxmlformats.org/drawingml/2006/main" noGrp="1"/>
          </p:cNvSpPr>
          <p:nvPr/>
        </p:nvSpPr>
        <p:spPr>
          <a:xfrm xmlns:a="http://schemas.openxmlformats.org/drawingml/2006/main">
            <a:off x="628650" y="904875"/>
            <a:ext cx="10839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A right tail pulls the mean above the median.</a:t>
            </a:r>
          </a:p>
        </p:txBody>
      </p:sp>
      <p:sp>
        <p:nvSpPr>
          <p:cNvPr id="4" name="Straight Connector 3">
            <a:extLst xmlns:a="http://schemas.openxmlformats.org/drawingml/2006/main">
              <a:ext uri="{FF2B5EF4-FFF2-40B4-BE49-F238E27FC236}">
                <a16:creationId xmlns:a16="http://schemas.microsoft.com/office/drawing/2014/main" id="{E0F2D457-2B70-4704-AB8C-07197B8009BA}"/>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BD5DA"/>
            </a:solidFill>
            <a:prstDash val="solid"/>
          </a:ln>
        </p:spPr>
      </p:sp>
      <p:sp>
        <p:nvSpPr>
          <p:cNvPr id="5" name="Rectangle 4">
            <a:extLst xmlns:a="http://schemas.openxmlformats.org/drawingml/2006/main">
              <a:ext uri="{FF2B5EF4-FFF2-40B4-BE49-F238E27FC236}">
                <a16:creationId xmlns:a16="http://schemas.microsoft.com/office/drawing/2014/main" id="{CE7819D6-0907-4363-86FA-C9556E9D3EC5}"/>
              </a:ext>
            </a:extLst>
          </p:cNvPr>
          <p:cNvSpPr>
            <a:spLocks xmlns:a="http://schemas.openxmlformats.org/drawingml/2006/main" noGrp="1"/>
          </p:cNvSpPr>
          <p:nvPr/>
        </p:nvSpPr>
        <p:spPr>
          <a:xfrm xmlns:a="http://schemas.openxmlformats.org/drawingml/2006/main">
            <a:off x="609600" y="64770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900" b="0">
                <a:solidFill>
                  <a:srgbClr val="63788A"/>
                </a:solidFill>
                <a:latin typeface="Helvetica Neue"/>
                <a:ea typeface="Helvetica Neue"/>
                <a:cs typeface="Helvetica Neue"/>
              </a:defRPr>
            </a:defPPr>
            <a:lvl1pPr algn="r">
              <a:buNone/>
              <a:defRPr sz="900" b="0">
                <a:solidFill>
                  <a:srgbClr val="63788A"/>
                </a:solidFill>
                <a:latin typeface="Helvetica Neue"/>
                <a:ea typeface="Helvetica Neue"/>
                <a:cs typeface="Helvetica Neue"/>
              </a:defRPr>
            </a:lvl1pPr>
            <a:lvl2pPr algn="r">
              <a:buNone/>
              <a:defRPr sz="900" b="0">
                <a:solidFill>
                  <a:srgbClr val="63788A"/>
                </a:solidFill>
                <a:latin typeface="Helvetica Neue"/>
                <a:ea typeface="Helvetica Neue"/>
                <a:cs typeface="Helvetica Neue"/>
              </a:defRPr>
            </a:lvl2pPr>
            <a:lvl3pPr algn="r">
              <a:buNone/>
              <a:defRPr sz="900" b="0">
                <a:solidFill>
                  <a:srgbClr val="63788A"/>
                </a:solidFill>
                <a:latin typeface="Helvetica Neue"/>
                <a:ea typeface="Helvetica Neue"/>
                <a:cs typeface="Helvetica Neue"/>
              </a:defRPr>
            </a:lvl3pPr>
            <a:lvl4pPr algn="r">
              <a:buNone/>
              <a:defRPr sz="900" b="0">
                <a:solidFill>
                  <a:srgbClr val="63788A"/>
                </a:solidFill>
                <a:latin typeface="Helvetica Neue"/>
                <a:ea typeface="Helvetica Neue"/>
                <a:cs typeface="Helvetica Neue"/>
              </a:defRPr>
            </a:lvl4pPr>
            <a:lvl5pPr algn="r">
              <a:buNone/>
              <a:defRPr sz="900" b="0">
                <a:solidFill>
                  <a:srgbClr val="63788A"/>
                </a:solidFill>
                <a:latin typeface="Helvetica Neue"/>
                <a:ea typeface="Helvetica Neue"/>
                <a:cs typeface="Helvetica Neue"/>
              </a:defRPr>
            </a:lvl5pPr>
            <a:lvl6pPr algn="r">
              <a:buNone/>
              <a:defRPr sz="900" b="0">
                <a:solidFill>
                  <a:srgbClr val="63788A"/>
                </a:solidFill>
                <a:latin typeface="Helvetica Neue"/>
                <a:ea typeface="Helvetica Neue"/>
                <a:cs typeface="Helvetica Neue"/>
              </a:defRPr>
            </a:lvl6pPr>
            <a:lvl7pPr algn="r">
              <a:buNone/>
              <a:defRPr sz="900" b="0">
                <a:solidFill>
                  <a:srgbClr val="63788A"/>
                </a:solidFill>
                <a:latin typeface="Helvetica Neue"/>
                <a:ea typeface="Helvetica Neue"/>
                <a:cs typeface="Helvetica Neue"/>
              </a:defRPr>
            </a:lvl7pPr>
            <a:lvl8pPr algn="r">
              <a:buNone/>
              <a:defRPr sz="900" b="0">
                <a:solidFill>
                  <a:srgbClr val="63788A"/>
                </a:solidFill>
                <a:latin typeface="Helvetica Neue"/>
                <a:ea typeface="Helvetica Neue"/>
                <a:cs typeface="Helvetica Neue"/>
              </a:defRPr>
            </a:lvl8pPr>
            <a:lvl9pPr algn="r">
              <a:buNone/>
              <a:defRPr sz="900" b="0">
                <a:solidFill>
                  <a:srgbClr val="63788A"/>
                </a:solidFill>
                <a:latin typeface="Helvetica Neue"/>
                <a:ea typeface="Helvetica Neue"/>
                <a:cs typeface="Helvetica Neue"/>
              </a:defRPr>
            </a:lvl9pPr>
          </a:lstStyle>
          <a:p xmlns:a="http://schemas.openxmlformats.org/drawingml/2006/main">
            <a:pPr algn="r">
              <a:buNone/>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16</a:t>
            </a:r>
          </a:p>
        </p:txBody>
      </p:sp>
      <p:pic>
        <p:nvPicPr>
          <p:cNvPr id="6" name="Picture 5">
            <a:extLst xmlns:a="http://schemas.openxmlformats.org/drawingml/2006/main">
              <a:ext uri="{FF2B5EF4-FFF2-40B4-BE49-F238E27FC236}">
                <a16:creationId xmlns:a16="http://schemas.microsoft.com/office/drawing/2014/main" id="{A84B49C4-63DF-4C68-AC7E-7E3D8DB5541F}"/>
              </a:ext>
            </a:extLst>
          </p:cNvPr>
          <p:cNvPicPr>
            <a:picLocks xmlns:a="http://schemas.openxmlformats.org/drawingml/2006/main" noChangeAspect="1"/>
          </p:cNvPicPr>
          <p:nvPr/>
        </p:nvPicPr>
        <p:blipFill>
          <a:blip xmlns:r="http://schemas.openxmlformats.org/officeDocument/2006/relationships" xmlns:a="http://schemas.openxmlformats.org/drawingml/2006/main" r:embed="Ra41abc364f4e41c3"/>
          <a:stretch xmlns:a="http://schemas.openxmlformats.org/drawingml/2006/main"/>
        </p:blipFill>
        <p:spPr>
          <a:xfrm xmlns:a="http://schemas.openxmlformats.org/drawingml/2006/main">
            <a:off x="619125" y="1680810"/>
            <a:ext cx="8001000" cy="3972631"/>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74B99AB5-902A-4F95-AA85-FE769028BCB1}"/>
              </a:ext>
            </a:extLst>
          </p:cNvPr>
          <p:cNvSpPr>
            <a:spLocks xmlns:a="http://schemas.openxmlformats.org/drawingml/2006/main" noGrp="1"/>
          </p:cNvSpPr>
          <p:nvPr/>
        </p:nvSpPr>
        <p:spPr>
          <a:xfrm xmlns:a="http://schemas.openxmlformats.org/drawingml/2006/main">
            <a:off x="8953500" y="1771650"/>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3750" b="1">
                <a:solidFill>
                  <a:srgbClr val="243A50"/>
                </a:solidFill>
                <a:latin typeface="Helvetica Neue"/>
                <a:ea typeface="Helvetica Neue"/>
                <a:cs typeface="Helvetica Neue"/>
              </a:defRPr>
            </a:defPPr>
            <a:lvl1pPr algn="l">
              <a:buNone/>
              <a:defRPr sz="3750" b="1">
                <a:solidFill>
                  <a:srgbClr val="243A50"/>
                </a:solidFill>
                <a:latin typeface="Helvetica Neue"/>
                <a:ea typeface="Helvetica Neue"/>
                <a:cs typeface="Helvetica Neue"/>
              </a:defRPr>
            </a:lvl1pPr>
            <a:lvl2pPr algn="l">
              <a:buNone/>
              <a:defRPr sz="3750" b="1">
                <a:solidFill>
                  <a:srgbClr val="243A50"/>
                </a:solidFill>
                <a:latin typeface="Helvetica Neue"/>
                <a:ea typeface="Helvetica Neue"/>
                <a:cs typeface="Helvetica Neue"/>
              </a:defRPr>
            </a:lvl2pPr>
            <a:lvl3pPr algn="l">
              <a:buNone/>
              <a:defRPr sz="3750" b="1">
                <a:solidFill>
                  <a:srgbClr val="243A50"/>
                </a:solidFill>
                <a:latin typeface="Helvetica Neue"/>
                <a:ea typeface="Helvetica Neue"/>
                <a:cs typeface="Helvetica Neue"/>
              </a:defRPr>
            </a:lvl3pPr>
            <a:lvl4pPr algn="l">
              <a:buNone/>
              <a:defRPr sz="3750" b="1">
                <a:solidFill>
                  <a:srgbClr val="243A50"/>
                </a:solidFill>
                <a:latin typeface="Helvetica Neue"/>
                <a:ea typeface="Helvetica Neue"/>
                <a:cs typeface="Helvetica Neue"/>
              </a:defRPr>
            </a:lvl4pPr>
            <a:lvl5pPr algn="l">
              <a:buNone/>
              <a:defRPr sz="3750" b="1">
                <a:solidFill>
                  <a:srgbClr val="243A50"/>
                </a:solidFill>
                <a:latin typeface="Helvetica Neue"/>
                <a:ea typeface="Helvetica Neue"/>
                <a:cs typeface="Helvetica Neue"/>
              </a:defRPr>
            </a:lvl5pPr>
            <a:lvl6pPr algn="l">
              <a:buNone/>
              <a:defRPr sz="3750" b="1">
                <a:solidFill>
                  <a:srgbClr val="243A50"/>
                </a:solidFill>
                <a:latin typeface="Helvetica Neue"/>
                <a:ea typeface="Helvetica Neue"/>
                <a:cs typeface="Helvetica Neue"/>
              </a:defRPr>
            </a:lvl6pPr>
            <a:lvl7pPr algn="l">
              <a:buNone/>
              <a:defRPr sz="3750" b="1">
                <a:solidFill>
                  <a:srgbClr val="243A50"/>
                </a:solidFill>
                <a:latin typeface="Helvetica Neue"/>
                <a:ea typeface="Helvetica Neue"/>
                <a:cs typeface="Helvetica Neue"/>
              </a:defRPr>
            </a:lvl7pPr>
            <a:lvl8pPr algn="l">
              <a:buNone/>
              <a:defRPr sz="3750" b="1">
                <a:solidFill>
                  <a:srgbClr val="243A50"/>
                </a:solidFill>
                <a:latin typeface="Helvetica Neue"/>
                <a:ea typeface="Helvetica Neue"/>
                <a:cs typeface="Helvetica Neue"/>
              </a:defRPr>
            </a:lvl8pPr>
            <a:lvl9pPr algn="l">
              <a:buNone/>
              <a:defRPr sz="3750" b="1">
                <a:solidFill>
                  <a:srgbClr val="243A50"/>
                </a:solidFill>
                <a:latin typeface="Helvetica Neue"/>
                <a:ea typeface="Helvetica Neue"/>
                <a:cs typeface="Helvetica Neue"/>
              </a:defRPr>
            </a:lvl9pPr>
          </a:lstStyle>
          <a:p xmlns:a="http://schemas.openxmlformats.org/drawingml/2006/main">
            <a:pPr algn="l">
              <a:buNone/>
              <a:defRPr sz="3750" b="1">
                <a:solidFill>
                  <a:srgbClr val="243A50"/>
                </a:solidFill>
                <a:latin typeface="Helvetica Neue"/>
                <a:ea typeface="Helvetica Neue"/>
                <a:cs typeface="Helvetica Neue"/>
              </a:defRPr>
            </a:pPr>
            <a:r>
              <a:rPr sz="3750" b="1">
                <a:solidFill>
                  <a:srgbClr val="243A50"/>
                </a:solidFill>
                <a:latin typeface="Helvetica Neue"/>
                <a:ea typeface="Helvetica Neue"/>
                <a:cs typeface="Helvetica Neue"/>
              </a:rPr>
              <a:t>11.58</a:t>
            </a:r>
          </a:p>
        </p:txBody>
      </p:sp>
      <p:sp>
        <p:nvSpPr>
          <p:cNvPr id="8" name="Rectangle 7">
            <a:extLst xmlns:a="http://schemas.openxmlformats.org/drawingml/2006/main">
              <a:ext uri="{FF2B5EF4-FFF2-40B4-BE49-F238E27FC236}">
                <a16:creationId xmlns:a16="http://schemas.microsoft.com/office/drawing/2014/main" id="{E940C3D7-0F9A-40AC-83DA-EAE9D01FDE5A}"/>
              </a:ext>
            </a:extLst>
          </p:cNvPr>
          <p:cNvSpPr>
            <a:spLocks xmlns:a="http://schemas.openxmlformats.org/drawingml/2006/main" noGrp="1"/>
          </p:cNvSpPr>
          <p:nvPr/>
        </p:nvSpPr>
        <p:spPr>
          <a:xfrm xmlns:a="http://schemas.openxmlformats.org/drawingml/2006/main">
            <a:off x="8953500" y="243840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mean Euclidean error*</a:t>
            </a:r>
          </a:p>
        </p:txBody>
      </p:sp>
      <p:sp>
        <p:nvSpPr>
          <p:cNvPr id="9" name="Rectangle 8">
            <a:extLst xmlns:a="http://schemas.openxmlformats.org/drawingml/2006/main">
              <a:ext uri="{FF2B5EF4-FFF2-40B4-BE49-F238E27FC236}">
                <a16:creationId xmlns:a16="http://schemas.microsoft.com/office/drawing/2014/main" id="{51087569-EDD9-47AD-9D13-4C6060D9ABE2}"/>
              </a:ext>
            </a:extLst>
          </p:cNvPr>
          <p:cNvSpPr>
            <a:spLocks xmlns:a="http://schemas.openxmlformats.org/drawingml/2006/main" noGrp="1"/>
          </p:cNvSpPr>
          <p:nvPr/>
        </p:nvSpPr>
        <p:spPr>
          <a:xfrm xmlns:a="http://schemas.openxmlformats.org/drawingml/2006/main">
            <a:off x="8953500" y="3124200"/>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3750" b="1">
                <a:solidFill>
                  <a:srgbClr val="64877F"/>
                </a:solidFill>
                <a:latin typeface="Helvetica Neue"/>
                <a:ea typeface="Helvetica Neue"/>
                <a:cs typeface="Helvetica Neue"/>
              </a:defRPr>
            </a:defPPr>
            <a:lvl1pPr algn="l">
              <a:buNone/>
              <a:defRPr sz="3750" b="1">
                <a:solidFill>
                  <a:srgbClr val="64877F"/>
                </a:solidFill>
                <a:latin typeface="Helvetica Neue"/>
                <a:ea typeface="Helvetica Neue"/>
                <a:cs typeface="Helvetica Neue"/>
              </a:defRPr>
            </a:lvl1pPr>
            <a:lvl2pPr algn="l">
              <a:buNone/>
              <a:defRPr sz="3750" b="1">
                <a:solidFill>
                  <a:srgbClr val="64877F"/>
                </a:solidFill>
                <a:latin typeface="Helvetica Neue"/>
                <a:ea typeface="Helvetica Neue"/>
                <a:cs typeface="Helvetica Neue"/>
              </a:defRPr>
            </a:lvl2pPr>
            <a:lvl3pPr algn="l">
              <a:buNone/>
              <a:defRPr sz="3750" b="1">
                <a:solidFill>
                  <a:srgbClr val="64877F"/>
                </a:solidFill>
                <a:latin typeface="Helvetica Neue"/>
                <a:ea typeface="Helvetica Neue"/>
                <a:cs typeface="Helvetica Neue"/>
              </a:defRPr>
            </a:lvl3pPr>
            <a:lvl4pPr algn="l">
              <a:buNone/>
              <a:defRPr sz="3750" b="1">
                <a:solidFill>
                  <a:srgbClr val="64877F"/>
                </a:solidFill>
                <a:latin typeface="Helvetica Neue"/>
                <a:ea typeface="Helvetica Neue"/>
                <a:cs typeface="Helvetica Neue"/>
              </a:defRPr>
            </a:lvl4pPr>
            <a:lvl5pPr algn="l">
              <a:buNone/>
              <a:defRPr sz="3750" b="1">
                <a:solidFill>
                  <a:srgbClr val="64877F"/>
                </a:solidFill>
                <a:latin typeface="Helvetica Neue"/>
                <a:ea typeface="Helvetica Neue"/>
                <a:cs typeface="Helvetica Neue"/>
              </a:defRPr>
            </a:lvl5pPr>
            <a:lvl6pPr algn="l">
              <a:buNone/>
              <a:defRPr sz="3750" b="1">
                <a:solidFill>
                  <a:srgbClr val="64877F"/>
                </a:solidFill>
                <a:latin typeface="Helvetica Neue"/>
                <a:ea typeface="Helvetica Neue"/>
                <a:cs typeface="Helvetica Neue"/>
              </a:defRPr>
            </a:lvl6pPr>
            <a:lvl7pPr algn="l">
              <a:buNone/>
              <a:defRPr sz="3750" b="1">
                <a:solidFill>
                  <a:srgbClr val="64877F"/>
                </a:solidFill>
                <a:latin typeface="Helvetica Neue"/>
                <a:ea typeface="Helvetica Neue"/>
                <a:cs typeface="Helvetica Neue"/>
              </a:defRPr>
            </a:lvl7pPr>
            <a:lvl8pPr algn="l">
              <a:buNone/>
              <a:defRPr sz="3750" b="1">
                <a:solidFill>
                  <a:srgbClr val="64877F"/>
                </a:solidFill>
                <a:latin typeface="Helvetica Neue"/>
                <a:ea typeface="Helvetica Neue"/>
                <a:cs typeface="Helvetica Neue"/>
              </a:defRPr>
            </a:lvl8pPr>
            <a:lvl9pPr algn="l">
              <a:buNone/>
              <a:defRPr sz="3750" b="1">
                <a:solidFill>
                  <a:srgbClr val="64877F"/>
                </a:solidFill>
                <a:latin typeface="Helvetica Neue"/>
                <a:ea typeface="Helvetica Neue"/>
                <a:cs typeface="Helvetica Neue"/>
              </a:defRPr>
            </a:lvl9pPr>
          </a:lstStyle>
          <a:p xmlns:a="http://schemas.openxmlformats.org/drawingml/2006/main">
            <a:pPr algn="l">
              <a:buNone/>
              <a:defRPr sz="3750" b="1">
                <a:solidFill>
                  <a:srgbClr val="64877F"/>
                </a:solidFill>
                <a:latin typeface="Helvetica Neue"/>
                <a:ea typeface="Helvetica Neue"/>
                <a:cs typeface="Helvetica Neue"/>
              </a:defRPr>
            </a:pPr>
            <a:r>
              <a:rPr sz="3750" b="1">
                <a:solidFill>
                  <a:srgbClr val="64877F"/>
                </a:solidFill>
                <a:latin typeface="Helvetica Neue"/>
                <a:ea typeface="Helvetica Neue"/>
                <a:cs typeface="Helvetica Neue"/>
              </a:rPr>
              <a:t>7.49</a:t>
            </a:r>
          </a:p>
        </p:txBody>
      </p:sp>
      <p:sp>
        <p:nvSpPr>
          <p:cNvPr id="10" name="Rectangle 9">
            <a:extLst xmlns:a="http://schemas.openxmlformats.org/drawingml/2006/main">
              <a:ext uri="{FF2B5EF4-FFF2-40B4-BE49-F238E27FC236}">
                <a16:creationId xmlns:a16="http://schemas.microsoft.com/office/drawing/2014/main" id="{4EEE459D-EB5D-4D5A-A58D-747E44557AE2}"/>
              </a:ext>
            </a:extLst>
          </p:cNvPr>
          <p:cNvSpPr>
            <a:spLocks xmlns:a="http://schemas.openxmlformats.org/drawingml/2006/main" noGrp="1"/>
          </p:cNvSpPr>
          <p:nvPr/>
        </p:nvSpPr>
        <p:spPr>
          <a:xfrm xmlns:a="http://schemas.openxmlformats.org/drawingml/2006/main">
            <a:off x="8953500" y="379095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median error*</a:t>
            </a:r>
          </a:p>
        </p:txBody>
      </p:sp>
      <p:sp>
        <p:nvSpPr>
          <p:cNvPr id="11" name="Rectangle 10">
            <a:extLst xmlns:a="http://schemas.openxmlformats.org/drawingml/2006/main">
              <a:ext uri="{FF2B5EF4-FFF2-40B4-BE49-F238E27FC236}">
                <a16:creationId xmlns:a16="http://schemas.microsoft.com/office/drawing/2014/main" id="{106F2199-93BF-4D41-9676-D65929B30113}"/>
              </a:ext>
            </a:extLst>
          </p:cNvPr>
          <p:cNvSpPr>
            <a:spLocks xmlns:a="http://schemas.openxmlformats.org/drawingml/2006/main" noGrp="1"/>
          </p:cNvSpPr>
          <p:nvPr/>
        </p:nvSpPr>
        <p:spPr>
          <a:xfrm xmlns:a="http://schemas.openxmlformats.org/drawingml/2006/main">
            <a:off x="8953500" y="4476750"/>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3750" b="1">
                <a:solidFill>
                  <a:srgbClr val="A76F61"/>
                </a:solidFill>
                <a:latin typeface="Helvetica Neue"/>
                <a:ea typeface="Helvetica Neue"/>
                <a:cs typeface="Helvetica Neue"/>
              </a:defRPr>
            </a:defPPr>
            <a:lvl1pPr algn="l">
              <a:buNone/>
              <a:defRPr sz="3750" b="1">
                <a:solidFill>
                  <a:srgbClr val="A76F61"/>
                </a:solidFill>
                <a:latin typeface="Helvetica Neue"/>
                <a:ea typeface="Helvetica Neue"/>
                <a:cs typeface="Helvetica Neue"/>
              </a:defRPr>
            </a:lvl1pPr>
            <a:lvl2pPr algn="l">
              <a:buNone/>
              <a:defRPr sz="3750" b="1">
                <a:solidFill>
                  <a:srgbClr val="A76F61"/>
                </a:solidFill>
                <a:latin typeface="Helvetica Neue"/>
                <a:ea typeface="Helvetica Neue"/>
                <a:cs typeface="Helvetica Neue"/>
              </a:defRPr>
            </a:lvl2pPr>
            <a:lvl3pPr algn="l">
              <a:buNone/>
              <a:defRPr sz="3750" b="1">
                <a:solidFill>
                  <a:srgbClr val="A76F61"/>
                </a:solidFill>
                <a:latin typeface="Helvetica Neue"/>
                <a:ea typeface="Helvetica Neue"/>
                <a:cs typeface="Helvetica Neue"/>
              </a:defRPr>
            </a:lvl3pPr>
            <a:lvl4pPr algn="l">
              <a:buNone/>
              <a:defRPr sz="3750" b="1">
                <a:solidFill>
                  <a:srgbClr val="A76F61"/>
                </a:solidFill>
                <a:latin typeface="Helvetica Neue"/>
                <a:ea typeface="Helvetica Neue"/>
                <a:cs typeface="Helvetica Neue"/>
              </a:defRPr>
            </a:lvl4pPr>
            <a:lvl5pPr algn="l">
              <a:buNone/>
              <a:defRPr sz="3750" b="1">
                <a:solidFill>
                  <a:srgbClr val="A76F61"/>
                </a:solidFill>
                <a:latin typeface="Helvetica Neue"/>
                <a:ea typeface="Helvetica Neue"/>
                <a:cs typeface="Helvetica Neue"/>
              </a:defRPr>
            </a:lvl5pPr>
            <a:lvl6pPr algn="l">
              <a:buNone/>
              <a:defRPr sz="3750" b="1">
                <a:solidFill>
                  <a:srgbClr val="A76F61"/>
                </a:solidFill>
                <a:latin typeface="Helvetica Neue"/>
                <a:ea typeface="Helvetica Neue"/>
                <a:cs typeface="Helvetica Neue"/>
              </a:defRPr>
            </a:lvl6pPr>
            <a:lvl7pPr algn="l">
              <a:buNone/>
              <a:defRPr sz="3750" b="1">
                <a:solidFill>
                  <a:srgbClr val="A76F61"/>
                </a:solidFill>
                <a:latin typeface="Helvetica Neue"/>
                <a:ea typeface="Helvetica Neue"/>
                <a:cs typeface="Helvetica Neue"/>
              </a:defRPr>
            </a:lvl7pPr>
            <a:lvl8pPr algn="l">
              <a:buNone/>
              <a:defRPr sz="3750" b="1">
                <a:solidFill>
                  <a:srgbClr val="A76F61"/>
                </a:solidFill>
                <a:latin typeface="Helvetica Neue"/>
                <a:ea typeface="Helvetica Neue"/>
                <a:cs typeface="Helvetica Neue"/>
              </a:defRPr>
            </a:lvl8pPr>
            <a:lvl9pPr algn="l">
              <a:buNone/>
              <a:defRPr sz="3750" b="1">
                <a:solidFill>
                  <a:srgbClr val="A76F61"/>
                </a:solidFill>
                <a:latin typeface="Helvetica Neue"/>
                <a:ea typeface="Helvetica Neue"/>
                <a:cs typeface="Helvetica Neue"/>
              </a:defRPr>
            </a:lvl9pPr>
          </a:lstStyle>
          <a:p xmlns:a="http://schemas.openxmlformats.org/drawingml/2006/main">
            <a:pPr algn="l">
              <a:buNone/>
              <a:defRPr sz="3750" b="1">
                <a:solidFill>
                  <a:srgbClr val="A76F61"/>
                </a:solidFill>
                <a:latin typeface="Helvetica Neue"/>
                <a:ea typeface="Helvetica Neue"/>
                <a:cs typeface="Helvetica Neue"/>
              </a:defRPr>
            </a:pPr>
            <a:r>
              <a:rPr sz="3750" b="1">
                <a:solidFill>
                  <a:srgbClr val="A76F61"/>
                </a:solidFill>
                <a:latin typeface="Helvetica Neue"/>
                <a:ea typeface="Helvetica Neue"/>
                <a:cs typeface="Helvetica Neue"/>
              </a:rPr>
              <a:t>36.21</a:t>
            </a:r>
          </a:p>
        </p:txBody>
      </p:sp>
      <p:sp>
        <p:nvSpPr>
          <p:cNvPr id="12" name="Rectangle 11">
            <a:extLst xmlns:a="http://schemas.openxmlformats.org/drawingml/2006/main">
              <a:ext uri="{FF2B5EF4-FFF2-40B4-BE49-F238E27FC236}">
                <a16:creationId xmlns:a16="http://schemas.microsoft.com/office/drawing/2014/main" id="{86F9E0E1-C511-4E27-974D-4F74957542AF}"/>
              </a:ext>
            </a:extLst>
          </p:cNvPr>
          <p:cNvSpPr>
            <a:spLocks xmlns:a="http://schemas.openxmlformats.org/drawingml/2006/main" noGrp="1"/>
          </p:cNvSpPr>
          <p:nvPr/>
        </p:nvSpPr>
        <p:spPr>
          <a:xfrm xmlns:a="http://schemas.openxmlformats.org/drawingml/2006/main">
            <a:off x="8953500" y="514350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95th percentile*</a:t>
            </a:r>
          </a:p>
        </p:txBody>
      </p:sp>
      <p:sp>
        <p:nvSpPr>
          <p:cNvPr id="13" name="Rectangle 12">
            <a:extLst xmlns:a="http://schemas.openxmlformats.org/drawingml/2006/main">
              <a:ext uri="{FF2B5EF4-FFF2-40B4-BE49-F238E27FC236}">
                <a16:creationId xmlns:a16="http://schemas.microsoft.com/office/drawing/2014/main" id="{0BFB07A3-4F5F-45CE-B632-82B6A9A336E3}"/>
              </a:ext>
            </a:extLst>
          </p:cNvPr>
          <p:cNvSpPr>
            <a:spLocks xmlns:a="http://schemas.openxmlformats.org/drawingml/2006/main" noGrp="1"/>
          </p:cNvSpPr>
          <p:nvPr/>
        </p:nvSpPr>
        <p:spPr>
          <a:xfrm xmlns:a="http://schemas.openxmlformats.org/drawingml/2006/main">
            <a:off x="8972550" y="5619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050" b="0">
                <a:solidFill>
                  <a:srgbClr val="63788A"/>
                </a:solidFill>
                <a:latin typeface="Helvetica Neue"/>
                <a:ea typeface="Helvetica Neue"/>
                <a:cs typeface="Helvetica Neue"/>
              </a:defRPr>
            </a:defPPr>
            <a:lvl1pPr algn="l">
              <a:buNone/>
              <a:defRPr sz="1050" b="0">
                <a:solidFill>
                  <a:srgbClr val="63788A"/>
                </a:solidFill>
                <a:latin typeface="Helvetica Neue"/>
                <a:ea typeface="Helvetica Neue"/>
                <a:cs typeface="Helvetica Neue"/>
              </a:defRPr>
            </a:lvl1pPr>
            <a:lvl2pPr algn="l">
              <a:buNone/>
              <a:defRPr sz="1050" b="0">
                <a:solidFill>
                  <a:srgbClr val="63788A"/>
                </a:solidFill>
                <a:latin typeface="Helvetica Neue"/>
                <a:ea typeface="Helvetica Neue"/>
                <a:cs typeface="Helvetica Neue"/>
              </a:defRPr>
            </a:lvl2pPr>
            <a:lvl3pPr algn="l">
              <a:buNone/>
              <a:defRPr sz="1050" b="0">
                <a:solidFill>
                  <a:srgbClr val="63788A"/>
                </a:solidFill>
                <a:latin typeface="Helvetica Neue"/>
                <a:ea typeface="Helvetica Neue"/>
                <a:cs typeface="Helvetica Neue"/>
              </a:defRPr>
            </a:lvl3pPr>
            <a:lvl4pPr algn="l">
              <a:buNone/>
              <a:defRPr sz="1050" b="0">
                <a:solidFill>
                  <a:srgbClr val="63788A"/>
                </a:solidFill>
                <a:latin typeface="Helvetica Neue"/>
                <a:ea typeface="Helvetica Neue"/>
                <a:cs typeface="Helvetica Neue"/>
              </a:defRPr>
            </a:lvl4pPr>
            <a:lvl5pPr algn="l">
              <a:buNone/>
              <a:defRPr sz="1050" b="0">
                <a:solidFill>
                  <a:srgbClr val="63788A"/>
                </a:solidFill>
                <a:latin typeface="Helvetica Neue"/>
                <a:ea typeface="Helvetica Neue"/>
                <a:cs typeface="Helvetica Neue"/>
              </a:defRPr>
            </a:lvl5pPr>
            <a:lvl6pPr algn="l">
              <a:buNone/>
              <a:defRPr sz="1050" b="0">
                <a:solidFill>
                  <a:srgbClr val="63788A"/>
                </a:solidFill>
                <a:latin typeface="Helvetica Neue"/>
                <a:ea typeface="Helvetica Neue"/>
                <a:cs typeface="Helvetica Neue"/>
              </a:defRPr>
            </a:lvl6pPr>
            <a:lvl7pPr algn="l">
              <a:buNone/>
              <a:defRPr sz="1050" b="0">
                <a:solidFill>
                  <a:srgbClr val="63788A"/>
                </a:solidFill>
                <a:latin typeface="Helvetica Neue"/>
                <a:ea typeface="Helvetica Neue"/>
                <a:cs typeface="Helvetica Neue"/>
              </a:defRPr>
            </a:lvl7pPr>
            <a:lvl8pPr algn="l">
              <a:buNone/>
              <a:defRPr sz="1050" b="0">
                <a:solidFill>
                  <a:srgbClr val="63788A"/>
                </a:solidFill>
                <a:latin typeface="Helvetica Neue"/>
                <a:ea typeface="Helvetica Neue"/>
                <a:cs typeface="Helvetica Neue"/>
              </a:defRPr>
            </a:lvl8pPr>
            <a:lvl9pPr algn="l">
              <a:buNone/>
              <a:defRPr sz="1050" b="0">
                <a:solidFill>
                  <a:srgbClr val="63788A"/>
                </a:solidFill>
                <a:latin typeface="Helvetica Neue"/>
                <a:ea typeface="Helvetica Neue"/>
                <a:cs typeface="Helvetica Neue"/>
              </a:defRPr>
            </a:lvl9pPr>
          </a:lstStyle>
          <a:p xmlns:a="http://schemas.openxmlformats.org/drawingml/2006/main">
            <a:pPr algn="l">
              <a:buNone/>
              <a:defRPr sz="1050" b="0">
                <a:solidFill>
                  <a:srgbClr val="63788A"/>
                </a:solidFill>
                <a:latin typeface="Helvetica Neue"/>
                <a:ea typeface="Helvetica Neue"/>
                <a:cs typeface="Helvetica Neue"/>
              </a:defRPr>
            </a:pPr>
            <a:r>
              <a:rPr sz="1050" b="0">
                <a:solidFill>
                  <a:srgbClr val="63788A"/>
                </a:solidFill>
                <a:latin typeface="Helvetica Neue"/>
                <a:ea typeface="Helvetica Neue"/>
                <a:cs typeface="Helvetica Neue"/>
              </a:rPr>
              <a:t>*reported coordinate units</a:t>
            </a:r>
          </a:p>
        </p:txBody>
      </p:sp>
    </p:spTree>
    <p:extLst>
      <p:ext uri="{BB962C8B-B14F-4D97-AF65-F5344CB8AC3E}">
        <p14:creationId xmlns:p14="http://schemas.microsoft.com/office/powerpoint/2010/main" val="337341544"/>
      </p:ext>
    </p:extLst>
  </p:cSld>
</p:sld>
</file>

<file path=ppt/slides/slide1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23" name="Rectangle 22">
            <a:extLst xmlns:a="http://schemas.openxmlformats.org/drawingml/2006/main">
              <a:ext uri="{FF2B5EF4-FFF2-40B4-BE49-F238E27FC236}">
                <a16:creationId xmlns:a16="http://schemas.microsoft.com/office/drawing/2014/main" id="{3D9449B1-509C-4642-BAA1-CA9E5B35E3CC}"/>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C7DBD1"/>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F6CB7FC-7582-4BDA-8524-4779698864C2}"/>
              </a:ext>
            </a:extLst>
          </p:cNvPr>
          <p:cNvSpPr>
            <a:spLocks xmlns:a="http://schemas.openxmlformats.org/drawingml/2006/main" noGrp="1"/>
          </p:cNvSpPr>
          <p:nvPr/>
        </p:nvSpPr>
        <p:spPr>
          <a:xfrm xmlns:a="http://schemas.openxmlformats.org/drawingml/2006/main">
            <a:off x="609600" y="37147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625" b="1">
                <a:solidFill>
                  <a:srgbClr val="243A50"/>
                </a:solidFill>
                <a:latin typeface="Helvetica Neue"/>
                <a:ea typeface="Helvetica Neue"/>
                <a:cs typeface="Helvetica Neue"/>
              </a:defRPr>
            </a:defPPr>
            <a:lvl1pPr algn="l">
              <a:buNone/>
              <a:defRPr sz="2625" b="1">
                <a:solidFill>
                  <a:srgbClr val="243A50"/>
                </a:solidFill>
                <a:latin typeface="Helvetica Neue"/>
                <a:ea typeface="Helvetica Neue"/>
                <a:cs typeface="Helvetica Neue"/>
              </a:defRPr>
            </a:lvl1pPr>
            <a:lvl2pPr algn="l">
              <a:buNone/>
              <a:defRPr sz="2625" b="1">
                <a:solidFill>
                  <a:srgbClr val="243A50"/>
                </a:solidFill>
                <a:latin typeface="Helvetica Neue"/>
                <a:ea typeface="Helvetica Neue"/>
                <a:cs typeface="Helvetica Neue"/>
              </a:defRPr>
            </a:lvl2pPr>
            <a:lvl3pPr algn="l">
              <a:buNone/>
              <a:defRPr sz="2625" b="1">
                <a:solidFill>
                  <a:srgbClr val="243A50"/>
                </a:solidFill>
                <a:latin typeface="Helvetica Neue"/>
                <a:ea typeface="Helvetica Neue"/>
                <a:cs typeface="Helvetica Neue"/>
              </a:defRPr>
            </a:lvl3pPr>
            <a:lvl4pPr algn="l">
              <a:buNone/>
              <a:defRPr sz="2625" b="1">
                <a:solidFill>
                  <a:srgbClr val="243A50"/>
                </a:solidFill>
                <a:latin typeface="Helvetica Neue"/>
                <a:ea typeface="Helvetica Neue"/>
                <a:cs typeface="Helvetica Neue"/>
              </a:defRPr>
            </a:lvl4pPr>
            <a:lvl5pPr algn="l">
              <a:buNone/>
              <a:defRPr sz="2625" b="1">
                <a:solidFill>
                  <a:srgbClr val="243A50"/>
                </a:solidFill>
                <a:latin typeface="Helvetica Neue"/>
                <a:ea typeface="Helvetica Neue"/>
                <a:cs typeface="Helvetica Neue"/>
              </a:defRPr>
            </a:lvl5pPr>
            <a:lvl6pPr algn="l">
              <a:buNone/>
              <a:defRPr sz="2625" b="1">
                <a:solidFill>
                  <a:srgbClr val="243A50"/>
                </a:solidFill>
                <a:latin typeface="Helvetica Neue"/>
                <a:ea typeface="Helvetica Neue"/>
                <a:cs typeface="Helvetica Neue"/>
              </a:defRPr>
            </a:lvl6pPr>
            <a:lvl7pPr algn="l">
              <a:buNone/>
              <a:defRPr sz="2625" b="1">
                <a:solidFill>
                  <a:srgbClr val="243A50"/>
                </a:solidFill>
                <a:latin typeface="Helvetica Neue"/>
                <a:ea typeface="Helvetica Neue"/>
                <a:cs typeface="Helvetica Neue"/>
              </a:defRPr>
            </a:lvl7pPr>
            <a:lvl8pPr algn="l">
              <a:buNone/>
              <a:defRPr sz="2625" b="1">
                <a:solidFill>
                  <a:srgbClr val="243A50"/>
                </a:solidFill>
                <a:latin typeface="Helvetica Neue"/>
                <a:ea typeface="Helvetica Neue"/>
                <a:cs typeface="Helvetica Neue"/>
              </a:defRPr>
            </a:lvl8pPr>
            <a:lvl9pPr algn="l">
              <a:buNone/>
              <a:defRPr sz="2625" b="1">
                <a:solidFill>
                  <a:srgbClr val="243A50"/>
                </a:solidFill>
                <a:latin typeface="Helvetica Neue"/>
                <a:ea typeface="Helvetica Neue"/>
                <a:cs typeface="Helvetica Neue"/>
              </a:defRPr>
            </a:lvl9pPr>
          </a:lstStyle>
          <a:p xmlns:a="http://schemas.openxmlformats.org/drawingml/2006/main">
            <a:pPr algn="l">
              <a:buNone/>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5 · Integration pipeline</a:t>
            </a:r>
          </a:p>
        </p:txBody>
      </p:sp>
      <p:sp>
        <p:nvSpPr>
          <p:cNvPr id="3" name="Rectangle 2">
            <a:extLst xmlns:a="http://schemas.openxmlformats.org/drawingml/2006/main">
              <a:ext uri="{FF2B5EF4-FFF2-40B4-BE49-F238E27FC236}">
                <a16:creationId xmlns:a16="http://schemas.microsoft.com/office/drawing/2014/main" id="{BC3807F6-457B-46B9-8EF6-829681C2DCBF}"/>
              </a:ext>
            </a:extLst>
          </p:cNvPr>
          <p:cNvSpPr>
            <a:spLocks xmlns:a="http://schemas.openxmlformats.org/drawingml/2006/main" noGrp="1"/>
          </p:cNvSpPr>
          <p:nvPr/>
        </p:nvSpPr>
        <p:spPr>
          <a:xfrm xmlns:a="http://schemas.openxmlformats.org/drawingml/2006/main">
            <a:off x="628650" y="904875"/>
            <a:ext cx="10839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Join predictions by partition and row ID before measuring joint outcomes.</a:t>
            </a:r>
          </a:p>
        </p:txBody>
      </p:sp>
      <p:sp>
        <p:nvSpPr>
          <p:cNvPr id="4" name="Straight Connector 3">
            <a:extLst xmlns:a="http://schemas.openxmlformats.org/drawingml/2006/main">
              <a:ext uri="{FF2B5EF4-FFF2-40B4-BE49-F238E27FC236}">
                <a16:creationId xmlns:a16="http://schemas.microsoft.com/office/drawing/2014/main" id="{2A274C5A-1B16-4CB0-AC9F-2697C9A2BF52}"/>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BD5DA"/>
            </a:solidFill>
            <a:prstDash val="solid"/>
          </a:ln>
        </p:spPr>
      </p:sp>
      <p:sp>
        <p:nvSpPr>
          <p:cNvPr id="5" name="Rectangle 4">
            <a:extLst xmlns:a="http://schemas.openxmlformats.org/drawingml/2006/main">
              <a:ext uri="{FF2B5EF4-FFF2-40B4-BE49-F238E27FC236}">
                <a16:creationId xmlns:a16="http://schemas.microsoft.com/office/drawing/2014/main" id="{644FC45E-08F6-480C-8596-ACDF191CAC95}"/>
              </a:ext>
            </a:extLst>
          </p:cNvPr>
          <p:cNvSpPr>
            <a:spLocks xmlns:a="http://schemas.openxmlformats.org/drawingml/2006/main" noGrp="1"/>
          </p:cNvSpPr>
          <p:nvPr/>
        </p:nvSpPr>
        <p:spPr>
          <a:xfrm xmlns:a="http://schemas.openxmlformats.org/drawingml/2006/main">
            <a:off x="609600" y="64770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900" b="0">
                <a:solidFill>
                  <a:srgbClr val="63788A"/>
                </a:solidFill>
                <a:latin typeface="Helvetica Neue"/>
                <a:ea typeface="Helvetica Neue"/>
                <a:cs typeface="Helvetica Neue"/>
              </a:defRPr>
            </a:defPPr>
            <a:lvl1pPr algn="r">
              <a:buNone/>
              <a:defRPr sz="900" b="0">
                <a:solidFill>
                  <a:srgbClr val="63788A"/>
                </a:solidFill>
                <a:latin typeface="Helvetica Neue"/>
                <a:ea typeface="Helvetica Neue"/>
                <a:cs typeface="Helvetica Neue"/>
              </a:defRPr>
            </a:lvl1pPr>
            <a:lvl2pPr algn="r">
              <a:buNone/>
              <a:defRPr sz="900" b="0">
                <a:solidFill>
                  <a:srgbClr val="63788A"/>
                </a:solidFill>
                <a:latin typeface="Helvetica Neue"/>
                <a:ea typeface="Helvetica Neue"/>
                <a:cs typeface="Helvetica Neue"/>
              </a:defRPr>
            </a:lvl2pPr>
            <a:lvl3pPr algn="r">
              <a:buNone/>
              <a:defRPr sz="900" b="0">
                <a:solidFill>
                  <a:srgbClr val="63788A"/>
                </a:solidFill>
                <a:latin typeface="Helvetica Neue"/>
                <a:ea typeface="Helvetica Neue"/>
                <a:cs typeface="Helvetica Neue"/>
              </a:defRPr>
            </a:lvl3pPr>
            <a:lvl4pPr algn="r">
              <a:buNone/>
              <a:defRPr sz="900" b="0">
                <a:solidFill>
                  <a:srgbClr val="63788A"/>
                </a:solidFill>
                <a:latin typeface="Helvetica Neue"/>
                <a:ea typeface="Helvetica Neue"/>
                <a:cs typeface="Helvetica Neue"/>
              </a:defRPr>
            </a:lvl4pPr>
            <a:lvl5pPr algn="r">
              <a:buNone/>
              <a:defRPr sz="900" b="0">
                <a:solidFill>
                  <a:srgbClr val="63788A"/>
                </a:solidFill>
                <a:latin typeface="Helvetica Neue"/>
                <a:ea typeface="Helvetica Neue"/>
                <a:cs typeface="Helvetica Neue"/>
              </a:defRPr>
            </a:lvl5pPr>
            <a:lvl6pPr algn="r">
              <a:buNone/>
              <a:defRPr sz="900" b="0">
                <a:solidFill>
                  <a:srgbClr val="63788A"/>
                </a:solidFill>
                <a:latin typeface="Helvetica Neue"/>
                <a:ea typeface="Helvetica Neue"/>
                <a:cs typeface="Helvetica Neue"/>
              </a:defRPr>
            </a:lvl6pPr>
            <a:lvl7pPr algn="r">
              <a:buNone/>
              <a:defRPr sz="900" b="0">
                <a:solidFill>
                  <a:srgbClr val="63788A"/>
                </a:solidFill>
                <a:latin typeface="Helvetica Neue"/>
                <a:ea typeface="Helvetica Neue"/>
                <a:cs typeface="Helvetica Neue"/>
              </a:defRPr>
            </a:lvl7pPr>
            <a:lvl8pPr algn="r">
              <a:buNone/>
              <a:defRPr sz="900" b="0">
                <a:solidFill>
                  <a:srgbClr val="63788A"/>
                </a:solidFill>
                <a:latin typeface="Helvetica Neue"/>
                <a:ea typeface="Helvetica Neue"/>
                <a:cs typeface="Helvetica Neue"/>
              </a:defRPr>
            </a:lvl8pPr>
            <a:lvl9pPr algn="r">
              <a:buNone/>
              <a:defRPr sz="900" b="0">
                <a:solidFill>
                  <a:srgbClr val="63788A"/>
                </a:solidFill>
                <a:latin typeface="Helvetica Neue"/>
                <a:ea typeface="Helvetica Neue"/>
                <a:cs typeface="Helvetica Neue"/>
              </a:defRPr>
            </a:lvl9pPr>
          </a:lstStyle>
          <a:p xmlns:a="http://schemas.openxmlformats.org/drawingml/2006/main">
            <a:pPr algn="r">
              <a:buNone/>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17</a:t>
            </a:r>
          </a:p>
        </p:txBody>
      </p:sp>
      <p:sp>
        <p:nvSpPr>
          <p:cNvPr id="6" name="Rounded Rectangle 5">
            <a:extLst xmlns:a="http://schemas.openxmlformats.org/drawingml/2006/main">
              <a:ext uri="{FF2B5EF4-FFF2-40B4-BE49-F238E27FC236}">
                <a16:creationId xmlns:a16="http://schemas.microsoft.com/office/drawing/2014/main" id="{343C9BE3-51B4-4BF8-B662-3EE714CDBB29}"/>
              </a:ext>
            </a:extLst>
          </p:cNvPr>
          <p:cNvSpPr>
            <a:spLocks xmlns:a="http://schemas.openxmlformats.org/drawingml/2006/main" noGrp="1"/>
          </p:cNvSpPr>
          <p:nvPr/>
        </p:nvSpPr>
        <p:spPr>
          <a:xfrm xmlns:a="http://schemas.openxmlformats.org/drawingml/2006/main">
            <a:off x="514350" y="1952625"/>
            <a:ext cx="2047875" cy="1571625"/>
          </a:xfrm>
          <a:prstGeom xmlns:a="http://schemas.openxmlformats.org/drawingml/2006/main" prst="roundRect">
            <a:avLst>
              <a:gd name="adj" fmla="val 4848"/>
            </a:avLst>
          </a:prstGeom>
          <a:solidFill xmlns:a="http://schemas.openxmlformats.org/drawingml/2006/main">
            <a:srgbClr val="E8EFF4"/>
          </a:solidFill>
          <a:ln xmlns:a="http://schemas.openxmlformats.org/drawingml/2006/main" w="9525">
            <a:solidFill>
              <a:srgbClr val="CBD5DA"/>
            </a:solidFill>
            <a:prstDash val="solid"/>
          </a:ln>
        </p:spPr>
      </p:sp>
      <p:sp>
        <p:nvSpPr>
          <p:cNvPr id="7" name="Rectangle 6">
            <a:extLst xmlns:a="http://schemas.openxmlformats.org/drawingml/2006/main">
              <a:ext uri="{FF2B5EF4-FFF2-40B4-BE49-F238E27FC236}">
                <a16:creationId xmlns:a16="http://schemas.microsoft.com/office/drawing/2014/main" id="{7B880D90-9294-4DCC-9045-B1A358171776}"/>
              </a:ext>
            </a:extLst>
          </p:cNvPr>
          <p:cNvSpPr>
            <a:spLocks xmlns:a="http://schemas.openxmlformats.org/drawingml/2006/main" noGrp="1"/>
          </p:cNvSpPr>
          <p:nvPr/>
        </p:nvSpPr>
        <p:spPr>
          <a:xfrm xmlns:a="http://schemas.openxmlformats.org/drawingml/2006/main">
            <a:off x="628650" y="2066925"/>
            <a:ext cx="18192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Task outputs</a:t>
            </a:r>
          </a:p>
        </p:txBody>
      </p:sp>
      <p:sp>
        <p:nvSpPr>
          <p:cNvPr id="8" name="Rectangle 7">
            <a:extLst xmlns:a="http://schemas.openxmlformats.org/drawingml/2006/main">
              <a:ext uri="{FF2B5EF4-FFF2-40B4-BE49-F238E27FC236}">
                <a16:creationId xmlns:a16="http://schemas.microsoft.com/office/drawing/2014/main" id="{B35622EB-96EE-4ADE-9F98-B2AD379038A1}"/>
              </a:ext>
            </a:extLst>
          </p:cNvPr>
          <p:cNvSpPr>
            <a:spLocks xmlns:a="http://schemas.openxmlformats.org/drawingml/2006/main" noGrp="1"/>
          </p:cNvSpPr>
          <p:nvPr/>
        </p:nvSpPr>
        <p:spPr>
          <a:xfrm xmlns:a="http://schemas.openxmlformats.org/drawingml/2006/main">
            <a:off x="647700" y="2466975"/>
            <a:ext cx="1781175"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building class</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floor class</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coordinate pair</a:t>
            </a:r>
          </a:p>
        </p:txBody>
      </p:sp>
      <p:sp>
        <p:nvSpPr>
          <p:cNvPr id="9" name="Right Arrow 8">
            <a:extLst xmlns:a="http://schemas.openxmlformats.org/drawingml/2006/main">
              <a:ext uri="{FF2B5EF4-FFF2-40B4-BE49-F238E27FC236}">
                <a16:creationId xmlns:a16="http://schemas.microsoft.com/office/drawing/2014/main" id="{F119F30C-A629-4A16-9F74-955AB2E1C7E6}"/>
              </a:ext>
            </a:extLst>
          </p:cNvPr>
          <p:cNvSpPr>
            <a:spLocks xmlns:a="http://schemas.openxmlformats.org/drawingml/2006/main" noGrp="1"/>
          </p:cNvSpPr>
          <p:nvPr/>
        </p:nvSpPr>
        <p:spPr>
          <a:xfrm xmlns:a="http://schemas.openxmlformats.org/drawingml/2006/main">
            <a:off x="2667000" y="2657475"/>
            <a:ext cx="323850" cy="152400"/>
          </a:xfrm>
          <a:prstGeom xmlns:a="http://schemas.openxmlformats.org/drawingml/2006/main" prst="rightArrow">
            <a:avLst/>
          </a:prstGeom>
          <a:solidFill xmlns:a="http://schemas.openxmlformats.org/drawingml/2006/main">
            <a:srgbClr val="64877F"/>
          </a:solidFill>
          <a:ln xmlns:a="http://schemas.openxmlformats.org/drawingml/2006/main" w="0">
            <a:noFill/>
            <a:prstDash val="solid"/>
          </a:ln>
        </p:spPr>
      </p:sp>
      <p:sp>
        <p:nvSpPr>
          <p:cNvPr id="10" name="Rounded Rectangle 9">
            <a:extLst xmlns:a="http://schemas.openxmlformats.org/drawingml/2006/main">
              <a:ext uri="{FF2B5EF4-FFF2-40B4-BE49-F238E27FC236}">
                <a16:creationId xmlns:a16="http://schemas.microsoft.com/office/drawing/2014/main" id="{36AC0D7B-619C-4644-AC48-1D112DCD874F}"/>
              </a:ext>
            </a:extLst>
          </p:cNvPr>
          <p:cNvSpPr>
            <a:spLocks xmlns:a="http://schemas.openxmlformats.org/drawingml/2006/main" noGrp="1"/>
          </p:cNvSpPr>
          <p:nvPr/>
        </p:nvSpPr>
        <p:spPr>
          <a:xfrm xmlns:a="http://schemas.openxmlformats.org/drawingml/2006/main">
            <a:off x="3105150" y="1952625"/>
            <a:ext cx="2143125" cy="1571625"/>
          </a:xfrm>
          <a:prstGeom xmlns:a="http://schemas.openxmlformats.org/drawingml/2006/main" prst="roundRect">
            <a:avLst>
              <a:gd name="adj" fmla="val 4848"/>
            </a:avLst>
          </a:prstGeom>
          <a:solidFill xmlns:a="http://schemas.openxmlformats.org/drawingml/2006/main">
            <a:srgbClr val="F1E9DB"/>
          </a:solidFill>
          <a:ln xmlns:a="http://schemas.openxmlformats.org/drawingml/2006/main" w="9525">
            <a:solidFill>
              <a:srgbClr val="CBD5DA"/>
            </a:solidFill>
            <a:prstDash val="solid"/>
          </a:ln>
        </p:spPr>
      </p:sp>
      <p:sp>
        <p:nvSpPr>
          <p:cNvPr id="11" name="Rectangle 10">
            <a:extLst xmlns:a="http://schemas.openxmlformats.org/drawingml/2006/main">
              <a:ext uri="{FF2B5EF4-FFF2-40B4-BE49-F238E27FC236}">
                <a16:creationId xmlns:a16="http://schemas.microsoft.com/office/drawing/2014/main" id="{0B4F92FF-0123-499D-9F4A-11A9B7368C99}"/>
              </a:ext>
            </a:extLst>
          </p:cNvPr>
          <p:cNvSpPr>
            <a:spLocks xmlns:a="http://schemas.openxmlformats.org/drawingml/2006/main" noGrp="1"/>
          </p:cNvSpPr>
          <p:nvPr/>
        </p:nvSpPr>
        <p:spPr>
          <a:xfrm xmlns:a="http://schemas.openxmlformats.org/drawingml/2006/main">
            <a:off x="3219450" y="2066925"/>
            <a:ext cx="19145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Join on keys</a:t>
            </a:r>
          </a:p>
        </p:txBody>
      </p:sp>
      <p:sp>
        <p:nvSpPr>
          <p:cNvPr id="12" name="Rectangle 11">
            <a:extLst xmlns:a="http://schemas.openxmlformats.org/drawingml/2006/main">
              <a:ext uri="{FF2B5EF4-FFF2-40B4-BE49-F238E27FC236}">
                <a16:creationId xmlns:a16="http://schemas.microsoft.com/office/drawing/2014/main" id="{E0D8B0AB-63D2-4016-B40B-C8973698E7C9}"/>
              </a:ext>
            </a:extLst>
          </p:cNvPr>
          <p:cNvSpPr>
            <a:spLocks xmlns:a="http://schemas.openxmlformats.org/drawingml/2006/main" noGrp="1"/>
          </p:cNvSpPr>
          <p:nvPr/>
        </p:nvSpPr>
        <p:spPr>
          <a:xfrm xmlns:a="http://schemas.openxmlformats.org/drawingml/2006/main">
            <a:off x="3238500" y="2466975"/>
            <a:ext cx="1876425"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source partition</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 stable row ID</a:t>
            </a:r>
          </a:p>
        </p:txBody>
      </p:sp>
      <p:sp>
        <p:nvSpPr>
          <p:cNvPr id="13" name="Right Arrow 12">
            <a:extLst xmlns:a="http://schemas.openxmlformats.org/drawingml/2006/main">
              <a:ext uri="{FF2B5EF4-FFF2-40B4-BE49-F238E27FC236}">
                <a16:creationId xmlns:a16="http://schemas.microsoft.com/office/drawing/2014/main" id="{056E1A37-D9D6-4E8E-ADDF-1F17F6A887B8}"/>
              </a:ext>
            </a:extLst>
          </p:cNvPr>
          <p:cNvSpPr>
            <a:spLocks xmlns:a="http://schemas.openxmlformats.org/drawingml/2006/main" noGrp="1"/>
          </p:cNvSpPr>
          <p:nvPr/>
        </p:nvSpPr>
        <p:spPr>
          <a:xfrm xmlns:a="http://schemas.openxmlformats.org/drawingml/2006/main">
            <a:off x="5353050" y="2657475"/>
            <a:ext cx="323850" cy="152400"/>
          </a:xfrm>
          <a:prstGeom xmlns:a="http://schemas.openxmlformats.org/drawingml/2006/main" prst="rightArrow">
            <a:avLst/>
          </a:prstGeom>
          <a:solidFill xmlns:a="http://schemas.openxmlformats.org/drawingml/2006/main">
            <a:srgbClr val="64877F"/>
          </a:solidFill>
          <a:ln xmlns:a="http://schemas.openxmlformats.org/drawingml/2006/main" w="0">
            <a:noFill/>
            <a:prstDash val="solid"/>
          </a:ln>
        </p:spPr>
      </p:sp>
      <p:sp>
        <p:nvSpPr>
          <p:cNvPr id="14" name="Rounded Rectangle 13">
            <a:extLst xmlns:a="http://schemas.openxmlformats.org/drawingml/2006/main">
              <a:ext uri="{FF2B5EF4-FFF2-40B4-BE49-F238E27FC236}">
                <a16:creationId xmlns:a16="http://schemas.microsoft.com/office/drawing/2014/main" id="{8C03769A-AFC1-49F9-8624-9CEBDA35A808}"/>
              </a:ext>
            </a:extLst>
          </p:cNvPr>
          <p:cNvSpPr>
            <a:spLocks xmlns:a="http://schemas.openxmlformats.org/drawingml/2006/main" noGrp="1"/>
          </p:cNvSpPr>
          <p:nvPr/>
        </p:nvSpPr>
        <p:spPr>
          <a:xfrm xmlns:a="http://schemas.openxmlformats.org/drawingml/2006/main">
            <a:off x="5791200" y="1952625"/>
            <a:ext cx="2143125" cy="1571625"/>
          </a:xfrm>
          <a:prstGeom xmlns:a="http://schemas.openxmlformats.org/drawingml/2006/main" prst="roundRect">
            <a:avLst>
              <a:gd name="adj" fmla="val 4848"/>
            </a:avLst>
          </a:prstGeom>
          <a:solidFill xmlns:a="http://schemas.openxmlformats.org/drawingml/2006/main">
            <a:srgbClr val="C7DBD1"/>
          </a:solidFill>
          <a:ln xmlns:a="http://schemas.openxmlformats.org/drawingml/2006/main" w="9525">
            <a:solidFill>
              <a:srgbClr val="CBD5DA"/>
            </a:solidFill>
            <a:prstDash val="solid"/>
          </a:ln>
        </p:spPr>
      </p:sp>
      <p:sp>
        <p:nvSpPr>
          <p:cNvPr id="15" name="Rectangle 14">
            <a:extLst xmlns:a="http://schemas.openxmlformats.org/drawingml/2006/main">
              <a:ext uri="{FF2B5EF4-FFF2-40B4-BE49-F238E27FC236}">
                <a16:creationId xmlns:a16="http://schemas.microsoft.com/office/drawing/2014/main" id="{B90AF164-2CF5-4221-B5E2-476A30DBF47C}"/>
              </a:ext>
            </a:extLst>
          </p:cNvPr>
          <p:cNvSpPr>
            <a:spLocks xmlns:a="http://schemas.openxmlformats.org/drawingml/2006/main" noGrp="1"/>
          </p:cNvSpPr>
          <p:nvPr/>
        </p:nvSpPr>
        <p:spPr>
          <a:xfrm xmlns:a="http://schemas.openxmlformats.org/drawingml/2006/main">
            <a:off x="5905500" y="2066925"/>
            <a:ext cx="19145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Validate alignment</a:t>
            </a:r>
          </a:p>
        </p:txBody>
      </p:sp>
      <p:sp>
        <p:nvSpPr>
          <p:cNvPr id="16" name="Rectangle 15">
            <a:extLst xmlns:a="http://schemas.openxmlformats.org/drawingml/2006/main">
              <a:ext uri="{FF2B5EF4-FFF2-40B4-BE49-F238E27FC236}">
                <a16:creationId xmlns:a16="http://schemas.microsoft.com/office/drawing/2014/main" id="{6A87937A-9EE1-476C-B00D-21249FBD1994}"/>
              </a:ext>
            </a:extLst>
          </p:cNvPr>
          <p:cNvSpPr>
            <a:spLocks xmlns:a="http://schemas.openxmlformats.org/drawingml/2006/main" noGrp="1"/>
          </p:cNvSpPr>
          <p:nvPr/>
        </p:nvSpPr>
        <p:spPr>
          <a:xfrm xmlns:a="http://schemas.openxmlformats.org/drawingml/2006/main">
            <a:off x="5924550" y="2466975"/>
            <a:ext cx="1876425"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row coverage</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true labels</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duplicates / gaps</a:t>
            </a:r>
          </a:p>
        </p:txBody>
      </p:sp>
      <p:sp>
        <p:nvSpPr>
          <p:cNvPr id="17" name="Right Arrow 16">
            <a:extLst xmlns:a="http://schemas.openxmlformats.org/drawingml/2006/main">
              <a:ext uri="{FF2B5EF4-FFF2-40B4-BE49-F238E27FC236}">
                <a16:creationId xmlns:a16="http://schemas.microsoft.com/office/drawing/2014/main" id="{C97866ED-2BB7-4F08-AD53-FE2330020C41}"/>
              </a:ext>
            </a:extLst>
          </p:cNvPr>
          <p:cNvSpPr>
            <a:spLocks xmlns:a="http://schemas.openxmlformats.org/drawingml/2006/main" noGrp="1"/>
          </p:cNvSpPr>
          <p:nvPr/>
        </p:nvSpPr>
        <p:spPr>
          <a:xfrm xmlns:a="http://schemas.openxmlformats.org/drawingml/2006/main">
            <a:off x="8039100" y="2657475"/>
            <a:ext cx="323850" cy="152400"/>
          </a:xfrm>
          <a:prstGeom xmlns:a="http://schemas.openxmlformats.org/drawingml/2006/main" prst="rightArrow">
            <a:avLst/>
          </a:prstGeom>
          <a:solidFill xmlns:a="http://schemas.openxmlformats.org/drawingml/2006/main">
            <a:srgbClr val="64877F"/>
          </a:solidFill>
          <a:ln xmlns:a="http://schemas.openxmlformats.org/drawingml/2006/main" w="0">
            <a:noFill/>
            <a:prstDash val="solid"/>
          </a:ln>
        </p:spPr>
      </p:sp>
      <p:sp>
        <p:nvSpPr>
          <p:cNvPr id="18" name="Rounded Rectangle 17">
            <a:extLst xmlns:a="http://schemas.openxmlformats.org/drawingml/2006/main">
              <a:ext uri="{FF2B5EF4-FFF2-40B4-BE49-F238E27FC236}">
                <a16:creationId xmlns:a16="http://schemas.microsoft.com/office/drawing/2014/main" id="{38461AAC-F44D-43BE-9D47-6A368214F058}"/>
              </a:ext>
            </a:extLst>
          </p:cNvPr>
          <p:cNvSpPr>
            <a:spLocks xmlns:a="http://schemas.openxmlformats.org/drawingml/2006/main" noGrp="1"/>
          </p:cNvSpPr>
          <p:nvPr/>
        </p:nvSpPr>
        <p:spPr>
          <a:xfrm xmlns:a="http://schemas.openxmlformats.org/drawingml/2006/main">
            <a:off x="8477250" y="1952625"/>
            <a:ext cx="3048000" cy="1571625"/>
          </a:xfrm>
          <a:prstGeom xmlns:a="http://schemas.openxmlformats.org/drawingml/2006/main" prst="roundRect">
            <a:avLst>
              <a:gd name="adj" fmla="val 4848"/>
            </a:avLst>
          </a:prstGeom>
          <a:solidFill xmlns:a="http://schemas.openxmlformats.org/drawingml/2006/main">
            <a:srgbClr val="DCE7ED"/>
          </a:solidFill>
          <a:ln xmlns:a="http://schemas.openxmlformats.org/drawingml/2006/main" w="9525">
            <a:solidFill>
              <a:srgbClr val="CBD5DA"/>
            </a:solidFill>
            <a:prstDash val="solid"/>
          </a:ln>
        </p:spPr>
      </p:sp>
      <p:sp>
        <p:nvSpPr>
          <p:cNvPr id="19" name="Rectangle 18">
            <a:extLst xmlns:a="http://schemas.openxmlformats.org/drawingml/2006/main">
              <a:ext uri="{FF2B5EF4-FFF2-40B4-BE49-F238E27FC236}">
                <a16:creationId xmlns:a16="http://schemas.microsoft.com/office/drawing/2014/main" id="{050F47E2-3588-455B-A47C-C538D7210D81}"/>
              </a:ext>
            </a:extLst>
          </p:cNvPr>
          <p:cNvSpPr>
            <a:spLocks xmlns:a="http://schemas.openxmlformats.org/drawingml/2006/main" noGrp="1"/>
          </p:cNvSpPr>
          <p:nvPr/>
        </p:nvSpPr>
        <p:spPr>
          <a:xfrm xmlns:a="http://schemas.openxmlformats.org/drawingml/2006/main">
            <a:off x="8591550" y="2066925"/>
            <a:ext cx="2819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500" b="1">
                <a:solidFill>
                  <a:srgbClr val="243A50"/>
                </a:solidFill>
                <a:latin typeface="Helvetica Neue"/>
                <a:ea typeface="Helvetica Neue"/>
                <a:cs typeface="Helvetica Neue"/>
              </a:defRPr>
            </a:defPPr>
            <a:lvl1pPr algn="ctr">
              <a:buNone/>
              <a:defRPr sz="1500" b="1">
                <a:solidFill>
                  <a:srgbClr val="243A50"/>
                </a:solidFill>
                <a:latin typeface="Helvetica Neue"/>
                <a:ea typeface="Helvetica Neue"/>
                <a:cs typeface="Helvetica Neue"/>
              </a:defRPr>
            </a:lvl1pPr>
            <a:lvl2pPr algn="ctr">
              <a:buNone/>
              <a:defRPr sz="1500" b="1">
                <a:solidFill>
                  <a:srgbClr val="243A50"/>
                </a:solidFill>
                <a:latin typeface="Helvetica Neue"/>
                <a:ea typeface="Helvetica Neue"/>
                <a:cs typeface="Helvetica Neue"/>
              </a:defRPr>
            </a:lvl2pPr>
            <a:lvl3pPr algn="ctr">
              <a:buNone/>
              <a:defRPr sz="1500" b="1">
                <a:solidFill>
                  <a:srgbClr val="243A50"/>
                </a:solidFill>
                <a:latin typeface="Helvetica Neue"/>
                <a:ea typeface="Helvetica Neue"/>
                <a:cs typeface="Helvetica Neue"/>
              </a:defRPr>
            </a:lvl3pPr>
            <a:lvl4pPr algn="ctr">
              <a:buNone/>
              <a:defRPr sz="1500" b="1">
                <a:solidFill>
                  <a:srgbClr val="243A50"/>
                </a:solidFill>
                <a:latin typeface="Helvetica Neue"/>
                <a:ea typeface="Helvetica Neue"/>
                <a:cs typeface="Helvetica Neue"/>
              </a:defRPr>
            </a:lvl4pPr>
            <a:lvl5pPr algn="ctr">
              <a:buNone/>
              <a:defRPr sz="1500" b="1">
                <a:solidFill>
                  <a:srgbClr val="243A50"/>
                </a:solidFill>
                <a:latin typeface="Helvetica Neue"/>
                <a:ea typeface="Helvetica Neue"/>
                <a:cs typeface="Helvetica Neue"/>
              </a:defRPr>
            </a:lvl5pPr>
            <a:lvl6pPr algn="ctr">
              <a:buNone/>
              <a:defRPr sz="1500" b="1">
                <a:solidFill>
                  <a:srgbClr val="243A50"/>
                </a:solidFill>
                <a:latin typeface="Helvetica Neue"/>
                <a:ea typeface="Helvetica Neue"/>
                <a:cs typeface="Helvetica Neue"/>
              </a:defRPr>
            </a:lvl6pPr>
            <a:lvl7pPr algn="ctr">
              <a:buNone/>
              <a:defRPr sz="1500" b="1">
                <a:solidFill>
                  <a:srgbClr val="243A50"/>
                </a:solidFill>
                <a:latin typeface="Helvetica Neue"/>
                <a:ea typeface="Helvetica Neue"/>
                <a:cs typeface="Helvetica Neue"/>
              </a:defRPr>
            </a:lvl7pPr>
            <a:lvl8pPr algn="ctr">
              <a:buNone/>
              <a:defRPr sz="1500" b="1">
                <a:solidFill>
                  <a:srgbClr val="243A50"/>
                </a:solidFill>
                <a:latin typeface="Helvetica Neue"/>
                <a:ea typeface="Helvetica Neue"/>
                <a:cs typeface="Helvetica Neue"/>
              </a:defRPr>
            </a:lvl8pPr>
            <a:lvl9pPr algn="ctr">
              <a:buNone/>
              <a:defRPr sz="1500" b="1">
                <a:solidFill>
                  <a:srgbClr val="243A50"/>
                </a:solidFill>
                <a:latin typeface="Helvetica Neue"/>
                <a:ea typeface="Helvetica Neue"/>
                <a:cs typeface="Helvetica Neue"/>
              </a:defRPr>
            </a:lvl9pPr>
          </a:lstStyle>
          <a:p xmlns:a="http://schemas.openxmlformats.org/drawingml/2006/main">
            <a:pPr algn="ctr">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Integrated evaluation</a:t>
            </a:r>
          </a:p>
        </p:txBody>
      </p:sp>
      <p:sp>
        <p:nvSpPr>
          <p:cNvPr id="20" name="Rectangle 19">
            <a:extLst xmlns:a="http://schemas.openxmlformats.org/drawingml/2006/main">
              <a:ext uri="{FF2B5EF4-FFF2-40B4-BE49-F238E27FC236}">
                <a16:creationId xmlns:a16="http://schemas.microsoft.com/office/drawing/2014/main" id="{857643C6-7FA7-4F61-9526-23A336CF1D24}"/>
              </a:ext>
            </a:extLst>
          </p:cNvPr>
          <p:cNvSpPr>
            <a:spLocks xmlns:a="http://schemas.openxmlformats.org/drawingml/2006/main" noGrp="1"/>
          </p:cNvSpPr>
          <p:nvPr/>
        </p:nvSpPr>
        <p:spPr>
          <a:xfrm xmlns:a="http://schemas.openxmlformats.org/drawingml/2006/main">
            <a:off x="8610600" y="2466975"/>
            <a:ext cx="27813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200" b="0">
                <a:solidFill>
                  <a:srgbClr val="33485D"/>
                </a:solidFill>
                <a:latin typeface="Helvetica Neue"/>
                <a:ea typeface="Helvetica Neue"/>
                <a:cs typeface="Helvetica Neue"/>
              </a:defRPr>
            </a:defPPr>
            <a:lvl1pPr algn="ctr">
              <a:buNone/>
              <a:defRPr sz="1200" b="0">
                <a:solidFill>
                  <a:srgbClr val="33485D"/>
                </a:solidFill>
                <a:latin typeface="Helvetica Neue"/>
                <a:ea typeface="Helvetica Neue"/>
                <a:cs typeface="Helvetica Neue"/>
              </a:defRPr>
            </a:lvl1pPr>
            <a:lvl2pPr algn="ctr">
              <a:buNone/>
              <a:defRPr sz="1200" b="0">
                <a:solidFill>
                  <a:srgbClr val="33485D"/>
                </a:solidFill>
                <a:latin typeface="Helvetica Neue"/>
                <a:ea typeface="Helvetica Neue"/>
                <a:cs typeface="Helvetica Neue"/>
              </a:defRPr>
            </a:lvl2pPr>
            <a:lvl3pPr algn="ctr">
              <a:buNone/>
              <a:defRPr sz="1200" b="0">
                <a:solidFill>
                  <a:srgbClr val="33485D"/>
                </a:solidFill>
                <a:latin typeface="Helvetica Neue"/>
                <a:ea typeface="Helvetica Neue"/>
                <a:cs typeface="Helvetica Neue"/>
              </a:defRPr>
            </a:lvl3pPr>
            <a:lvl4pPr algn="ctr">
              <a:buNone/>
              <a:defRPr sz="1200" b="0">
                <a:solidFill>
                  <a:srgbClr val="33485D"/>
                </a:solidFill>
                <a:latin typeface="Helvetica Neue"/>
                <a:ea typeface="Helvetica Neue"/>
                <a:cs typeface="Helvetica Neue"/>
              </a:defRPr>
            </a:lvl4pPr>
            <a:lvl5pPr algn="ctr">
              <a:buNone/>
              <a:defRPr sz="1200" b="0">
                <a:solidFill>
                  <a:srgbClr val="33485D"/>
                </a:solidFill>
                <a:latin typeface="Helvetica Neue"/>
                <a:ea typeface="Helvetica Neue"/>
                <a:cs typeface="Helvetica Neue"/>
              </a:defRPr>
            </a:lvl5pPr>
            <a:lvl6pPr algn="ctr">
              <a:buNone/>
              <a:defRPr sz="1200" b="0">
                <a:solidFill>
                  <a:srgbClr val="33485D"/>
                </a:solidFill>
                <a:latin typeface="Helvetica Neue"/>
                <a:ea typeface="Helvetica Neue"/>
                <a:cs typeface="Helvetica Neue"/>
              </a:defRPr>
            </a:lvl6pPr>
            <a:lvl7pPr algn="ctr">
              <a:buNone/>
              <a:defRPr sz="1200" b="0">
                <a:solidFill>
                  <a:srgbClr val="33485D"/>
                </a:solidFill>
                <a:latin typeface="Helvetica Neue"/>
                <a:ea typeface="Helvetica Neue"/>
                <a:cs typeface="Helvetica Neue"/>
              </a:defRPr>
            </a:lvl7pPr>
            <a:lvl8pPr algn="ctr">
              <a:buNone/>
              <a:defRPr sz="1200" b="0">
                <a:solidFill>
                  <a:srgbClr val="33485D"/>
                </a:solidFill>
                <a:latin typeface="Helvetica Neue"/>
                <a:ea typeface="Helvetica Neue"/>
                <a:cs typeface="Helvetica Neue"/>
              </a:defRPr>
            </a:lvl8pPr>
            <a:lvl9pPr algn="ctr">
              <a:buNone/>
              <a:defRPr sz="1200" b="0">
                <a:solidFill>
                  <a:srgbClr val="33485D"/>
                </a:solidFill>
                <a:latin typeface="Helvetica Neue"/>
                <a:ea typeface="Helvetica Neue"/>
                <a:cs typeface="Helvetica Neue"/>
              </a:defRPr>
            </a:lvl9pPr>
          </a:lstStyle>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task metrics</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confusion matrices</a:t>
            </a:r>
          </a:p>
          <a:p xmlns:a="http://schemas.openxmlformats.org/drawingml/2006/main">
            <a:pPr algn="ctr">
              <a:buNone/>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hierarchical coordinate error</a:t>
            </a:r>
          </a:p>
        </p:txBody>
      </p:sp>
      <p:sp>
        <p:nvSpPr>
          <p:cNvPr id="21" name="Rectangle 20">
            <a:extLst xmlns:a="http://schemas.openxmlformats.org/drawingml/2006/main">
              <a:ext uri="{FF2B5EF4-FFF2-40B4-BE49-F238E27FC236}">
                <a16:creationId xmlns:a16="http://schemas.microsoft.com/office/drawing/2014/main" id="{6DCDA64F-65A9-4AA4-BF6F-9142615A5A5B}"/>
              </a:ext>
            </a:extLst>
          </p:cNvPr>
          <p:cNvSpPr>
            <a:spLocks xmlns:a="http://schemas.openxmlformats.org/drawingml/2006/main" noGrp="1"/>
          </p:cNvSpPr>
          <p:nvPr/>
        </p:nvSpPr>
        <p:spPr>
          <a:xfrm xmlns:a="http://schemas.openxmlformats.org/drawingml/2006/main">
            <a:off x="742950" y="441007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75" b="1">
                <a:solidFill>
                  <a:srgbClr val="243A50"/>
                </a:solidFill>
                <a:latin typeface="Helvetica Neue"/>
                <a:ea typeface="Helvetica Neue"/>
                <a:cs typeface="Helvetica Neue"/>
              </a:defRPr>
            </a:defPPr>
            <a:lvl1pPr algn="l">
              <a:buNone/>
              <a:defRPr sz="1575" b="1">
                <a:solidFill>
                  <a:srgbClr val="243A50"/>
                </a:solidFill>
                <a:latin typeface="Helvetica Neue"/>
                <a:ea typeface="Helvetica Neue"/>
                <a:cs typeface="Helvetica Neue"/>
              </a:defRPr>
            </a:lvl1pPr>
            <a:lvl2pPr algn="l">
              <a:buNone/>
              <a:defRPr sz="1575" b="1">
                <a:solidFill>
                  <a:srgbClr val="243A50"/>
                </a:solidFill>
                <a:latin typeface="Helvetica Neue"/>
                <a:ea typeface="Helvetica Neue"/>
                <a:cs typeface="Helvetica Neue"/>
              </a:defRPr>
            </a:lvl2pPr>
            <a:lvl3pPr algn="l">
              <a:buNone/>
              <a:defRPr sz="1575" b="1">
                <a:solidFill>
                  <a:srgbClr val="243A50"/>
                </a:solidFill>
                <a:latin typeface="Helvetica Neue"/>
                <a:ea typeface="Helvetica Neue"/>
                <a:cs typeface="Helvetica Neue"/>
              </a:defRPr>
            </a:lvl3pPr>
            <a:lvl4pPr algn="l">
              <a:buNone/>
              <a:defRPr sz="1575" b="1">
                <a:solidFill>
                  <a:srgbClr val="243A50"/>
                </a:solidFill>
                <a:latin typeface="Helvetica Neue"/>
                <a:ea typeface="Helvetica Neue"/>
                <a:cs typeface="Helvetica Neue"/>
              </a:defRPr>
            </a:lvl4pPr>
            <a:lvl5pPr algn="l">
              <a:buNone/>
              <a:defRPr sz="1575" b="1">
                <a:solidFill>
                  <a:srgbClr val="243A50"/>
                </a:solidFill>
                <a:latin typeface="Helvetica Neue"/>
                <a:ea typeface="Helvetica Neue"/>
                <a:cs typeface="Helvetica Neue"/>
              </a:defRPr>
            </a:lvl5pPr>
            <a:lvl6pPr algn="l">
              <a:buNone/>
              <a:defRPr sz="1575" b="1">
                <a:solidFill>
                  <a:srgbClr val="243A50"/>
                </a:solidFill>
                <a:latin typeface="Helvetica Neue"/>
                <a:ea typeface="Helvetica Neue"/>
                <a:cs typeface="Helvetica Neue"/>
              </a:defRPr>
            </a:lvl6pPr>
            <a:lvl7pPr algn="l">
              <a:buNone/>
              <a:defRPr sz="1575" b="1">
                <a:solidFill>
                  <a:srgbClr val="243A50"/>
                </a:solidFill>
                <a:latin typeface="Helvetica Neue"/>
                <a:ea typeface="Helvetica Neue"/>
                <a:cs typeface="Helvetica Neue"/>
              </a:defRPr>
            </a:lvl7pPr>
            <a:lvl8pPr algn="l">
              <a:buNone/>
              <a:defRPr sz="1575" b="1">
                <a:solidFill>
                  <a:srgbClr val="243A50"/>
                </a:solidFill>
                <a:latin typeface="Helvetica Neue"/>
                <a:ea typeface="Helvetica Neue"/>
                <a:cs typeface="Helvetica Neue"/>
              </a:defRPr>
            </a:lvl8pPr>
            <a:lvl9pPr algn="l">
              <a:buNone/>
              <a:defRPr sz="1575" b="1">
                <a:solidFill>
                  <a:srgbClr val="243A50"/>
                </a:solidFill>
                <a:latin typeface="Helvetica Neue"/>
                <a:ea typeface="Helvetica Neue"/>
                <a:cs typeface="Helvetica Neue"/>
              </a:defRPr>
            </a:lvl9pPr>
          </a:lstStyle>
          <a:p xmlns:a="http://schemas.openxmlformats.org/drawingml/2006/main">
            <a:pPr algn="l">
              <a:buNone/>
              <a:defRPr sz="1575" b="1">
                <a:solidFill>
                  <a:srgbClr val="243A50"/>
                </a:solidFill>
                <a:latin typeface="Helvetica Neue"/>
                <a:ea typeface="Helvetica Neue"/>
                <a:cs typeface="Helvetica Neue"/>
              </a:defRPr>
            </a:pPr>
            <a:r>
              <a:rPr sz="1575" b="1">
                <a:solidFill>
                  <a:srgbClr val="243A50"/>
                </a:solidFill>
                <a:latin typeface="Helvetica Neue"/>
                <a:ea typeface="Helvetica Neue"/>
                <a:cs typeface="Helvetica Neue"/>
              </a:rPr>
              <a:t>This step confirms every result refers to the same held-out observation.</a:t>
            </a:r>
          </a:p>
        </p:txBody>
      </p:sp>
      <p:sp>
        <p:nvSpPr>
          <p:cNvPr id="22" name="Rectangle 21">
            <a:extLst xmlns:a="http://schemas.openxmlformats.org/drawingml/2006/main">
              <a:ext uri="{FF2B5EF4-FFF2-40B4-BE49-F238E27FC236}">
                <a16:creationId xmlns:a16="http://schemas.microsoft.com/office/drawing/2014/main" id="{9B23C9F5-EF82-4A61-9ADE-C2398500BF4A}"/>
              </a:ext>
            </a:extLst>
          </p:cNvPr>
          <p:cNvSpPr>
            <a:spLocks xmlns:a="http://schemas.openxmlformats.org/drawingml/2006/main" noGrp="1"/>
          </p:cNvSpPr>
          <p:nvPr/>
        </p:nvSpPr>
        <p:spPr>
          <a:xfrm xmlns:a="http://schemas.openxmlformats.org/drawingml/2006/main">
            <a:off x="742950" y="495300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33485D"/>
                </a:solidFill>
                <a:latin typeface="Helvetica Neue"/>
                <a:ea typeface="Helvetica Neue"/>
                <a:cs typeface="Helvetica Neue"/>
              </a:defRPr>
            </a:defPPr>
            <a:lvl1pPr algn="l">
              <a:buNone/>
              <a:defRPr sz="1350" b="0">
                <a:solidFill>
                  <a:srgbClr val="33485D"/>
                </a:solidFill>
                <a:latin typeface="Helvetica Neue"/>
                <a:ea typeface="Helvetica Neue"/>
                <a:cs typeface="Helvetica Neue"/>
              </a:defRPr>
            </a:lvl1pPr>
            <a:lvl2pPr algn="l">
              <a:buNone/>
              <a:defRPr sz="1350" b="0">
                <a:solidFill>
                  <a:srgbClr val="33485D"/>
                </a:solidFill>
                <a:latin typeface="Helvetica Neue"/>
                <a:ea typeface="Helvetica Neue"/>
                <a:cs typeface="Helvetica Neue"/>
              </a:defRPr>
            </a:lvl2pPr>
            <a:lvl3pPr algn="l">
              <a:buNone/>
              <a:defRPr sz="1350" b="0">
                <a:solidFill>
                  <a:srgbClr val="33485D"/>
                </a:solidFill>
                <a:latin typeface="Helvetica Neue"/>
                <a:ea typeface="Helvetica Neue"/>
                <a:cs typeface="Helvetica Neue"/>
              </a:defRPr>
            </a:lvl3pPr>
            <a:lvl4pPr algn="l">
              <a:buNone/>
              <a:defRPr sz="1350" b="0">
                <a:solidFill>
                  <a:srgbClr val="33485D"/>
                </a:solidFill>
                <a:latin typeface="Helvetica Neue"/>
                <a:ea typeface="Helvetica Neue"/>
                <a:cs typeface="Helvetica Neue"/>
              </a:defRPr>
            </a:lvl4pPr>
            <a:lvl5pPr algn="l">
              <a:buNone/>
              <a:defRPr sz="1350" b="0">
                <a:solidFill>
                  <a:srgbClr val="33485D"/>
                </a:solidFill>
                <a:latin typeface="Helvetica Neue"/>
                <a:ea typeface="Helvetica Neue"/>
                <a:cs typeface="Helvetica Neue"/>
              </a:defRPr>
            </a:lvl5pPr>
            <a:lvl6pPr algn="l">
              <a:buNone/>
              <a:defRPr sz="1350" b="0">
                <a:solidFill>
                  <a:srgbClr val="33485D"/>
                </a:solidFill>
                <a:latin typeface="Helvetica Neue"/>
                <a:ea typeface="Helvetica Neue"/>
                <a:cs typeface="Helvetica Neue"/>
              </a:defRPr>
            </a:lvl6pPr>
            <a:lvl7pPr algn="l">
              <a:buNone/>
              <a:defRPr sz="1350" b="0">
                <a:solidFill>
                  <a:srgbClr val="33485D"/>
                </a:solidFill>
                <a:latin typeface="Helvetica Neue"/>
                <a:ea typeface="Helvetica Neue"/>
                <a:cs typeface="Helvetica Neue"/>
              </a:defRPr>
            </a:lvl7pPr>
            <a:lvl8pPr algn="l">
              <a:buNone/>
              <a:defRPr sz="1350" b="0">
                <a:solidFill>
                  <a:srgbClr val="33485D"/>
                </a:solidFill>
                <a:latin typeface="Helvetica Neue"/>
                <a:ea typeface="Helvetica Neue"/>
                <a:cs typeface="Helvetica Neue"/>
              </a:defRPr>
            </a:lvl8pPr>
            <a:lvl9pPr algn="l">
              <a:buNone/>
              <a:defRPr sz="1350" b="0">
                <a:solidFill>
                  <a:srgbClr val="33485D"/>
                </a:solidFill>
                <a:latin typeface="Helvetica Neue"/>
                <a:ea typeface="Helvetica Neue"/>
                <a:cs typeface="Helvetica Neue"/>
              </a:defRPr>
            </a:lvl9pPr>
          </a:lstStyle>
          <a:p xmlns:a="http://schemas.openxmlformats.org/drawingml/2006/main">
            <a:pPr algn="l">
              <a:buNone/>
              <a:defRPr sz="1350" b="0">
                <a:solidFill>
                  <a:srgbClr val="33485D"/>
                </a:solidFill>
                <a:latin typeface="Helvetica Neue"/>
                <a:ea typeface="Helvetica Neue"/>
                <a:cs typeface="Helvetica Neue"/>
              </a:defRPr>
            </a:pPr>
            <a:r>
              <a:rPr sz="1350" b="0">
                <a:solidFill>
                  <a:srgbClr val="33485D"/>
                </a:solidFill>
                <a:latin typeface="Helvetica Neue"/>
                <a:ea typeface="Helvetica Neue"/>
                <a:cs typeface="Helvetica Neue"/>
              </a:rPr>
              <a:t>Groups: both classes correct · building correct / floor wrong · building wrong / floor correct · both wrong</a:t>
            </a:r>
          </a:p>
        </p:txBody>
      </p:sp>
    </p:spTree>
    <p:extLst>
      <p:ext uri="{BB962C8B-B14F-4D97-AF65-F5344CB8AC3E}">
        <p14:creationId xmlns:p14="http://schemas.microsoft.com/office/powerpoint/2010/main" val="947383823"/>
      </p:ext>
    </p:extLst>
  </p:cSld>
</p:sld>
</file>

<file path=ppt/slides/slide18.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3" name="Rectangle 12">
            <a:extLst xmlns:a="http://schemas.openxmlformats.org/drawingml/2006/main">
              <a:ext uri="{FF2B5EF4-FFF2-40B4-BE49-F238E27FC236}">
                <a16:creationId xmlns:a16="http://schemas.microsoft.com/office/drawing/2014/main" id="{8EE0B640-2E24-4267-957A-51ADDC7D8DCD}"/>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C7DBD1"/>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A26AFD51-9CD8-4EED-92C3-57FB77294A01}"/>
              </a:ext>
            </a:extLst>
          </p:cNvPr>
          <p:cNvSpPr>
            <a:spLocks xmlns:a="http://schemas.openxmlformats.org/drawingml/2006/main" noGrp="1"/>
          </p:cNvSpPr>
          <p:nvPr/>
        </p:nvSpPr>
        <p:spPr>
          <a:xfrm xmlns:a="http://schemas.openxmlformats.org/drawingml/2006/main">
            <a:off x="609600" y="37147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625" b="1">
                <a:solidFill>
                  <a:srgbClr val="243A50"/>
                </a:solidFill>
                <a:latin typeface="Helvetica Neue"/>
                <a:ea typeface="Helvetica Neue"/>
                <a:cs typeface="Helvetica Neue"/>
              </a:defRPr>
            </a:defPPr>
            <a:lvl1pPr algn="l">
              <a:buNone/>
              <a:defRPr sz="2625" b="1">
                <a:solidFill>
                  <a:srgbClr val="243A50"/>
                </a:solidFill>
                <a:latin typeface="Helvetica Neue"/>
                <a:ea typeface="Helvetica Neue"/>
                <a:cs typeface="Helvetica Neue"/>
              </a:defRPr>
            </a:lvl1pPr>
            <a:lvl2pPr algn="l">
              <a:buNone/>
              <a:defRPr sz="2625" b="1">
                <a:solidFill>
                  <a:srgbClr val="243A50"/>
                </a:solidFill>
                <a:latin typeface="Helvetica Neue"/>
                <a:ea typeface="Helvetica Neue"/>
                <a:cs typeface="Helvetica Neue"/>
              </a:defRPr>
            </a:lvl2pPr>
            <a:lvl3pPr algn="l">
              <a:buNone/>
              <a:defRPr sz="2625" b="1">
                <a:solidFill>
                  <a:srgbClr val="243A50"/>
                </a:solidFill>
                <a:latin typeface="Helvetica Neue"/>
                <a:ea typeface="Helvetica Neue"/>
                <a:cs typeface="Helvetica Neue"/>
              </a:defRPr>
            </a:lvl3pPr>
            <a:lvl4pPr algn="l">
              <a:buNone/>
              <a:defRPr sz="2625" b="1">
                <a:solidFill>
                  <a:srgbClr val="243A50"/>
                </a:solidFill>
                <a:latin typeface="Helvetica Neue"/>
                <a:ea typeface="Helvetica Neue"/>
                <a:cs typeface="Helvetica Neue"/>
              </a:defRPr>
            </a:lvl4pPr>
            <a:lvl5pPr algn="l">
              <a:buNone/>
              <a:defRPr sz="2625" b="1">
                <a:solidFill>
                  <a:srgbClr val="243A50"/>
                </a:solidFill>
                <a:latin typeface="Helvetica Neue"/>
                <a:ea typeface="Helvetica Neue"/>
                <a:cs typeface="Helvetica Neue"/>
              </a:defRPr>
            </a:lvl5pPr>
            <a:lvl6pPr algn="l">
              <a:buNone/>
              <a:defRPr sz="2625" b="1">
                <a:solidFill>
                  <a:srgbClr val="243A50"/>
                </a:solidFill>
                <a:latin typeface="Helvetica Neue"/>
                <a:ea typeface="Helvetica Neue"/>
                <a:cs typeface="Helvetica Neue"/>
              </a:defRPr>
            </a:lvl6pPr>
            <a:lvl7pPr algn="l">
              <a:buNone/>
              <a:defRPr sz="2625" b="1">
                <a:solidFill>
                  <a:srgbClr val="243A50"/>
                </a:solidFill>
                <a:latin typeface="Helvetica Neue"/>
                <a:ea typeface="Helvetica Neue"/>
                <a:cs typeface="Helvetica Neue"/>
              </a:defRPr>
            </a:lvl7pPr>
            <a:lvl8pPr algn="l">
              <a:buNone/>
              <a:defRPr sz="2625" b="1">
                <a:solidFill>
                  <a:srgbClr val="243A50"/>
                </a:solidFill>
                <a:latin typeface="Helvetica Neue"/>
                <a:ea typeface="Helvetica Neue"/>
                <a:cs typeface="Helvetica Neue"/>
              </a:defRPr>
            </a:lvl8pPr>
            <a:lvl9pPr algn="l">
              <a:buNone/>
              <a:defRPr sz="2625" b="1">
                <a:solidFill>
                  <a:srgbClr val="243A50"/>
                </a:solidFill>
                <a:latin typeface="Helvetica Neue"/>
                <a:ea typeface="Helvetica Neue"/>
                <a:cs typeface="Helvetica Neue"/>
              </a:defRPr>
            </a:lvl9pPr>
          </a:lstStyle>
          <a:p xmlns:a="http://schemas.openxmlformats.org/drawingml/2006/main">
            <a:pPr algn="l">
              <a:buNone/>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5 · Integrated held-out metrics</a:t>
            </a:r>
          </a:p>
        </p:txBody>
      </p:sp>
      <p:sp>
        <p:nvSpPr>
          <p:cNvPr id="3" name="Rectangle 2">
            <a:extLst xmlns:a="http://schemas.openxmlformats.org/drawingml/2006/main">
              <a:ext uri="{FF2B5EF4-FFF2-40B4-BE49-F238E27FC236}">
                <a16:creationId xmlns:a16="http://schemas.microsoft.com/office/drawing/2014/main" id="{D5FE5797-71EA-4293-8EF5-856D68A09A80}"/>
              </a:ext>
            </a:extLst>
          </p:cNvPr>
          <p:cNvSpPr>
            <a:spLocks xmlns:a="http://schemas.openxmlformats.org/drawingml/2006/main" noGrp="1"/>
          </p:cNvSpPr>
          <p:nvPr/>
        </p:nvSpPr>
        <p:spPr>
          <a:xfrm xmlns:a="http://schemas.openxmlformats.org/drawingml/2006/main">
            <a:off x="628650" y="904875"/>
            <a:ext cx="10839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Classification accuracy and coordinate error use different scales and meanings.</a:t>
            </a:r>
          </a:p>
        </p:txBody>
      </p:sp>
      <p:sp>
        <p:nvSpPr>
          <p:cNvPr id="4" name="Straight Connector 3">
            <a:extLst xmlns:a="http://schemas.openxmlformats.org/drawingml/2006/main">
              <a:ext uri="{FF2B5EF4-FFF2-40B4-BE49-F238E27FC236}">
                <a16:creationId xmlns:a16="http://schemas.microsoft.com/office/drawing/2014/main" id="{FDD0676E-0B3B-4069-BD6D-B6129B5DCEB5}"/>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BD5DA"/>
            </a:solidFill>
            <a:prstDash val="solid"/>
          </a:ln>
        </p:spPr>
      </p:sp>
      <p:sp>
        <p:nvSpPr>
          <p:cNvPr id="5" name="Rectangle 4">
            <a:extLst xmlns:a="http://schemas.openxmlformats.org/drawingml/2006/main">
              <a:ext uri="{FF2B5EF4-FFF2-40B4-BE49-F238E27FC236}">
                <a16:creationId xmlns:a16="http://schemas.microsoft.com/office/drawing/2014/main" id="{F52EA584-A18A-4327-837C-52226D1806C9}"/>
              </a:ext>
            </a:extLst>
          </p:cNvPr>
          <p:cNvSpPr>
            <a:spLocks xmlns:a="http://schemas.openxmlformats.org/drawingml/2006/main" noGrp="1"/>
          </p:cNvSpPr>
          <p:nvPr/>
        </p:nvSpPr>
        <p:spPr>
          <a:xfrm xmlns:a="http://schemas.openxmlformats.org/drawingml/2006/main">
            <a:off x="609600" y="64770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900" b="0">
                <a:solidFill>
                  <a:srgbClr val="63788A"/>
                </a:solidFill>
                <a:latin typeface="Helvetica Neue"/>
                <a:ea typeface="Helvetica Neue"/>
                <a:cs typeface="Helvetica Neue"/>
              </a:defRPr>
            </a:defPPr>
            <a:lvl1pPr algn="r">
              <a:buNone/>
              <a:defRPr sz="900" b="0">
                <a:solidFill>
                  <a:srgbClr val="63788A"/>
                </a:solidFill>
                <a:latin typeface="Helvetica Neue"/>
                <a:ea typeface="Helvetica Neue"/>
                <a:cs typeface="Helvetica Neue"/>
              </a:defRPr>
            </a:lvl1pPr>
            <a:lvl2pPr algn="r">
              <a:buNone/>
              <a:defRPr sz="900" b="0">
                <a:solidFill>
                  <a:srgbClr val="63788A"/>
                </a:solidFill>
                <a:latin typeface="Helvetica Neue"/>
                <a:ea typeface="Helvetica Neue"/>
                <a:cs typeface="Helvetica Neue"/>
              </a:defRPr>
            </a:lvl2pPr>
            <a:lvl3pPr algn="r">
              <a:buNone/>
              <a:defRPr sz="900" b="0">
                <a:solidFill>
                  <a:srgbClr val="63788A"/>
                </a:solidFill>
                <a:latin typeface="Helvetica Neue"/>
                <a:ea typeface="Helvetica Neue"/>
                <a:cs typeface="Helvetica Neue"/>
              </a:defRPr>
            </a:lvl3pPr>
            <a:lvl4pPr algn="r">
              <a:buNone/>
              <a:defRPr sz="900" b="0">
                <a:solidFill>
                  <a:srgbClr val="63788A"/>
                </a:solidFill>
                <a:latin typeface="Helvetica Neue"/>
                <a:ea typeface="Helvetica Neue"/>
                <a:cs typeface="Helvetica Neue"/>
              </a:defRPr>
            </a:lvl4pPr>
            <a:lvl5pPr algn="r">
              <a:buNone/>
              <a:defRPr sz="900" b="0">
                <a:solidFill>
                  <a:srgbClr val="63788A"/>
                </a:solidFill>
                <a:latin typeface="Helvetica Neue"/>
                <a:ea typeface="Helvetica Neue"/>
                <a:cs typeface="Helvetica Neue"/>
              </a:defRPr>
            </a:lvl5pPr>
            <a:lvl6pPr algn="r">
              <a:buNone/>
              <a:defRPr sz="900" b="0">
                <a:solidFill>
                  <a:srgbClr val="63788A"/>
                </a:solidFill>
                <a:latin typeface="Helvetica Neue"/>
                <a:ea typeface="Helvetica Neue"/>
                <a:cs typeface="Helvetica Neue"/>
              </a:defRPr>
            </a:lvl6pPr>
            <a:lvl7pPr algn="r">
              <a:buNone/>
              <a:defRPr sz="900" b="0">
                <a:solidFill>
                  <a:srgbClr val="63788A"/>
                </a:solidFill>
                <a:latin typeface="Helvetica Neue"/>
                <a:ea typeface="Helvetica Neue"/>
                <a:cs typeface="Helvetica Neue"/>
              </a:defRPr>
            </a:lvl7pPr>
            <a:lvl8pPr algn="r">
              <a:buNone/>
              <a:defRPr sz="900" b="0">
                <a:solidFill>
                  <a:srgbClr val="63788A"/>
                </a:solidFill>
                <a:latin typeface="Helvetica Neue"/>
                <a:ea typeface="Helvetica Neue"/>
                <a:cs typeface="Helvetica Neue"/>
              </a:defRPr>
            </a:lvl8pPr>
            <a:lvl9pPr algn="r">
              <a:buNone/>
              <a:defRPr sz="900" b="0">
                <a:solidFill>
                  <a:srgbClr val="63788A"/>
                </a:solidFill>
                <a:latin typeface="Helvetica Neue"/>
                <a:ea typeface="Helvetica Neue"/>
                <a:cs typeface="Helvetica Neue"/>
              </a:defRPr>
            </a:lvl9pPr>
          </a:lstStyle>
          <a:p xmlns:a="http://schemas.openxmlformats.org/drawingml/2006/main">
            <a:pPr algn="r">
              <a:buNone/>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18</a:t>
            </a:r>
          </a:p>
        </p:txBody>
      </p:sp>
      <p:pic>
        <p:nvPicPr>
          <p:cNvPr id="6" name="Picture 5">
            <a:extLst xmlns:a="http://schemas.openxmlformats.org/drawingml/2006/main">
              <a:ext uri="{FF2B5EF4-FFF2-40B4-BE49-F238E27FC236}">
                <a16:creationId xmlns:a16="http://schemas.microsoft.com/office/drawing/2014/main" id="{7FC747A9-6B45-4770-B372-FC7D78CA381C}"/>
              </a:ext>
            </a:extLst>
          </p:cNvPr>
          <p:cNvPicPr>
            <a:picLocks xmlns:a="http://schemas.openxmlformats.org/drawingml/2006/main" noChangeAspect="1"/>
          </p:cNvPicPr>
          <p:nvPr/>
        </p:nvPicPr>
        <p:blipFill>
          <a:blip xmlns:r="http://schemas.openxmlformats.org/officeDocument/2006/relationships" xmlns:a="http://schemas.openxmlformats.org/drawingml/2006/main" r:embed="R29e2ddb260bf458f"/>
          <a:stretch xmlns:a="http://schemas.openxmlformats.org/drawingml/2006/main"/>
        </p:blipFill>
        <p:spPr>
          <a:xfrm xmlns:a="http://schemas.openxmlformats.org/drawingml/2006/main">
            <a:off x="495300" y="2145188"/>
            <a:ext cx="8096250" cy="299625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C3830BBF-A84D-4996-8ABD-3DB4A4274BB5}"/>
              </a:ext>
            </a:extLst>
          </p:cNvPr>
          <p:cNvSpPr>
            <a:spLocks xmlns:a="http://schemas.openxmlformats.org/drawingml/2006/main" noGrp="1"/>
          </p:cNvSpPr>
          <p:nvPr/>
        </p:nvSpPr>
        <p:spPr>
          <a:xfrm xmlns:a="http://schemas.openxmlformats.org/drawingml/2006/main">
            <a:off x="9048750" y="2000250"/>
            <a:ext cx="2333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425" b="1">
                <a:solidFill>
                  <a:srgbClr val="63788A"/>
                </a:solidFill>
                <a:latin typeface="Helvetica Neue"/>
                <a:ea typeface="Helvetica Neue"/>
                <a:cs typeface="Helvetica Neue"/>
              </a:defRPr>
            </a:defPPr>
            <a:lvl1pPr algn="l">
              <a:buNone/>
              <a:defRPr sz="1425" b="1">
                <a:solidFill>
                  <a:srgbClr val="63788A"/>
                </a:solidFill>
                <a:latin typeface="Helvetica Neue"/>
                <a:ea typeface="Helvetica Neue"/>
                <a:cs typeface="Helvetica Neue"/>
              </a:defRPr>
            </a:lvl1pPr>
            <a:lvl2pPr algn="l">
              <a:buNone/>
              <a:defRPr sz="1425" b="1">
                <a:solidFill>
                  <a:srgbClr val="63788A"/>
                </a:solidFill>
                <a:latin typeface="Helvetica Neue"/>
                <a:ea typeface="Helvetica Neue"/>
                <a:cs typeface="Helvetica Neue"/>
              </a:defRPr>
            </a:lvl2pPr>
            <a:lvl3pPr algn="l">
              <a:buNone/>
              <a:defRPr sz="1425" b="1">
                <a:solidFill>
                  <a:srgbClr val="63788A"/>
                </a:solidFill>
                <a:latin typeface="Helvetica Neue"/>
                <a:ea typeface="Helvetica Neue"/>
                <a:cs typeface="Helvetica Neue"/>
              </a:defRPr>
            </a:lvl3pPr>
            <a:lvl4pPr algn="l">
              <a:buNone/>
              <a:defRPr sz="1425" b="1">
                <a:solidFill>
                  <a:srgbClr val="63788A"/>
                </a:solidFill>
                <a:latin typeface="Helvetica Neue"/>
                <a:ea typeface="Helvetica Neue"/>
                <a:cs typeface="Helvetica Neue"/>
              </a:defRPr>
            </a:lvl4pPr>
            <a:lvl5pPr algn="l">
              <a:buNone/>
              <a:defRPr sz="1425" b="1">
                <a:solidFill>
                  <a:srgbClr val="63788A"/>
                </a:solidFill>
                <a:latin typeface="Helvetica Neue"/>
                <a:ea typeface="Helvetica Neue"/>
                <a:cs typeface="Helvetica Neue"/>
              </a:defRPr>
            </a:lvl5pPr>
            <a:lvl6pPr algn="l">
              <a:buNone/>
              <a:defRPr sz="1425" b="1">
                <a:solidFill>
                  <a:srgbClr val="63788A"/>
                </a:solidFill>
                <a:latin typeface="Helvetica Neue"/>
                <a:ea typeface="Helvetica Neue"/>
                <a:cs typeface="Helvetica Neue"/>
              </a:defRPr>
            </a:lvl6pPr>
            <a:lvl7pPr algn="l">
              <a:buNone/>
              <a:defRPr sz="1425" b="1">
                <a:solidFill>
                  <a:srgbClr val="63788A"/>
                </a:solidFill>
                <a:latin typeface="Helvetica Neue"/>
                <a:ea typeface="Helvetica Neue"/>
                <a:cs typeface="Helvetica Neue"/>
              </a:defRPr>
            </a:lvl7pPr>
            <a:lvl8pPr algn="l">
              <a:buNone/>
              <a:defRPr sz="1425" b="1">
                <a:solidFill>
                  <a:srgbClr val="63788A"/>
                </a:solidFill>
                <a:latin typeface="Helvetica Neue"/>
                <a:ea typeface="Helvetica Neue"/>
                <a:cs typeface="Helvetica Neue"/>
              </a:defRPr>
            </a:lvl8pPr>
            <a:lvl9pPr algn="l">
              <a:buNone/>
              <a:defRPr sz="1425" b="1">
                <a:solidFill>
                  <a:srgbClr val="63788A"/>
                </a:solidFill>
                <a:latin typeface="Helvetica Neue"/>
                <a:ea typeface="Helvetica Neue"/>
                <a:cs typeface="Helvetica Neue"/>
              </a:defRPr>
            </a:lvl9pPr>
          </a:lstStyle>
          <a:p xmlns:a="http://schemas.openxmlformats.org/drawingml/2006/main">
            <a:pPr algn="l">
              <a:buNone/>
              <a:defRPr sz="1425" b="1">
                <a:solidFill>
                  <a:srgbClr val="63788A"/>
                </a:solidFill>
                <a:latin typeface="Helvetica Neue"/>
                <a:ea typeface="Helvetica Neue"/>
                <a:cs typeface="Helvetica Neue"/>
              </a:defRPr>
            </a:pPr>
            <a:r>
              <a:rPr sz="1425" b="1">
                <a:solidFill>
                  <a:srgbClr val="63788A"/>
                </a:solidFill>
                <a:latin typeface="Helvetica Neue"/>
                <a:ea typeface="Helvetica Neue"/>
                <a:cs typeface="Helvetica Neue"/>
              </a:rPr>
              <a:t>Classification</a:t>
            </a:r>
          </a:p>
        </p:txBody>
      </p:sp>
      <p:sp>
        <p:nvSpPr>
          <p:cNvPr id="8" name="Rectangle 7">
            <a:extLst xmlns:a="http://schemas.openxmlformats.org/drawingml/2006/main">
              <a:ext uri="{FF2B5EF4-FFF2-40B4-BE49-F238E27FC236}">
                <a16:creationId xmlns:a16="http://schemas.microsoft.com/office/drawing/2014/main" id="{DC1F5839-D472-4459-81B3-980F4C6BE61F}"/>
              </a:ext>
            </a:extLst>
          </p:cNvPr>
          <p:cNvSpPr>
            <a:spLocks xmlns:a="http://schemas.openxmlformats.org/drawingml/2006/main" noGrp="1"/>
          </p:cNvSpPr>
          <p:nvPr/>
        </p:nvSpPr>
        <p:spPr>
          <a:xfrm xmlns:a="http://schemas.openxmlformats.org/drawingml/2006/main">
            <a:off x="9048750" y="2428875"/>
            <a:ext cx="2333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875" b="1">
                <a:solidFill>
                  <a:srgbClr val="243A50"/>
                </a:solidFill>
                <a:latin typeface="Helvetica Neue"/>
                <a:ea typeface="Helvetica Neue"/>
                <a:cs typeface="Helvetica Neue"/>
              </a:defRPr>
            </a:defPPr>
            <a:lvl1pPr algn="l">
              <a:buNone/>
              <a:defRPr sz="1875" b="1">
                <a:solidFill>
                  <a:srgbClr val="243A50"/>
                </a:solidFill>
                <a:latin typeface="Helvetica Neue"/>
                <a:ea typeface="Helvetica Neue"/>
                <a:cs typeface="Helvetica Neue"/>
              </a:defRPr>
            </a:lvl1pPr>
            <a:lvl2pPr algn="l">
              <a:buNone/>
              <a:defRPr sz="1875" b="1">
                <a:solidFill>
                  <a:srgbClr val="243A50"/>
                </a:solidFill>
                <a:latin typeface="Helvetica Neue"/>
                <a:ea typeface="Helvetica Neue"/>
                <a:cs typeface="Helvetica Neue"/>
              </a:defRPr>
            </a:lvl2pPr>
            <a:lvl3pPr algn="l">
              <a:buNone/>
              <a:defRPr sz="1875" b="1">
                <a:solidFill>
                  <a:srgbClr val="243A50"/>
                </a:solidFill>
                <a:latin typeface="Helvetica Neue"/>
                <a:ea typeface="Helvetica Neue"/>
                <a:cs typeface="Helvetica Neue"/>
              </a:defRPr>
            </a:lvl3pPr>
            <a:lvl4pPr algn="l">
              <a:buNone/>
              <a:defRPr sz="1875" b="1">
                <a:solidFill>
                  <a:srgbClr val="243A50"/>
                </a:solidFill>
                <a:latin typeface="Helvetica Neue"/>
                <a:ea typeface="Helvetica Neue"/>
                <a:cs typeface="Helvetica Neue"/>
              </a:defRPr>
            </a:lvl4pPr>
            <a:lvl5pPr algn="l">
              <a:buNone/>
              <a:defRPr sz="1875" b="1">
                <a:solidFill>
                  <a:srgbClr val="243A50"/>
                </a:solidFill>
                <a:latin typeface="Helvetica Neue"/>
                <a:ea typeface="Helvetica Neue"/>
                <a:cs typeface="Helvetica Neue"/>
              </a:defRPr>
            </a:lvl5pPr>
            <a:lvl6pPr algn="l">
              <a:buNone/>
              <a:defRPr sz="1875" b="1">
                <a:solidFill>
                  <a:srgbClr val="243A50"/>
                </a:solidFill>
                <a:latin typeface="Helvetica Neue"/>
                <a:ea typeface="Helvetica Neue"/>
                <a:cs typeface="Helvetica Neue"/>
              </a:defRPr>
            </a:lvl6pPr>
            <a:lvl7pPr algn="l">
              <a:buNone/>
              <a:defRPr sz="1875" b="1">
                <a:solidFill>
                  <a:srgbClr val="243A50"/>
                </a:solidFill>
                <a:latin typeface="Helvetica Neue"/>
                <a:ea typeface="Helvetica Neue"/>
                <a:cs typeface="Helvetica Neue"/>
              </a:defRPr>
            </a:lvl7pPr>
            <a:lvl8pPr algn="l">
              <a:buNone/>
              <a:defRPr sz="1875" b="1">
                <a:solidFill>
                  <a:srgbClr val="243A50"/>
                </a:solidFill>
                <a:latin typeface="Helvetica Neue"/>
                <a:ea typeface="Helvetica Neue"/>
                <a:cs typeface="Helvetica Neue"/>
              </a:defRPr>
            </a:lvl8pPr>
            <a:lvl9pPr algn="l">
              <a:buNone/>
              <a:defRPr sz="1875" b="1">
                <a:solidFill>
                  <a:srgbClr val="243A50"/>
                </a:solidFill>
                <a:latin typeface="Helvetica Neue"/>
                <a:ea typeface="Helvetica Neue"/>
                <a:cs typeface="Helvetica Neue"/>
              </a:defRPr>
            </a:lvl9pPr>
          </a:lstStyle>
          <a:p xmlns:a="http://schemas.openxmlformats.org/drawingml/2006/main">
            <a:pPr algn="l">
              <a:buNone/>
              <a:defRPr sz="1875" b="1">
                <a:solidFill>
                  <a:srgbClr val="243A50"/>
                </a:solidFill>
                <a:latin typeface="Helvetica Neue"/>
                <a:ea typeface="Helvetica Neue"/>
                <a:cs typeface="Helvetica Neue"/>
              </a:defRPr>
            </a:pPr>
            <a:r>
              <a:rPr sz="1875" b="1">
                <a:solidFill>
                  <a:srgbClr val="243A50"/>
                </a:solidFill>
                <a:latin typeface="Helvetica Neue"/>
                <a:ea typeface="Helvetica Neue"/>
                <a:cs typeface="Helvetica Neue"/>
              </a:rPr>
              <a:t>Building 99.73%</a:t>
            </a:r>
          </a:p>
        </p:txBody>
      </p:sp>
      <p:sp>
        <p:nvSpPr>
          <p:cNvPr id="9" name="Rectangle 8">
            <a:extLst xmlns:a="http://schemas.openxmlformats.org/drawingml/2006/main">
              <a:ext uri="{FF2B5EF4-FFF2-40B4-BE49-F238E27FC236}">
                <a16:creationId xmlns:a16="http://schemas.microsoft.com/office/drawing/2014/main" id="{5C0B2C22-F7F4-49D8-9492-B2455DD51652}"/>
              </a:ext>
            </a:extLst>
          </p:cNvPr>
          <p:cNvSpPr>
            <a:spLocks xmlns:a="http://schemas.openxmlformats.org/drawingml/2006/main" noGrp="1"/>
          </p:cNvSpPr>
          <p:nvPr/>
        </p:nvSpPr>
        <p:spPr>
          <a:xfrm xmlns:a="http://schemas.openxmlformats.org/drawingml/2006/main">
            <a:off x="9048750" y="2876550"/>
            <a:ext cx="2333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875" b="1">
                <a:solidFill>
                  <a:srgbClr val="64877F"/>
                </a:solidFill>
                <a:latin typeface="Helvetica Neue"/>
                <a:ea typeface="Helvetica Neue"/>
                <a:cs typeface="Helvetica Neue"/>
              </a:defRPr>
            </a:defPPr>
            <a:lvl1pPr algn="l">
              <a:buNone/>
              <a:defRPr sz="1875" b="1">
                <a:solidFill>
                  <a:srgbClr val="64877F"/>
                </a:solidFill>
                <a:latin typeface="Helvetica Neue"/>
                <a:ea typeface="Helvetica Neue"/>
                <a:cs typeface="Helvetica Neue"/>
              </a:defRPr>
            </a:lvl1pPr>
            <a:lvl2pPr algn="l">
              <a:buNone/>
              <a:defRPr sz="1875" b="1">
                <a:solidFill>
                  <a:srgbClr val="64877F"/>
                </a:solidFill>
                <a:latin typeface="Helvetica Neue"/>
                <a:ea typeface="Helvetica Neue"/>
                <a:cs typeface="Helvetica Neue"/>
              </a:defRPr>
            </a:lvl2pPr>
            <a:lvl3pPr algn="l">
              <a:buNone/>
              <a:defRPr sz="1875" b="1">
                <a:solidFill>
                  <a:srgbClr val="64877F"/>
                </a:solidFill>
                <a:latin typeface="Helvetica Neue"/>
                <a:ea typeface="Helvetica Neue"/>
                <a:cs typeface="Helvetica Neue"/>
              </a:defRPr>
            </a:lvl3pPr>
            <a:lvl4pPr algn="l">
              <a:buNone/>
              <a:defRPr sz="1875" b="1">
                <a:solidFill>
                  <a:srgbClr val="64877F"/>
                </a:solidFill>
                <a:latin typeface="Helvetica Neue"/>
                <a:ea typeface="Helvetica Neue"/>
                <a:cs typeface="Helvetica Neue"/>
              </a:defRPr>
            </a:lvl4pPr>
            <a:lvl5pPr algn="l">
              <a:buNone/>
              <a:defRPr sz="1875" b="1">
                <a:solidFill>
                  <a:srgbClr val="64877F"/>
                </a:solidFill>
                <a:latin typeface="Helvetica Neue"/>
                <a:ea typeface="Helvetica Neue"/>
                <a:cs typeface="Helvetica Neue"/>
              </a:defRPr>
            </a:lvl5pPr>
            <a:lvl6pPr algn="l">
              <a:buNone/>
              <a:defRPr sz="1875" b="1">
                <a:solidFill>
                  <a:srgbClr val="64877F"/>
                </a:solidFill>
                <a:latin typeface="Helvetica Neue"/>
                <a:ea typeface="Helvetica Neue"/>
                <a:cs typeface="Helvetica Neue"/>
              </a:defRPr>
            </a:lvl6pPr>
            <a:lvl7pPr algn="l">
              <a:buNone/>
              <a:defRPr sz="1875" b="1">
                <a:solidFill>
                  <a:srgbClr val="64877F"/>
                </a:solidFill>
                <a:latin typeface="Helvetica Neue"/>
                <a:ea typeface="Helvetica Neue"/>
                <a:cs typeface="Helvetica Neue"/>
              </a:defRPr>
            </a:lvl7pPr>
            <a:lvl8pPr algn="l">
              <a:buNone/>
              <a:defRPr sz="1875" b="1">
                <a:solidFill>
                  <a:srgbClr val="64877F"/>
                </a:solidFill>
                <a:latin typeface="Helvetica Neue"/>
                <a:ea typeface="Helvetica Neue"/>
                <a:cs typeface="Helvetica Neue"/>
              </a:defRPr>
            </a:lvl8pPr>
            <a:lvl9pPr algn="l">
              <a:buNone/>
              <a:defRPr sz="1875" b="1">
                <a:solidFill>
                  <a:srgbClr val="64877F"/>
                </a:solidFill>
                <a:latin typeface="Helvetica Neue"/>
                <a:ea typeface="Helvetica Neue"/>
                <a:cs typeface="Helvetica Neue"/>
              </a:defRPr>
            </a:lvl9pPr>
          </a:lstStyle>
          <a:p xmlns:a="http://schemas.openxmlformats.org/drawingml/2006/main">
            <a:pPr algn="l">
              <a:buNone/>
              <a:defRPr sz="1875" b="1">
                <a:solidFill>
                  <a:srgbClr val="64877F"/>
                </a:solidFill>
                <a:latin typeface="Helvetica Neue"/>
                <a:ea typeface="Helvetica Neue"/>
                <a:cs typeface="Helvetica Neue"/>
              </a:defRPr>
            </a:pPr>
            <a:r>
              <a:rPr sz="1875" b="1">
                <a:solidFill>
                  <a:srgbClr val="64877F"/>
                </a:solidFill>
                <a:latin typeface="Helvetica Neue"/>
                <a:ea typeface="Helvetica Neue"/>
                <a:cs typeface="Helvetica Neue"/>
              </a:rPr>
              <a:t>Floor 88.93%</a:t>
            </a:r>
          </a:p>
        </p:txBody>
      </p:sp>
      <p:sp>
        <p:nvSpPr>
          <p:cNvPr id="10" name="Rectangle 9">
            <a:extLst xmlns:a="http://schemas.openxmlformats.org/drawingml/2006/main">
              <a:ext uri="{FF2B5EF4-FFF2-40B4-BE49-F238E27FC236}">
                <a16:creationId xmlns:a16="http://schemas.microsoft.com/office/drawing/2014/main" id="{F9C0DD23-A4C3-41B2-B434-B5093F9DD845}"/>
              </a:ext>
            </a:extLst>
          </p:cNvPr>
          <p:cNvSpPr>
            <a:spLocks xmlns:a="http://schemas.openxmlformats.org/drawingml/2006/main" noGrp="1"/>
          </p:cNvSpPr>
          <p:nvPr/>
        </p:nvSpPr>
        <p:spPr>
          <a:xfrm xmlns:a="http://schemas.openxmlformats.org/drawingml/2006/main">
            <a:off x="9048750" y="3762375"/>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425" b="1">
                <a:solidFill>
                  <a:srgbClr val="63788A"/>
                </a:solidFill>
                <a:latin typeface="Helvetica Neue"/>
                <a:ea typeface="Helvetica Neue"/>
                <a:cs typeface="Helvetica Neue"/>
              </a:defRPr>
            </a:defPPr>
            <a:lvl1pPr algn="l">
              <a:buNone/>
              <a:defRPr sz="1425" b="1">
                <a:solidFill>
                  <a:srgbClr val="63788A"/>
                </a:solidFill>
                <a:latin typeface="Helvetica Neue"/>
                <a:ea typeface="Helvetica Neue"/>
                <a:cs typeface="Helvetica Neue"/>
              </a:defRPr>
            </a:lvl1pPr>
            <a:lvl2pPr algn="l">
              <a:buNone/>
              <a:defRPr sz="1425" b="1">
                <a:solidFill>
                  <a:srgbClr val="63788A"/>
                </a:solidFill>
                <a:latin typeface="Helvetica Neue"/>
                <a:ea typeface="Helvetica Neue"/>
                <a:cs typeface="Helvetica Neue"/>
              </a:defRPr>
            </a:lvl2pPr>
            <a:lvl3pPr algn="l">
              <a:buNone/>
              <a:defRPr sz="1425" b="1">
                <a:solidFill>
                  <a:srgbClr val="63788A"/>
                </a:solidFill>
                <a:latin typeface="Helvetica Neue"/>
                <a:ea typeface="Helvetica Neue"/>
                <a:cs typeface="Helvetica Neue"/>
              </a:defRPr>
            </a:lvl3pPr>
            <a:lvl4pPr algn="l">
              <a:buNone/>
              <a:defRPr sz="1425" b="1">
                <a:solidFill>
                  <a:srgbClr val="63788A"/>
                </a:solidFill>
                <a:latin typeface="Helvetica Neue"/>
                <a:ea typeface="Helvetica Neue"/>
                <a:cs typeface="Helvetica Neue"/>
              </a:defRPr>
            </a:lvl4pPr>
            <a:lvl5pPr algn="l">
              <a:buNone/>
              <a:defRPr sz="1425" b="1">
                <a:solidFill>
                  <a:srgbClr val="63788A"/>
                </a:solidFill>
                <a:latin typeface="Helvetica Neue"/>
                <a:ea typeface="Helvetica Neue"/>
                <a:cs typeface="Helvetica Neue"/>
              </a:defRPr>
            </a:lvl5pPr>
            <a:lvl6pPr algn="l">
              <a:buNone/>
              <a:defRPr sz="1425" b="1">
                <a:solidFill>
                  <a:srgbClr val="63788A"/>
                </a:solidFill>
                <a:latin typeface="Helvetica Neue"/>
                <a:ea typeface="Helvetica Neue"/>
                <a:cs typeface="Helvetica Neue"/>
              </a:defRPr>
            </a:lvl6pPr>
            <a:lvl7pPr algn="l">
              <a:buNone/>
              <a:defRPr sz="1425" b="1">
                <a:solidFill>
                  <a:srgbClr val="63788A"/>
                </a:solidFill>
                <a:latin typeface="Helvetica Neue"/>
                <a:ea typeface="Helvetica Neue"/>
                <a:cs typeface="Helvetica Neue"/>
              </a:defRPr>
            </a:lvl7pPr>
            <a:lvl8pPr algn="l">
              <a:buNone/>
              <a:defRPr sz="1425" b="1">
                <a:solidFill>
                  <a:srgbClr val="63788A"/>
                </a:solidFill>
                <a:latin typeface="Helvetica Neue"/>
                <a:ea typeface="Helvetica Neue"/>
                <a:cs typeface="Helvetica Neue"/>
              </a:defRPr>
            </a:lvl8pPr>
            <a:lvl9pPr algn="l">
              <a:buNone/>
              <a:defRPr sz="1425" b="1">
                <a:solidFill>
                  <a:srgbClr val="63788A"/>
                </a:solidFill>
                <a:latin typeface="Helvetica Neue"/>
                <a:ea typeface="Helvetica Neue"/>
                <a:cs typeface="Helvetica Neue"/>
              </a:defRPr>
            </a:lvl9pPr>
          </a:lstStyle>
          <a:p xmlns:a="http://schemas.openxmlformats.org/drawingml/2006/main">
            <a:pPr algn="l">
              <a:buNone/>
              <a:defRPr sz="1425" b="1">
                <a:solidFill>
                  <a:srgbClr val="63788A"/>
                </a:solidFill>
                <a:latin typeface="Helvetica Neue"/>
                <a:ea typeface="Helvetica Neue"/>
                <a:cs typeface="Helvetica Neue"/>
              </a:defRPr>
            </a:pPr>
            <a:r>
              <a:rPr sz="1425" b="1">
                <a:solidFill>
                  <a:srgbClr val="63788A"/>
                </a:solidFill>
                <a:latin typeface="Helvetica Neue"/>
                <a:ea typeface="Helvetica Neue"/>
                <a:cs typeface="Helvetica Neue"/>
              </a:rPr>
              <a:t>Coordinate error*</a:t>
            </a:r>
          </a:p>
        </p:txBody>
      </p:sp>
      <p:sp>
        <p:nvSpPr>
          <p:cNvPr id="11" name="Rectangle 10">
            <a:extLst xmlns:a="http://schemas.openxmlformats.org/drawingml/2006/main">
              <a:ext uri="{FF2B5EF4-FFF2-40B4-BE49-F238E27FC236}">
                <a16:creationId xmlns:a16="http://schemas.microsoft.com/office/drawing/2014/main" id="{94C55105-6D77-49E6-A6A9-8E731D67342D}"/>
              </a:ext>
            </a:extLst>
          </p:cNvPr>
          <p:cNvSpPr>
            <a:spLocks xmlns:a="http://schemas.openxmlformats.org/drawingml/2006/main" noGrp="1"/>
          </p:cNvSpPr>
          <p:nvPr/>
        </p:nvSpPr>
        <p:spPr>
          <a:xfrm xmlns:a="http://schemas.openxmlformats.org/drawingml/2006/main">
            <a:off x="9048750" y="4191000"/>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800" b="1">
                <a:solidFill>
                  <a:srgbClr val="243A50"/>
                </a:solidFill>
                <a:latin typeface="Helvetica Neue"/>
                <a:ea typeface="Helvetica Neue"/>
                <a:cs typeface="Helvetica Neue"/>
              </a:defRPr>
            </a:defPPr>
            <a:lvl1pPr algn="l">
              <a:buNone/>
              <a:defRPr sz="1800" b="1">
                <a:solidFill>
                  <a:srgbClr val="243A50"/>
                </a:solidFill>
                <a:latin typeface="Helvetica Neue"/>
                <a:ea typeface="Helvetica Neue"/>
                <a:cs typeface="Helvetica Neue"/>
              </a:defRPr>
            </a:lvl1pPr>
            <a:lvl2pPr algn="l">
              <a:buNone/>
              <a:defRPr sz="1800" b="1">
                <a:solidFill>
                  <a:srgbClr val="243A50"/>
                </a:solidFill>
                <a:latin typeface="Helvetica Neue"/>
                <a:ea typeface="Helvetica Neue"/>
                <a:cs typeface="Helvetica Neue"/>
              </a:defRPr>
            </a:lvl2pPr>
            <a:lvl3pPr algn="l">
              <a:buNone/>
              <a:defRPr sz="1800" b="1">
                <a:solidFill>
                  <a:srgbClr val="243A50"/>
                </a:solidFill>
                <a:latin typeface="Helvetica Neue"/>
                <a:ea typeface="Helvetica Neue"/>
                <a:cs typeface="Helvetica Neue"/>
              </a:defRPr>
            </a:lvl3pPr>
            <a:lvl4pPr algn="l">
              <a:buNone/>
              <a:defRPr sz="1800" b="1">
                <a:solidFill>
                  <a:srgbClr val="243A50"/>
                </a:solidFill>
                <a:latin typeface="Helvetica Neue"/>
                <a:ea typeface="Helvetica Neue"/>
                <a:cs typeface="Helvetica Neue"/>
              </a:defRPr>
            </a:lvl4pPr>
            <a:lvl5pPr algn="l">
              <a:buNone/>
              <a:defRPr sz="1800" b="1">
                <a:solidFill>
                  <a:srgbClr val="243A50"/>
                </a:solidFill>
                <a:latin typeface="Helvetica Neue"/>
                <a:ea typeface="Helvetica Neue"/>
                <a:cs typeface="Helvetica Neue"/>
              </a:defRPr>
            </a:lvl5pPr>
            <a:lvl6pPr algn="l">
              <a:buNone/>
              <a:defRPr sz="1800" b="1">
                <a:solidFill>
                  <a:srgbClr val="243A50"/>
                </a:solidFill>
                <a:latin typeface="Helvetica Neue"/>
                <a:ea typeface="Helvetica Neue"/>
                <a:cs typeface="Helvetica Neue"/>
              </a:defRPr>
            </a:lvl6pPr>
            <a:lvl7pPr algn="l">
              <a:buNone/>
              <a:defRPr sz="1800" b="1">
                <a:solidFill>
                  <a:srgbClr val="243A50"/>
                </a:solidFill>
                <a:latin typeface="Helvetica Neue"/>
                <a:ea typeface="Helvetica Neue"/>
                <a:cs typeface="Helvetica Neue"/>
              </a:defRPr>
            </a:lvl7pPr>
            <a:lvl8pPr algn="l">
              <a:buNone/>
              <a:defRPr sz="1800" b="1">
                <a:solidFill>
                  <a:srgbClr val="243A50"/>
                </a:solidFill>
                <a:latin typeface="Helvetica Neue"/>
                <a:ea typeface="Helvetica Neue"/>
                <a:cs typeface="Helvetica Neue"/>
              </a:defRPr>
            </a:lvl8pPr>
            <a:lvl9pPr algn="l">
              <a:buNone/>
              <a:defRPr sz="1800" b="1">
                <a:solidFill>
                  <a:srgbClr val="243A50"/>
                </a:solidFill>
                <a:latin typeface="Helvetica Neue"/>
                <a:ea typeface="Helvetica Neue"/>
                <a:cs typeface="Helvetica Neue"/>
              </a:defRPr>
            </a:lvl9pPr>
          </a:lstStyle>
          <a:p xmlns:a="http://schemas.openxmlformats.org/drawingml/2006/main">
            <a:pPr algn="l">
              <a:buNone/>
              <a:defRPr sz="1800" b="1">
                <a:solidFill>
                  <a:srgbClr val="243A50"/>
                </a:solidFill>
                <a:latin typeface="Helvetica Neue"/>
                <a:ea typeface="Helvetica Neue"/>
                <a:cs typeface="Helvetica Neue"/>
              </a:defRPr>
            </a:pPr>
            <a:r>
              <a:rPr sz="1800" b="1">
                <a:solidFill>
                  <a:srgbClr val="243A50"/>
                </a:solidFill>
                <a:latin typeface="Helvetica Neue"/>
                <a:ea typeface="Helvetica Neue"/>
                <a:cs typeface="Helvetica Neue"/>
              </a:rPr>
              <a:t>Mean Euclidean 11.58</a:t>
            </a:r>
          </a:p>
        </p:txBody>
      </p:sp>
      <p:sp>
        <p:nvSpPr>
          <p:cNvPr id="12" name="Rectangle 11">
            <a:extLst xmlns:a="http://schemas.openxmlformats.org/drawingml/2006/main">
              <a:ext uri="{FF2B5EF4-FFF2-40B4-BE49-F238E27FC236}">
                <a16:creationId xmlns:a16="http://schemas.microsoft.com/office/drawing/2014/main" id="{5DF05027-4B69-40ED-A9AA-FE04356E20A7}"/>
              </a:ext>
            </a:extLst>
          </p:cNvPr>
          <p:cNvSpPr>
            <a:spLocks xmlns:a="http://schemas.openxmlformats.org/drawingml/2006/main" noGrp="1"/>
          </p:cNvSpPr>
          <p:nvPr/>
        </p:nvSpPr>
        <p:spPr>
          <a:xfrm xmlns:a="http://schemas.openxmlformats.org/drawingml/2006/main">
            <a:off x="9048750" y="50292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050" b="0">
                <a:solidFill>
                  <a:srgbClr val="63788A"/>
                </a:solidFill>
                <a:latin typeface="Helvetica Neue"/>
                <a:ea typeface="Helvetica Neue"/>
                <a:cs typeface="Helvetica Neue"/>
              </a:defRPr>
            </a:defPPr>
            <a:lvl1pPr algn="l">
              <a:buNone/>
              <a:defRPr sz="1050" b="0">
                <a:solidFill>
                  <a:srgbClr val="63788A"/>
                </a:solidFill>
                <a:latin typeface="Helvetica Neue"/>
                <a:ea typeface="Helvetica Neue"/>
                <a:cs typeface="Helvetica Neue"/>
              </a:defRPr>
            </a:lvl1pPr>
            <a:lvl2pPr algn="l">
              <a:buNone/>
              <a:defRPr sz="1050" b="0">
                <a:solidFill>
                  <a:srgbClr val="63788A"/>
                </a:solidFill>
                <a:latin typeface="Helvetica Neue"/>
                <a:ea typeface="Helvetica Neue"/>
                <a:cs typeface="Helvetica Neue"/>
              </a:defRPr>
            </a:lvl2pPr>
            <a:lvl3pPr algn="l">
              <a:buNone/>
              <a:defRPr sz="1050" b="0">
                <a:solidFill>
                  <a:srgbClr val="63788A"/>
                </a:solidFill>
                <a:latin typeface="Helvetica Neue"/>
                <a:ea typeface="Helvetica Neue"/>
                <a:cs typeface="Helvetica Neue"/>
              </a:defRPr>
            </a:lvl3pPr>
            <a:lvl4pPr algn="l">
              <a:buNone/>
              <a:defRPr sz="1050" b="0">
                <a:solidFill>
                  <a:srgbClr val="63788A"/>
                </a:solidFill>
                <a:latin typeface="Helvetica Neue"/>
                <a:ea typeface="Helvetica Neue"/>
                <a:cs typeface="Helvetica Neue"/>
              </a:defRPr>
            </a:lvl4pPr>
            <a:lvl5pPr algn="l">
              <a:buNone/>
              <a:defRPr sz="1050" b="0">
                <a:solidFill>
                  <a:srgbClr val="63788A"/>
                </a:solidFill>
                <a:latin typeface="Helvetica Neue"/>
                <a:ea typeface="Helvetica Neue"/>
                <a:cs typeface="Helvetica Neue"/>
              </a:defRPr>
            </a:lvl5pPr>
            <a:lvl6pPr algn="l">
              <a:buNone/>
              <a:defRPr sz="1050" b="0">
                <a:solidFill>
                  <a:srgbClr val="63788A"/>
                </a:solidFill>
                <a:latin typeface="Helvetica Neue"/>
                <a:ea typeface="Helvetica Neue"/>
                <a:cs typeface="Helvetica Neue"/>
              </a:defRPr>
            </a:lvl6pPr>
            <a:lvl7pPr algn="l">
              <a:buNone/>
              <a:defRPr sz="1050" b="0">
                <a:solidFill>
                  <a:srgbClr val="63788A"/>
                </a:solidFill>
                <a:latin typeface="Helvetica Neue"/>
                <a:ea typeface="Helvetica Neue"/>
                <a:cs typeface="Helvetica Neue"/>
              </a:defRPr>
            </a:lvl7pPr>
            <a:lvl8pPr algn="l">
              <a:buNone/>
              <a:defRPr sz="1050" b="0">
                <a:solidFill>
                  <a:srgbClr val="63788A"/>
                </a:solidFill>
                <a:latin typeface="Helvetica Neue"/>
                <a:ea typeface="Helvetica Neue"/>
                <a:cs typeface="Helvetica Neue"/>
              </a:defRPr>
            </a:lvl8pPr>
            <a:lvl9pPr algn="l">
              <a:buNone/>
              <a:defRPr sz="1050" b="0">
                <a:solidFill>
                  <a:srgbClr val="63788A"/>
                </a:solidFill>
                <a:latin typeface="Helvetica Neue"/>
                <a:ea typeface="Helvetica Neue"/>
                <a:cs typeface="Helvetica Neue"/>
              </a:defRPr>
            </a:lvl9pPr>
          </a:lstStyle>
          <a:p xmlns:a="http://schemas.openxmlformats.org/drawingml/2006/main">
            <a:pPr algn="l">
              <a:buNone/>
              <a:defRPr sz="1050" b="0">
                <a:solidFill>
                  <a:srgbClr val="63788A"/>
                </a:solidFill>
                <a:latin typeface="Helvetica Neue"/>
                <a:ea typeface="Helvetica Neue"/>
                <a:cs typeface="Helvetica Neue"/>
              </a:defRPr>
            </a:pPr>
            <a:r>
              <a:rPr sz="1050" b="0">
                <a:solidFill>
                  <a:srgbClr val="63788A"/>
                </a:solidFill>
                <a:latin typeface="Helvetica Neue"/>
                <a:ea typeface="Helvetica Neue"/>
                <a:cs typeface="Helvetica Neue"/>
              </a:rPr>
              <a:t>*reported coordinate units</a:t>
            </a:r>
          </a:p>
        </p:txBody>
      </p:sp>
    </p:spTree>
    <p:extLst>
      <p:ext uri="{BB962C8B-B14F-4D97-AF65-F5344CB8AC3E}">
        <p14:creationId xmlns:p14="http://schemas.microsoft.com/office/powerpoint/2010/main" val="536325734"/>
      </p:ext>
    </p:extLst>
  </p:cSld>
</p:sld>
</file>

<file path=ppt/slides/slide1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3" name="Rectangle 12">
            <a:extLst xmlns:a="http://schemas.openxmlformats.org/drawingml/2006/main">
              <a:ext uri="{FF2B5EF4-FFF2-40B4-BE49-F238E27FC236}">
                <a16:creationId xmlns:a16="http://schemas.microsoft.com/office/drawing/2014/main" id="{8A9EED99-5086-4A6E-9E21-A6A740B7A5B8}"/>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C7DBD1"/>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0FE0729E-99D7-4B54-8013-F7549FA9E724}"/>
              </a:ext>
            </a:extLst>
          </p:cNvPr>
          <p:cNvSpPr>
            <a:spLocks xmlns:a="http://schemas.openxmlformats.org/drawingml/2006/main" noGrp="1"/>
          </p:cNvSpPr>
          <p:nvPr/>
        </p:nvSpPr>
        <p:spPr>
          <a:xfrm xmlns:a="http://schemas.openxmlformats.org/drawingml/2006/main">
            <a:off x="609600" y="37147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625" b="1">
                <a:solidFill>
                  <a:srgbClr val="243A50"/>
                </a:solidFill>
                <a:latin typeface="Helvetica Neue"/>
                <a:ea typeface="Helvetica Neue"/>
                <a:cs typeface="Helvetica Neue"/>
              </a:defRPr>
            </a:defPPr>
            <a:lvl1pPr algn="l">
              <a:buNone/>
              <a:defRPr sz="2625" b="1">
                <a:solidFill>
                  <a:srgbClr val="243A50"/>
                </a:solidFill>
                <a:latin typeface="Helvetica Neue"/>
                <a:ea typeface="Helvetica Neue"/>
                <a:cs typeface="Helvetica Neue"/>
              </a:defRPr>
            </a:lvl1pPr>
            <a:lvl2pPr algn="l">
              <a:buNone/>
              <a:defRPr sz="2625" b="1">
                <a:solidFill>
                  <a:srgbClr val="243A50"/>
                </a:solidFill>
                <a:latin typeface="Helvetica Neue"/>
                <a:ea typeface="Helvetica Neue"/>
                <a:cs typeface="Helvetica Neue"/>
              </a:defRPr>
            </a:lvl2pPr>
            <a:lvl3pPr algn="l">
              <a:buNone/>
              <a:defRPr sz="2625" b="1">
                <a:solidFill>
                  <a:srgbClr val="243A50"/>
                </a:solidFill>
                <a:latin typeface="Helvetica Neue"/>
                <a:ea typeface="Helvetica Neue"/>
                <a:cs typeface="Helvetica Neue"/>
              </a:defRPr>
            </a:lvl3pPr>
            <a:lvl4pPr algn="l">
              <a:buNone/>
              <a:defRPr sz="2625" b="1">
                <a:solidFill>
                  <a:srgbClr val="243A50"/>
                </a:solidFill>
                <a:latin typeface="Helvetica Neue"/>
                <a:ea typeface="Helvetica Neue"/>
                <a:cs typeface="Helvetica Neue"/>
              </a:defRPr>
            </a:lvl4pPr>
            <a:lvl5pPr algn="l">
              <a:buNone/>
              <a:defRPr sz="2625" b="1">
                <a:solidFill>
                  <a:srgbClr val="243A50"/>
                </a:solidFill>
                <a:latin typeface="Helvetica Neue"/>
                <a:ea typeface="Helvetica Neue"/>
                <a:cs typeface="Helvetica Neue"/>
              </a:defRPr>
            </a:lvl5pPr>
            <a:lvl6pPr algn="l">
              <a:buNone/>
              <a:defRPr sz="2625" b="1">
                <a:solidFill>
                  <a:srgbClr val="243A50"/>
                </a:solidFill>
                <a:latin typeface="Helvetica Neue"/>
                <a:ea typeface="Helvetica Neue"/>
                <a:cs typeface="Helvetica Neue"/>
              </a:defRPr>
            </a:lvl6pPr>
            <a:lvl7pPr algn="l">
              <a:buNone/>
              <a:defRPr sz="2625" b="1">
                <a:solidFill>
                  <a:srgbClr val="243A50"/>
                </a:solidFill>
                <a:latin typeface="Helvetica Neue"/>
                <a:ea typeface="Helvetica Neue"/>
                <a:cs typeface="Helvetica Neue"/>
              </a:defRPr>
            </a:lvl7pPr>
            <a:lvl8pPr algn="l">
              <a:buNone/>
              <a:defRPr sz="2625" b="1">
                <a:solidFill>
                  <a:srgbClr val="243A50"/>
                </a:solidFill>
                <a:latin typeface="Helvetica Neue"/>
                <a:ea typeface="Helvetica Neue"/>
                <a:cs typeface="Helvetica Neue"/>
              </a:defRPr>
            </a:lvl8pPr>
            <a:lvl9pPr algn="l">
              <a:buNone/>
              <a:defRPr sz="2625" b="1">
                <a:solidFill>
                  <a:srgbClr val="243A50"/>
                </a:solidFill>
                <a:latin typeface="Helvetica Neue"/>
                <a:ea typeface="Helvetica Neue"/>
                <a:cs typeface="Helvetica Neue"/>
              </a:defRPr>
            </a:lvl9pPr>
          </a:lstStyle>
          <a:p xmlns:a="http://schemas.openxmlformats.org/drawingml/2006/main">
            <a:pPr algn="l">
              <a:buNone/>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5 · Hierarchical error analysis</a:t>
            </a:r>
          </a:p>
        </p:txBody>
      </p:sp>
      <p:sp>
        <p:nvSpPr>
          <p:cNvPr id="3" name="Rectangle 2">
            <a:extLst xmlns:a="http://schemas.openxmlformats.org/drawingml/2006/main">
              <a:ext uri="{FF2B5EF4-FFF2-40B4-BE49-F238E27FC236}">
                <a16:creationId xmlns:a16="http://schemas.microsoft.com/office/drawing/2014/main" id="{A08764EF-55F1-4548-9EB4-19380ACE7D34}"/>
              </a:ext>
            </a:extLst>
          </p:cNvPr>
          <p:cNvSpPr>
            <a:spLocks xmlns:a="http://schemas.openxmlformats.org/drawingml/2006/main" noGrp="1"/>
          </p:cNvSpPr>
          <p:nvPr/>
        </p:nvSpPr>
        <p:spPr>
          <a:xfrm xmlns:a="http://schemas.openxmlformats.org/drawingml/2006/main">
            <a:off x="628650" y="904875"/>
            <a:ext cx="10839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Building and floor correctness provide context for coordinate error.</a:t>
            </a:r>
          </a:p>
        </p:txBody>
      </p:sp>
      <p:sp>
        <p:nvSpPr>
          <p:cNvPr id="4" name="Straight Connector 3">
            <a:extLst xmlns:a="http://schemas.openxmlformats.org/drawingml/2006/main">
              <a:ext uri="{FF2B5EF4-FFF2-40B4-BE49-F238E27FC236}">
                <a16:creationId xmlns:a16="http://schemas.microsoft.com/office/drawing/2014/main" id="{9599C72E-CADF-465D-A3B0-E7636D2734D4}"/>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BD5DA"/>
            </a:solidFill>
            <a:prstDash val="solid"/>
          </a:ln>
        </p:spPr>
      </p:sp>
      <p:sp>
        <p:nvSpPr>
          <p:cNvPr id="5" name="Rectangle 4">
            <a:extLst xmlns:a="http://schemas.openxmlformats.org/drawingml/2006/main">
              <a:ext uri="{FF2B5EF4-FFF2-40B4-BE49-F238E27FC236}">
                <a16:creationId xmlns:a16="http://schemas.microsoft.com/office/drawing/2014/main" id="{3DC916FF-67EC-405E-A05B-C007BF9AB210}"/>
              </a:ext>
            </a:extLst>
          </p:cNvPr>
          <p:cNvSpPr>
            <a:spLocks xmlns:a="http://schemas.openxmlformats.org/drawingml/2006/main" noGrp="1"/>
          </p:cNvSpPr>
          <p:nvPr/>
        </p:nvSpPr>
        <p:spPr>
          <a:xfrm xmlns:a="http://schemas.openxmlformats.org/drawingml/2006/main">
            <a:off x="609600" y="64770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900" b="0">
                <a:solidFill>
                  <a:srgbClr val="63788A"/>
                </a:solidFill>
                <a:latin typeface="Helvetica Neue"/>
                <a:ea typeface="Helvetica Neue"/>
                <a:cs typeface="Helvetica Neue"/>
              </a:defRPr>
            </a:defPPr>
            <a:lvl1pPr algn="r">
              <a:buNone/>
              <a:defRPr sz="900" b="0">
                <a:solidFill>
                  <a:srgbClr val="63788A"/>
                </a:solidFill>
                <a:latin typeface="Helvetica Neue"/>
                <a:ea typeface="Helvetica Neue"/>
                <a:cs typeface="Helvetica Neue"/>
              </a:defRPr>
            </a:lvl1pPr>
            <a:lvl2pPr algn="r">
              <a:buNone/>
              <a:defRPr sz="900" b="0">
                <a:solidFill>
                  <a:srgbClr val="63788A"/>
                </a:solidFill>
                <a:latin typeface="Helvetica Neue"/>
                <a:ea typeface="Helvetica Neue"/>
                <a:cs typeface="Helvetica Neue"/>
              </a:defRPr>
            </a:lvl2pPr>
            <a:lvl3pPr algn="r">
              <a:buNone/>
              <a:defRPr sz="900" b="0">
                <a:solidFill>
                  <a:srgbClr val="63788A"/>
                </a:solidFill>
                <a:latin typeface="Helvetica Neue"/>
                <a:ea typeface="Helvetica Neue"/>
                <a:cs typeface="Helvetica Neue"/>
              </a:defRPr>
            </a:lvl3pPr>
            <a:lvl4pPr algn="r">
              <a:buNone/>
              <a:defRPr sz="900" b="0">
                <a:solidFill>
                  <a:srgbClr val="63788A"/>
                </a:solidFill>
                <a:latin typeface="Helvetica Neue"/>
                <a:ea typeface="Helvetica Neue"/>
                <a:cs typeface="Helvetica Neue"/>
              </a:defRPr>
            </a:lvl4pPr>
            <a:lvl5pPr algn="r">
              <a:buNone/>
              <a:defRPr sz="900" b="0">
                <a:solidFill>
                  <a:srgbClr val="63788A"/>
                </a:solidFill>
                <a:latin typeface="Helvetica Neue"/>
                <a:ea typeface="Helvetica Neue"/>
                <a:cs typeface="Helvetica Neue"/>
              </a:defRPr>
            </a:lvl5pPr>
            <a:lvl6pPr algn="r">
              <a:buNone/>
              <a:defRPr sz="900" b="0">
                <a:solidFill>
                  <a:srgbClr val="63788A"/>
                </a:solidFill>
                <a:latin typeface="Helvetica Neue"/>
                <a:ea typeface="Helvetica Neue"/>
                <a:cs typeface="Helvetica Neue"/>
              </a:defRPr>
            </a:lvl6pPr>
            <a:lvl7pPr algn="r">
              <a:buNone/>
              <a:defRPr sz="900" b="0">
                <a:solidFill>
                  <a:srgbClr val="63788A"/>
                </a:solidFill>
                <a:latin typeface="Helvetica Neue"/>
                <a:ea typeface="Helvetica Neue"/>
                <a:cs typeface="Helvetica Neue"/>
              </a:defRPr>
            </a:lvl7pPr>
            <a:lvl8pPr algn="r">
              <a:buNone/>
              <a:defRPr sz="900" b="0">
                <a:solidFill>
                  <a:srgbClr val="63788A"/>
                </a:solidFill>
                <a:latin typeface="Helvetica Neue"/>
                <a:ea typeface="Helvetica Neue"/>
                <a:cs typeface="Helvetica Neue"/>
              </a:defRPr>
            </a:lvl8pPr>
            <a:lvl9pPr algn="r">
              <a:buNone/>
              <a:defRPr sz="900" b="0">
                <a:solidFill>
                  <a:srgbClr val="63788A"/>
                </a:solidFill>
                <a:latin typeface="Helvetica Neue"/>
                <a:ea typeface="Helvetica Neue"/>
                <a:cs typeface="Helvetica Neue"/>
              </a:defRPr>
            </a:lvl9pPr>
          </a:lstStyle>
          <a:p xmlns:a="http://schemas.openxmlformats.org/drawingml/2006/main">
            <a:pPr algn="r">
              <a:buNone/>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19</a:t>
            </a:r>
          </a:p>
        </p:txBody>
      </p:sp>
      <p:pic>
        <p:nvPicPr>
          <p:cNvPr id="6" name="Picture 5">
            <a:extLst xmlns:a="http://schemas.openxmlformats.org/drawingml/2006/main">
              <a:ext uri="{FF2B5EF4-FFF2-40B4-BE49-F238E27FC236}">
                <a16:creationId xmlns:a16="http://schemas.microsoft.com/office/drawing/2014/main" id="{F0E2A4B4-FD33-49E7-A0C9-4CA7D77428C2}"/>
              </a:ext>
            </a:extLst>
          </p:cNvPr>
          <p:cNvPicPr>
            <a:picLocks xmlns:a="http://schemas.openxmlformats.org/drawingml/2006/main" noChangeAspect="1"/>
          </p:cNvPicPr>
          <p:nvPr/>
        </p:nvPicPr>
        <p:blipFill>
          <a:blip xmlns:r="http://schemas.openxmlformats.org/officeDocument/2006/relationships" xmlns:a="http://schemas.openxmlformats.org/drawingml/2006/main" r:embed="R6d375c7270334ccb"/>
          <a:stretch xmlns:a="http://schemas.openxmlformats.org/drawingml/2006/main"/>
        </p:blipFill>
        <p:spPr>
          <a:xfrm xmlns:a="http://schemas.openxmlformats.org/drawingml/2006/main">
            <a:off x="495300" y="2058353"/>
            <a:ext cx="7715250" cy="301752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8C7C07F3-E4A5-46AA-9CB1-4AA0F1AAF8F3}"/>
              </a:ext>
            </a:extLst>
          </p:cNvPr>
          <p:cNvSpPr>
            <a:spLocks xmlns:a="http://schemas.openxmlformats.org/drawingml/2006/main" noGrp="1"/>
          </p:cNvSpPr>
          <p:nvPr/>
        </p:nvSpPr>
        <p:spPr>
          <a:xfrm xmlns:a="http://schemas.openxmlformats.org/drawingml/2006/main">
            <a:off x="8572500" y="179070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1">
                <a:solidFill>
                  <a:srgbClr val="63788A"/>
                </a:solidFill>
                <a:latin typeface="Helvetica Neue"/>
                <a:ea typeface="Helvetica Neue"/>
                <a:cs typeface="Helvetica Neue"/>
              </a:defRPr>
            </a:defPPr>
            <a:lvl1pPr algn="l">
              <a:buNone/>
              <a:defRPr sz="1350" b="1">
                <a:solidFill>
                  <a:srgbClr val="63788A"/>
                </a:solidFill>
                <a:latin typeface="Helvetica Neue"/>
                <a:ea typeface="Helvetica Neue"/>
                <a:cs typeface="Helvetica Neue"/>
              </a:defRPr>
            </a:lvl1pPr>
            <a:lvl2pPr algn="l">
              <a:buNone/>
              <a:defRPr sz="1350" b="1">
                <a:solidFill>
                  <a:srgbClr val="63788A"/>
                </a:solidFill>
                <a:latin typeface="Helvetica Neue"/>
                <a:ea typeface="Helvetica Neue"/>
                <a:cs typeface="Helvetica Neue"/>
              </a:defRPr>
            </a:lvl2pPr>
            <a:lvl3pPr algn="l">
              <a:buNone/>
              <a:defRPr sz="1350" b="1">
                <a:solidFill>
                  <a:srgbClr val="63788A"/>
                </a:solidFill>
                <a:latin typeface="Helvetica Neue"/>
                <a:ea typeface="Helvetica Neue"/>
                <a:cs typeface="Helvetica Neue"/>
              </a:defRPr>
            </a:lvl3pPr>
            <a:lvl4pPr algn="l">
              <a:buNone/>
              <a:defRPr sz="1350" b="1">
                <a:solidFill>
                  <a:srgbClr val="63788A"/>
                </a:solidFill>
                <a:latin typeface="Helvetica Neue"/>
                <a:ea typeface="Helvetica Neue"/>
                <a:cs typeface="Helvetica Neue"/>
              </a:defRPr>
            </a:lvl4pPr>
            <a:lvl5pPr algn="l">
              <a:buNone/>
              <a:defRPr sz="1350" b="1">
                <a:solidFill>
                  <a:srgbClr val="63788A"/>
                </a:solidFill>
                <a:latin typeface="Helvetica Neue"/>
                <a:ea typeface="Helvetica Neue"/>
                <a:cs typeface="Helvetica Neue"/>
              </a:defRPr>
            </a:lvl5pPr>
            <a:lvl6pPr algn="l">
              <a:buNone/>
              <a:defRPr sz="1350" b="1">
                <a:solidFill>
                  <a:srgbClr val="63788A"/>
                </a:solidFill>
                <a:latin typeface="Helvetica Neue"/>
                <a:ea typeface="Helvetica Neue"/>
                <a:cs typeface="Helvetica Neue"/>
              </a:defRPr>
            </a:lvl6pPr>
            <a:lvl7pPr algn="l">
              <a:buNone/>
              <a:defRPr sz="1350" b="1">
                <a:solidFill>
                  <a:srgbClr val="63788A"/>
                </a:solidFill>
                <a:latin typeface="Helvetica Neue"/>
                <a:ea typeface="Helvetica Neue"/>
                <a:cs typeface="Helvetica Neue"/>
              </a:defRPr>
            </a:lvl7pPr>
            <a:lvl8pPr algn="l">
              <a:buNone/>
              <a:defRPr sz="1350" b="1">
                <a:solidFill>
                  <a:srgbClr val="63788A"/>
                </a:solidFill>
                <a:latin typeface="Helvetica Neue"/>
                <a:ea typeface="Helvetica Neue"/>
                <a:cs typeface="Helvetica Neue"/>
              </a:defRPr>
            </a:lvl8pPr>
            <a:lvl9pPr algn="l">
              <a:buNone/>
              <a:defRPr sz="1350" b="1">
                <a:solidFill>
                  <a:srgbClr val="63788A"/>
                </a:solidFill>
                <a:latin typeface="Helvetica Neue"/>
                <a:ea typeface="Helvetica Neue"/>
                <a:cs typeface="Helvetica Neue"/>
              </a:defRPr>
            </a:lvl9pPr>
          </a:lstStyle>
          <a:p xmlns:a="http://schemas.openxmlformats.org/drawingml/2006/main">
            <a:pPr algn="l">
              <a:buNone/>
              <a:defRPr sz="1350" b="1">
                <a:solidFill>
                  <a:srgbClr val="63788A"/>
                </a:solidFill>
                <a:latin typeface="Helvetica Neue"/>
                <a:ea typeface="Helvetica Neue"/>
                <a:cs typeface="Helvetica Neue"/>
              </a:defRPr>
            </a:pPr>
            <a:r>
              <a:rPr sz="1350" b="1">
                <a:solidFill>
                  <a:srgbClr val="63788A"/>
                </a:solidFill>
                <a:latin typeface="Helvetica Neue"/>
                <a:ea typeface="Helvetica Neue"/>
                <a:cs typeface="Helvetica Neue"/>
              </a:rPr>
              <a:t>Held-out</a:t>
            </a:r>
          </a:p>
        </p:txBody>
      </p:sp>
      <p:sp>
        <p:nvSpPr>
          <p:cNvPr id="8" name="Rectangle 7">
            <a:extLst xmlns:a="http://schemas.openxmlformats.org/drawingml/2006/main">
              <a:ext uri="{FF2B5EF4-FFF2-40B4-BE49-F238E27FC236}">
                <a16:creationId xmlns:a16="http://schemas.microsoft.com/office/drawing/2014/main" id="{B180BE00-2619-4DEA-9D52-4179DBF1AE8D}"/>
              </a:ext>
            </a:extLst>
          </p:cNvPr>
          <p:cNvSpPr>
            <a:spLocks xmlns:a="http://schemas.openxmlformats.org/drawingml/2006/main" noGrp="1"/>
          </p:cNvSpPr>
          <p:nvPr/>
        </p:nvSpPr>
        <p:spPr>
          <a:xfrm xmlns:a="http://schemas.openxmlformats.org/drawingml/2006/main">
            <a:off x="8572500" y="2133600"/>
            <a:ext cx="276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700" b="1">
                <a:solidFill>
                  <a:srgbClr val="243A50"/>
                </a:solidFill>
                <a:latin typeface="Helvetica Neue"/>
                <a:ea typeface="Helvetica Neue"/>
                <a:cs typeface="Helvetica Neue"/>
              </a:defRPr>
            </a:defPPr>
            <a:lvl1pPr algn="l">
              <a:buNone/>
              <a:defRPr sz="2700" b="1">
                <a:solidFill>
                  <a:srgbClr val="243A50"/>
                </a:solidFill>
                <a:latin typeface="Helvetica Neue"/>
                <a:ea typeface="Helvetica Neue"/>
                <a:cs typeface="Helvetica Neue"/>
              </a:defRPr>
            </a:lvl1pPr>
            <a:lvl2pPr algn="l">
              <a:buNone/>
              <a:defRPr sz="2700" b="1">
                <a:solidFill>
                  <a:srgbClr val="243A50"/>
                </a:solidFill>
                <a:latin typeface="Helvetica Neue"/>
                <a:ea typeface="Helvetica Neue"/>
                <a:cs typeface="Helvetica Neue"/>
              </a:defRPr>
            </a:lvl2pPr>
            <a:lvl3pPr algn="l">
              <a:buNone/>
              <a:defRPr sz="2700" b="1">
                <a:solidFill>
                  <a:srgbClr val="243A50"/>
                </a:solidFill>
                <a:latin typeface="Helvetica Neue"/>
                <a:ea typeface="Helvetica Neue"/>
                <a:cs typeface="Helvetica Neue"/>
              </a:defRPr>
            </a:lvl3pPr>
            <a:lvl4pPr algn="l">
              <a:buNone/>
              <a:defRPr sz="2700" b="1">
                <a:solidFill>
                  <a:srgbClr val="243A50"/>
                </a:solidFill>
                <a:latin typeface="Helvetica Neue"/>
                <a:ea typeface="Helvetica Neue"/>
                <a:cs typeface="Helvetica Neue"/>
              </a:defRPr>
            </a:lvl4pPr>
            <a:lvl5pPr algn="l">
              <a:buNone/>
              <a:defRPr sz="2700" b="1">
                <a:solidFill>
                  <a:srgbClr val="243A50"/>
                </a:solidFill>
                <a:latin typeface="Helvetica Neue"/>
                <a:ea typeface="Helvetica Neue"/>
                <a:cs typeface="Helvetica Neue"/>
              </a:defRPr>
            </a:lvl5pPr>
            <a:lvl6pPr algn="l">
              <a:buNone/>
              <a:defRPr sz="2700" b="1">
                <a:solidFill>
                  <a:srgbClr val="243A50"/>
                </a:solidFill>
                <a:latin typeface="Helvetica Neue"/>
                <a:ea typeface="Helvetica Neue"/>
                <a:cs typeface="Helvetica Neue"/>
              </a:defRPr>
            </a:lvl6pPr>
            <a:lvl7pPr algn="l">
              <a:buNone/>
              <a:defRPr sz="2700" b="1">
                <a:solidFill>
                  <a:srgbClr val="243A50"/>
                </a:solidFill>
                <a:latin typeface="Helvetica Neue"/>
                <a:ea typeface="Helvetica Neue"/>
                <a:cs typeface="Helvetica Neue"/>
              </a:defRPr>
            </a:lvl7pPr>
            <a:lvl8pPr algn="l">
              <a:buNone/>
              <a:defRPr sz="2700" b="1">
                <a:solidFill>
                  <a:srgbClr val="243A50"/>
                </a:solidFill>
                <a:latin typeface="Helvetica Neue"/>
                <a:ea typeface="Helvetica Neue"/>
                <a:cs typeface="Helvetica Neue"/>
              </a:defRPr>
            </a:lvl8pPr>
            <a:lvl9pPr algn="l">
              <a:buNone/>
              <a:defRPr sz="2700" b="1">
                <a:solidFill>
                  <a:srgbClr val="243A50"/>
                </a:solidFill>
                <a:latin typeface="Helvetica Neue"/>
                <a:ea typeface="Helvetica Neue"/>
                <a:cs typeface="Helvetica Neue"/>
              </a:defRPr>
            </a:lvl9pPr>
          </a:lstStyle>
          <a:p xmlns:a="http://schemas.openxmlformats.org/drawingml/2006/main">
            <a:pPr algn="l">
              <a:buNone/>
              <a:defRPr sz="2700" b="1">
                <a:solidFill>
                  <a:srgbClr val="243A50"/>
                </a:solidFill>
                <a:latin typeface="Helvetica Neue"/>
                <a:ea typeface="Helvetica Neue"/>
                <a:cs typeface="Helvetica Neue"/>
              </a:defRPr>
            </a:pPr>
            <a:r>
              <a:rPr sz="2700" b="1">
                <a:solidFill>
                  <a:srgbClr val="243A50"/>
                </a:solidFill>
                <a:latin typeface="Helvetica Neue"/>
                <a:ea typeface="Helvetica Neue"/>
                <a:cs typeface="Helvetica Neue"/>
              </a:rPr>
              <a:t>986 / 1,111</a:t>
            </a:r>
          </a:p>
        </p:txBody>
      </p:sp>
      <p:sp>
        <p:nvSpPr>
          <p:cNvPr id="9" name="Rectangle 8">
            <a:extLst xmlns:a="http://schemas.openxmlformats.org/drawingml/2006/main">
              <a:ext uri="{FF2B5EF4-FFF2-40B4-BE49-F238E27FC236}">
                <a16:creationId xmlns:a16="http://schemas.microsoft.com/office/drawing/2014/main" id="{3F5C75E7-9F16-4FCD-AC59-5FF9DB7168C5}"/>
              </a:ext>
            </a:extLst>
          </p:cNvPr>
          <p:cNvSpPr>
            <a:spLocks xmlns:a="http://schemas.openxmlformats.org/drawingml/2006/main" noGrp="1"/>
          </p:cNvSpPr>
          <p:nvPr/>
        </p:nvSpPr>
        <p:spPr>
          <a:xfrm xmlns:a="http://schemas.openxmlformats.org/drawingml/2006/main">
            <a:off x="8591550" y="2647950"/>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33485D"/>
                </a:solidFill>
                <a:latin typeface="Helvetica Neue"/>
                <a:ea typeface="Helvetica Neue"/>
                <a:cs typeface="Helvetica Neue"/>
              </a:defRPr>
            </a:defPPr>
            <a:lvl1pPr algn="l">
              <a:buNone/>
              <a:defRPr sz="1275" b="0">
                <a:solidFill>
                  <a:srgbClr val="33485D"/>
                </a:solidFill>
                <a:latin typeface="Helvetica Neue"/>
                <a:ea typeface="Helvetica Neue"/>
                <a:cs typeface="Helvetica Neue"/>
              </a:defRPr>
            </a:lvl1pPr>
            <a:lvl2pPr algn="l">
              <a:buNone/>
              <a:defRPr sz="1275" b="0">
                <a:solidFill>
                  <a:srgbClr val="33485D"/>
                </a:solidFill>
                <a:latin typeface="Helvetica Neue"/>
                <a:ea typeface="Helvetica Neue"/>
                <a:cs typeface="Helvetica Neue"/>
              </a:defRPr>
            </a:lvl2pPr>
            <a:lvl3pPr algn="l">
              <a:buNone/>
              <a:defRPr sz="1275" b="0">
                <a:solidFill>
                  <a:srgbClr val="33485D"/>
                </a:solidFill>
                <a:latin typeface="Helvetica Neue"/>
                <a:ea typeface="Helvetica Neue"/>
                <a:cs typeface="Helvetica Neue"/>
              </a:defRPr>
            </a:lvl3pPr>
            <a:lvl4pPr algn="l">
              <a:buNone/>
              <a:defRPr sz="1275" b="0">
                <a:solidFill>
                  <a:srgbClr val="33485D"/>
                </a:solidFill>
                <a:latin typeface="Helvetica Neue"/>
                <a:ea typeface="Helvetica Neue"/>
                <a:cs typeface="Helvetica Neue"/>
              </a:defRPr>
            </a:lvl4pPr>
            <a:lvl5pPr algn="l">
              <a:buNone/>
              <a:defRPr sz="1275" b="0">
                <a:solidFill>
                  <a:srgbClr val="33485D"/>
                </a:solidFill>
                <a:latin typeface="Helvetica Neue"/>
                <a:ea typeface="Helvetica Neue"/>
                <a:cs typeface="Helvetica Neue"/>
              </a:defRPr>
            </a:lvl5pPr>
            <a:lvl6pPr algn="l">
              <a:buNone/>
              <a:defRPr sz="1275" b="0">
                <a:solidFill>
                  <a:srgbClr val="33485D"/>
                </a:solidFill>
                <a:latin typeface="Helvetica Neue"/>
                <a:ea typeface="Helvetica Neue"/>
                <a:cs typeface="Helvetica Neue"/>
              </a:defRPr>
            </a:lvl6pPr>
            <a:lvl7pPr algn="l">
              <a:buNone/>
              <a:defRPr sz="1275" b="0">
                <a:solidFill>
                  <a:srgbClr val="33485D"/>
                </a:solidFill>
                <a:latin typeface="Helvetica Neue"/>
                <a:ea typeface="Helvetica Neue"/>
                <a:cs typeface="Helvetica Neue"/>
              </a:defRPr>
            </a:lvl7pPr>
            <a:lvl8pPr algn="l">
              <a:buNone/>
              <a:defRPr sz="1275" b="0">
                <a:solidFill>
                  <a:srgbClr val="33485D"/>
                </a:solidFill>
                <a:latin typeface="Helvetica Neue"/>
                <a:ea typeface="Helvetica Neue"/>
                <a:cs typeface="Helvetica Neue"/>
              </a:defRPr>
            </a:lvl8pPr>
            <a:lvl9pPr algn="l">
              <a:buNone/>
              <a:defRPr sz="1275" b="0">
                <a:solidFill>
                  <a:srgbClr val="33485D"/>
                </a:solidFill>
                <a:latin typeface="Helvetica Neue"/>
                <a:ea typeface="Helvetica Neue"/>
                <a:cs typeface="Helvetica Neue"/>
              </a:defRPr>
            </a:lvl9pPr>
          </a:lstStyle>
          <a:p xmlns:a="http://schemas.openxmlformats.org/drawingml/2006/main">
            <a:pPr algn="l">
              <a:buNone/>
              <a:defRPr sz="1275" b="0">
                <a:solidFill>
                  <a:srgbClr val="33485D"/>
                </a:solidFill>
                <a:latin typeface="Helvetica Neue"/>
                <a:ea typeface="Helvetica Neue"/>
                <a:cs typeface="Helvetica Neue"/>
              </a:defRPr>
            </a:pPr>
            <a:r>
              <a:rPr sz="1275" b="0">
                <a:solidFill>
                  <a:srgbClr val="33485D"/>
                </a:solidFill>
                <a:latin typeface="Helvetica Neue"/>
                <a:ea typeface="Helvetica Neue"/>
                <a:cs typeface="Helvetica Neue"/>
              </a:rPr>
              <a:t>both building + floor correct · 88.75%</a:t>
            </a:r>
          </a:p>
        </p:txBody>
      </p:sp>
      <p:sp>
        <p:nvSpPr>
          <p:cNvPr id="10" name="Rectangle 9">
            <a:extLst xmlns:a="http://schemas.openxmlformats.org/drawingml/2006/main">
              <a:ext uri="{FF2B5EF4-FFF2-40B4-BE49-F238E27FC236}">
                <a16:creationId xmlns:a16="http://schemas.microsoft.com/office/drawing/2014/main" id="{071788A8-5EE7-4A15-8827-7D664439634D}"/>
              </a:ext>
            </a:extLst>
          </p:cNvPr>
          <p:cNvSpPr>
            <a:spLocks xmlns:a="http://schemas.openxmlformats.org/drawingml/2006/main" noGrp="1"/>
          </p:cNvSpPr>
          <p:nvPr/>
        </p:nvSpPr>
        <p:spPr>
          <a:xfrm xmlns:a="http://schemas.openxmlformats.org/drawingml/2006/main">
            <a:off x="8572500" y="3476625"/>
            <a:ext cx="276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3150" b="1">
                <a:solidFill>
                  <a:srgbClr val="64877F"/>
                </a:solidFill>
                <a:latin typeface="Helvetica Neue"/>
                <a:ea typeface="Helvetica Neue"/>
                <a:cs typeface="Helvetica Neue"/>
              </a:defRPr>
            </a:defPPr>
            <a:lvl1pPr algn="l">
              <a:buNone/>
              <a:defRPr sz="3150" b="1">
                <a:solidFill>
                  <a:srgbClr val="64877F"/>
                </a:solidFill>
                <a:latin typeface="Helvetica Neue"/>
                <a:ea typeface="Helvetica Neue"/>
                <a:cs typeface="Helvetica Neue"/>
              </a:defRPr>
            </a:lvl1pPr>
            <a:lvl2pPr algn="l">
              <a:buNone/>
              <a:defRPr sz="3150" b="1">
                <a:solidFill>
                  <a:srgbClr val="64877F"/>
                </a:solidFill>
                <a:latin typeface="Helvetica Neue"/>
                <a:ea typeface="Helvetica Neue"/>
                <a:cs typeface="Helvetica Neue"/>
              </a:defRPr>
            </a:lvl2pPr>
            <a:lvl3pPr algn="l">
              <a:buNone/>
              <a:defRPr sz="3150" b="1">
                <a:solidFill>
                  <a:srgbClr val="64877F"/>
                </a:solidFill>
                <a:latin typeface="Helvetica Neue"/>
                <a:ea typeface="Helvetica Neue"/>
                <a:cs typeface="Helvetica Neue"/>
              </a:defRPr>
            </a:lvl3pPr>
            <a:lvl4pPr algn="l">
              <a:buNone/>
              <a:defRPr sz="3150" b="1">
                <a:solidFill>
                  <a:srgbClr val="64877F"/>
                </a:solidFill>
                <a:latin typeface="Helvetica Neue"/>
                <a:ea typeface="Helvetica Neue"/>
                <a:cs typeface="Helvetica Neue"/>
              </a:defRPr>
            </a:lvl4pPr>
            <a:lvl5pPr algn="l">
              <a:buNone/>
              <a:defRPr sz="3150" b="1">
                <a:solidFill>
                  <a:srgbClr val="64877F"/>
                </a:solidFill>
                <a:latin typeface="Helvetica Neue"/>
                <a:ea typeface="Helvetica Neue"/>
                <a:cs typeface="Helvetica Neue"/>
              </a:defRPr>
            </a:lvl5pPr>
            <a:lvl6pPr algn="l">
              <a:buNone/>
              <a:defRPr sz="3150" b="1">
                <a:solidFill>
                  <a:srgbClr val="64877F"/>
                </a:solidFill>
                <a:latin typeface="Helvetica Neue"/>
                <a:ea typeface="Helvetica Neue"/>
                <a:cs typeface="Helvetica Neue"/>
              </a:defRPr>
            </a:lvl6pPr>
            <a:lvl7pPr algn="l">
              <a:buNone/>
              <a:defRPr sz="3150" b="1">
                <a:solidFill>
                  <a:srgbClr val="64877F"/>
                </a:solidFill>
                <a:latin typeface="Helvetica Neue"/>
                <a:ea typeface="Helvetica Neue"/>
                <a:cs typeface="Helvetica Neue"/>
              </a:defRPr>
            </a:lvl7pPr>
            <a:lvl8pPr algn="l">
              <a:buNone/>
              <a:defRPr sz="3150" b="1">
                <a:solidFill>
                  <a:srgbClr val="64877F"/>
                </a:solidFill>
                <a:latin typeface="Helvetica Neue"/>
                <a:ea typeface="Helvetica Neue"/>
                <a:cs typeface="Helvetica Neue"/>
              </a:defRPr>
            </a:lvl8pPr>
            <a:lvl9pPr algn="l">
              <a:buNone/>
              <a:defRPr sz="3150" b="1">
                <a:solidFill>
                  <a:srgbClr val="64877F"/>
                </a:solidFill>
                <a:latin typeface="Helvetica Neue"/>
                <a:ea typeface="Helvetica Neue"/>
                <a:cs typeface="Helvetica Neue"/>
              </a:defRPr>
            </a:lvl9pPr>
          </a:lstStyle>
          <a:p xmlns:a="http://schemas.openxmlformats.org/drawingml/2006/main">
            <a:pPr algn="l">
              <a:buNone/>
              <a:defRPr sz="3150" b="1">
                <a:solidFill>
                  <a:srgbClr val="64877F"/>
                </a:solidFill>
                <a:latin typeface="Helvetica Neue"/>
                <a:ea typeface="Helvetica Neue"/>
                <a:cs typeface="Helvetica Neue"/>
              </a:defRPr>
            </a:pPr>
            <a:r>
              <a:rPr sz="3150" b="1">
                <a:solidFill>
                  <a:srgbClr val="64877F"/>
                </a:solidFill>
                <a:latin typeface="Helvetica Neue"/>
                <a:ea typeface="Helvetica Neue"/>
                <a:cs typeface="Helvetica Neue"/>
              </a:rPr>
              <a:t>10.00</a:t>
            </a:r>
          </a:p>
        </p:txBody>
      </p:sp>
      <p:sp>
        <p:nvSpPr>
          <p:cNvPr id="11" name="Rectangle 10">
            <a:extLst xmlns:a="http://schemas.openxmlformats.org/drawingml/2006/main">
              <a:ext uri="{FF2B5EF4-FFF2-40B4-BE49-F238E27FC236}">
                <a16:creationId xmlns:a16="http://schemas.microsoft.com/office/drawing/2014/main" id="{248D0436-8124-4D40-9413-9CC8A36C68D8}"/>
              </a:ext>
            </a:extLst>
          </p:cNvPr>
          <p:cNvSpPr>
            <a:spLocks xmlns:a="http://schemas.openxmlformats.org/drawingml/2006/main" noGrp="1"/>
          </p:cNvSpPr>
          <p:nvPr/>
        </p:nvSpPr>
        <p:spPr>
          <a:xfrm xmlns:a="http://schemas.openxmlformats.org/drawingml/2006/main">
            <a:off x="8591550" y="4000500"/>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33485D"/>
                </a:solidFill>
                <a:latin typeface="Helvetica Neue"/>
                <a:ea typeface="Helvetica Neue"/>
                <a:cs typeface="Helvetica Neue"/>
              </a:defRPr>
            </a:defPPr>
            <a:lvl1pPr algn="l">
              <a:buNone/>
              <a:defRPr sz="1275" b="0">
                <a:solidFill>
                  <a:srgbClr val="33485D"/>
                </a:solidFill>
                <a:latin typeface="Helvetica Neue"/>
                <a:ea typeface="Helvetica Neue"/>
                <a:cs typeface="Helvetica Neue"/>
              </a:defRPr>
            </a:lvl1pPr>
            <a:lvl2pPr algn="l">
              <a:buNone/>
              <a:defRPr sz="1275" b="0">
                <a:solidFill>
                  <a:srgbClr val="33485D"/>
                </a:solidFill>
                <a:latin typeface="Helvetica Neue"/>
                <a:ea typeface="Helvetica Neue"/>
                <a:cs typeface="Helvetica Neue"/>
              </a:defRPr>
            </a:lvl2pPr>
            <a:lvl3pPr algn="l">
              <a:buNone/>
              <a:defRPr sz="1275" b="0">
                <a:solidFill>
                  <a:srgbClr val="33485D"/>
                </a:solidFill>
                <a:latin typeface="Helvetica Neue"/>
                <a:ea typeface="Helvetica Neue"/>
                <a:cs typeface="Helvetica Neue"/>
              </a:defRPr>
            </a:lvl3pPr>
            <a:lvl4pPr algn="l">
              <a:buNone/>
              <a:defRPr sz="1275" b="0">
                <a:solidFill>
                  <a:srgbClr val="33485D"/>
                </a:solidFill>
                <a:latin typeface="Helvetica Neue"/>
                <a:ea typeface="Helvetica Neue"/>
                <a:cs typeface="Helvetica Neue"/>
              </a:defRPr>
            </a:lvl4pPr>
            <a:lvl5pPr algn="l">
              <a:buNone/>
              <a:defRPr sz="1275" b="0">
                <a:solidFill>
                  <a:srgbClr val="33485D"/>
                </a:solidFill>
                <a:latin typeface="Helvetica Neue"/>
                <a:ea typeface="Helvetica Neue"/>
                <a:cs typeface="Helvetica Neue"/>
              </a:defRPr>
            </a:lvl5pPr>
            <a:lvl6pPr algn="l">
              <a:buNone/>
              <a:defRPr sz="1275" b="0">
                <a:solidFill>
                  <a:srgbClr val="33485D"/>
                </a:solidFill>
                <a:latin typeface="Helvetica Neue"/>
                <a:ea typeface="Helvetica Neue"/>
                <a:cs typeface="Helvetica Neue"/>
              </a:defRPr>
            </a:lvl6pPr>
            <a:lvl7pPr algn="l">
              <a:buNone/>
              <a:defRPr sz="1275" b="0">
                <a:solidFill>
                  <a:srgbClr val="33485D"/>
                </a:solidFill>
                <a:latin typeface="Helvetica Neue"/>
                <a:ea typeface="Helvetica Neue"/>
                <a:cs typeface="Helvetica Neue"/>
              </a:defRPr>
            </a:lvl7pPr>
            <a:lvl8pPr algn="l">
              <a:buNone/>
              <a:defRPr sz="1275" b="0">
                <a:solidFill>
                  <a:srgbClr val="33485D"/>
                </a:solidFill>
                <a:latin typeface="Helvetica Neue"/>
                <a:ea typeface="Helvetica Neue"/>
                <a:cs typeface="Helvetica Neue"/>
              </a:defRPr>
            </a:lvl8pPr>
            <a:lvl9pPr algn="l">
              <a:buNone/>
              <a:defRPr sz="1275" b="0">
                <a:solidFill>
                  <a:srgbClr val="33485D"/>
                </a:solidFill>
                <a:latin typeface="Helvetica Neue"/>
                <a:ea typeface="Helvetica Neue"/>
                <a:cs typeface="Helvetica Neue"/>
              </a:defRPr>
            </a:lvl9pPr>
          </a:lstStyle>
          <a:p xmlns:a="http://schemas.openxmlformats.org/drawingml/2006/main">
            <a:pPr algn="l">
              <a:buNone/>
              <a:defRPr sz="1275" b="0">
                <a:solidFill>
                  <a:srgbClr val="33485D"/>
                </a:solidFill>
                <a:latin typeface="Helvetica Neue"/>
                <a:ea typeface="Helvetica Neue"/>
                <a:cs typeface="Helvetica Neue"/>
              </a:defRPr>
            </a:pPr>
            <a:r>
              <a:rPr sz="1275" b="0">
                <a:solidFill>
                  <a:srgbClr val="33485D"/>
                </a:solidFill>
                <a:latin typeface="Helvetica Neue"/>
                <a:ea typeface="Helvetica Neue"/>
                <a:cs typeface="Helvetica Neue"/>
              </a:rPr>
              <a:t>mean coordinate error in that group</a:t>
            </a:r>
          </a:p>
        </p:txBody>
      </p:sp>
      <p:sp>
        <p:nvSpPr>
          <p:cNvPr id="12" name="Rectangle 11">
            <a:extLst xmlns:a="http://schemas.openxmlformats.org/drawingml/2006/main">
              <a:ext uri="{FF2B5EF4-FFF2-40B4-BE49-F238E27FC236}">
                <a16:creationId xmlns:a16="http://schemas.microsoft.com/office/drawing/2014/main" id="{225E0115-BD6F-465E-AC04-219C7BD36EAC}"/>
              </a:ext>
            </a:extLst>
          </p:cNvPr>
          <p:cNvSpPr>
            <a:spLocks xmlns:a="http://schemas.openxmlformats.org/drawingml/2006/main" noGrp="1"/>
          </p:cNvSpPr>
          <p:nvPr/>
        </p:nvSpPr>
        <p:spPr>
          <a:xfrm xmlns:a="http://schemas.openxmlformats.org/drawingml/2006/main">
            <a:off x="8591550" y="4810125"/>
            <a:ext cx="2781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1">
                <a:solidFill>
                  <a:srgbClr val="A76F61"/>
                </a:solidFill>
                <a:latin typeface="Helvetica Neue"/>
                <a:ea typeface="Helvetica Neue"/>
                <a:cs typeface="Helvetica Neue"/>
              </a:defRPr>
            </a:defPPr>
            <a:lvl1pPr algn="l">
              <a:buNone/>
              <a:defRPr sz="1350" b="1">
                <a:solidFill>
                  <a:srgbClr val="A76F61"/>
                </a:solidFill>
                <a:latin typeface="Helvetica Neue"/>
                <a:ea typeface="Helvetica Neue"/>
                <a:cs typeface="Helvetica Neue"/>
              </a:defRPr>
            </a:lvl1pPr>
            <a:lvl2pPr algn="l">
              <a:buNone/>
              <a:defRPr sz="1350" b="1">
                <a:solidFill>
                  <a:srgbClr val="A76F61"/>
                </a:solidFill>
                <a:latin typeface="Helvetica Neue"/>
                <a:ea typeface="Helvetica Neue"/>
                <a:cs typeface="Helvetica Neue"/>
              </a:defRPr>
            </a:lvl2pPr>
            <a:lvl3pPr algn="l">
              <a:buNone/>
              <a:defRPr sz="1350" b="1">
                <a:solidFill>
                  <a:srgbClr val="A76F61"/>
                </a:solidFill>
                <a:latin typeface="Helvetica Neue"/>
                <a:ea typeface="Helvetica Neue"/>
                <a:cs typeface="Helvetica Neue"/>
              </a:defRPr>
            </a:lvl3pPr>
            <a:lvl4pPr algn="l">
              <a:buNone/>
              <a:defRPr sz="1350" b="1">
                <a:solidFill>
                  <a:srgbClr val="A76F61"/>
                </a:solidFill>
                <a:latin typeface="Helvetica Neue"/>
                <a:ea typeface="Helvetica Neue"/>
                <a:cs typeface="Helvetica Neue"/>
              </a:defRPr>
            </a:lvl4pPr>
            <a:lvl5pPr algn="l">
              <a:buNone/>
              <a:defRPr sz="1350" b="1">
                <a:solidFill>
                  <a:srgbClr val="A76F61"/>
                </a:solidFill>
                <a:latin typeface="Helvetica Neue"/>
                <a:ea typeface="Helvetica Neue"/>
                <a:cs typeface="Helvetica Neue"/>
              </a:defRPr>
            </a:lvl5pPr>
            <a:lvl6pPr algn="l">
              <a:buNone/>
              <a:defRPr sz="1350" b="1">
                <a:solidFill>
                  <a:srgbClr val="A76F61"/>
                </a:solidFill>
                <a:latin typeface="Helvetica Neue"/>
                <a:ea typeface="Helvetica Neue"/>
                <a:cs typeface="Helvetica Neue"/>
              </a:defRPr>
            </a:lvl6pPr>
            <a:lvl7pPr algn="l">
              <a:buNone/>
              <a:defRPr sz="1350" b="1">
                <a:solidFill>
                  <a:srgbClr val="A76F61"/>
                </a:solidFill>
                <a:latin typeface="Helvetica Neue"/>
                <a:ea typeface="Helvetica Neue"/>
                <a:cs typeface="Helvetica Neue"/>
              </a:defRPr>
            </a:lvl7pPr>
            <a:lvl8pPr algn="l">
              <a:buNone/>
              <a:defRPr sz="1350" b="1">
                <a:solidFill>
                  <a:srgbClr val="A76F61"/>
                </a:solidFill>
                <a:latin typeface="Helvetica Neue"/>
                <a:ea typeface="Helvetica Neue"/>
                <a:cs typeface="Helvetica Neue"/>
              </a:defRPr>
            </a:lvl8pPr>
            <a:lvl9pPr algn="l">
              <a:buNone/>
              <a:defRPr sz="1350" b="1">
                <a:solidFill>
                  <a:srgbClr val="A76F61"/>
                </a:solidFill>
                <a:latin typeface="Helvetica Neue"/>
                <a:ea typeface="Helvetica Neue"/>
                <a:cs typeface="Helvetica Neue"/>
              </a:defRPr>
            </a:lvl9pPr>
          </a:lstStyle>
          <a:p xmlns:a="http://schemas.openxmlformats.org/drawingml/2006/main">
            <a:pPr algn="l">
              <a:buNone/>
              <a:defRPr sz="1350" b="1">
                <a:solidFill>
                  <a:srgbClr val="A76F61"/>
                </a:solidFill>
                <a:latin typeface="Helvetica Neue"/>
                <a:ea typeface="Helvetica Neue"/>
                <a:cs typeface="Helvetica Neue"/>
              </a:defRPr>
            </a:pPr>
            <a:r>
              <a:rPr sz="1350" b="1">
                <a:solidFill>
                  <a:srgbClr val="A76F61"/>
                </a:solidFill>
                <a:latin typeface="Helvetica Neue"/>
                <a:ea typeface="Helvetica Neue"/>
                <a:cs typeface="Helvetica Neue"/>
              </a:rPr>
              <a:t>Only 3 records have a building error.</a:t>
            </a:r>
          </a:p>
        </p:txBody>
      </p:sp>
    </p:spTree>
    <p:extLst>
      <p:ext uri="{BB962C8B-B14F-4D97-AF65-F5344CB8AC3E}">
        <p14:creationId xmlns:p14="http://schemas.microsoft.com/office/powerpoint/2010/main" val="1033489715"/>
      </p:ext>
    </p:extLst>
  </p:cSld>
</p:sld>
</file>

<file path=ppt/slides/slide2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E1210A58-2AE5-4D52-A041-C6F23715A126}"/>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C7DBD1"/>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57952E39-AEFE-48B9-8BAD-30183C1547E9}"/>
              </a:ext>
            </a:extLst>
          </p:cNvPr>
          <p:cNvSpPr>
            <a:spLocks xmlns:a="http://schemas.openxmlformats.org/drawingml/2006/main" noGrp="1"/>
          </p:cNvSpPr>
          <p:nvPr/>
        </p:nvSpPr>
        <p:spPr>
          <a:xfrm xmlns:a="http://schemas.openxmlformats.org/drawingml/2006/main">
            <a:off x="609600" y="37147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625" b="1">
                <a:solidFill>
                  <a:srgbClr val="243A50"/>
                </a:solidFill>
                <a:latin typeface="Helvetica Neue"/>
                <a:ea typeface="Helvetica Neue"/>
                <a:cs typeface="Helvetica Neue"/>
              </a:defRPr>
            </a:defPPr>
            <a:lvl1pPr algn="l">
              <a:buNone/>
              <a:defRPr sz="2625" b="1">
                <a:solidFill>
                  <a:srgbClr val="243A50"/>
                </a:solidFill>
                <a:latin typeface="Helvetica Neue"/>
                <a:ea typeface="Helvetica Neue"/>
                <a:cs typeface="Helvetica Neue"/>
              </a:defRPr>
            </a:lvl1pPr>
            <a:lvl2pPr algn="l">
              <a:buNone/>
              <a:defRPr sz="2625" b="1">
                <a:solidFill>
                  <a:srgbClr val="243A50"/>
                </a:solidFill>
                <a:latin typeface="Helvetica Neue"/>
                <a:ea typeface="Helvetica Neue"/>
                <a:cs typeface="Helvetica Neue"/>
              </a:defRPr>
            </a:lvl2pPr>
            <a:lvl3pPr algn="l">
              <a:buNone/>
              <a:defRPr sz="2625" b="1">
                <a:solidFill>
                  <a:srgbClr val="243A50"/>
                </a:solidFill>
                <a:latin typeface="Helvetica Neue"/>
                <a:ea typeface="Helvetica Neue"/>
                <a:cs typeface="Helvetica Neue"/>
              </a:defRPr>
            </a:lvl3pPr>
            <a:lvl4pPr algn="l">
              <a:buNone/>
              <a:defRPr sz="2625" b="1">
                <a:solidFill>
                  <a:srgbClr val="243A50"/>
                </a:solidFill>
                <a:latin typeface="Helvetica Neue"/>
                <a:ea typeface="Helvetica Neue"/>
                <a:cs typeface="Helvetica Neue"/>
              </a:defRPr>
            </a:lvl4pPr>
            <a:lvl5pPr algn="l">
              <a:buNone/>
              <a:defRPr sz="2625" b="1">
                <a:solidFill>
                  <a:srgbClr val="243A50"/>
                </a:solidFill>
                <a:latin typeface="Helvetica Neue"/>
                <a:ea typeface="Helvetica Neue"/>
                <a:cs typeface="Helvetica Neue"/>
              </a:defRPr>
            </a:lvl5pPr>
            <a:lvl6pPr algn="l">
              <a:buNone/>
              <a:defRPr sz="2625" b="1">
                <a:solidFill>
                  <a:srgbClr val="243A50"/>
                </a:solidFill>
                <a:latin typeface="Helvetica Neue"/>
                <a:ea typeface="Helvetica Neue"/>
                <a:cs typeface="Helvetica Neue"/>
              </a:defRPr>
            </a:lvl6pPr>
            <a:lvl7pPr algn="l">
              <a:buNone/>
              <a:defRPr sz="2625" b="1">
                <a:solidFill>
                  <a:srgbClr val="243A50"/>
                </a:solidFill>
                <a:latin typeface="Helvetica Neue"/>
                <a:ea typeface="Helvetica Neue"/>
                <a:cs typeface="Helvetica Neue"/>
              </a:defRPr>
            </a:lvl7pPr>
            <a:lvl8pPr algn="l">
              <a:buNone/>
              <a:defRPr sz="2625" b="1">
                <a:solidFill>
                  <a:srgbClr val="243A50"/>
                </a:solidFill>
                <a:latin typeface="Helvetica Neue"/>
                <a:ea typeface="Helvetica Neue"/>
                <a:cs typeface="Helvetica Neue"/>
              </a:defRPr>
            </a:lvl8pPr>
            <a:lvl9pPr algn="l">
              <a:buNone/>
              <a:defRPr sz="2625" b="1">
                <a:solidFill>
                  <a:srgbClr val="243A50"/>
                </a:solidFill>
                <a:latin typeface="Helvetica Neue"/>
                <a:ea typeface="Helvetica Neue"/>
                <a:cs typeface="Helvetica Neue"/>
              </a:defRPr>
            </a:lvl9pPr>
          </a:lstStyle>
          <a:p xmlns:a="http://schemas.openxmlformats.org/drawingml/2006/main">
            <a:pPr algn="l">
              <a:buNone/>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Conclusion</a:t>
            </a:r>
          </a:p>
        </p:txBody>
      </p:sp>
      <p:sp>
        <p:nvSpPr>
          <p:cNvPr id="3" name="Rectangle 2">
            <a:extLst xmlns:a="http://schemas.openxmlformats.org/drawingml/2006/main">
              <a:ext uri="{FF2B5EF4-FFF2-40B4-BE49-F238E27FC236}">
                <a16:creationId xmlns:a16="http://schemas.microsoft.com/office/drawing/2014/main" id="{EC7D043D-A080-442F-92D2-931C12CFC94A}"/>
              </a:ext>
            </a:extLst>
          </p:cNvPr>
          <p:cNvSpPr>
            <a:spLocks xmlns:a="http://schemas.openxmlformats.org/drawingml/2006/main" noGrp="1"/>
          </p:cNvSpPr>
          <p:nvPr/>
        </p:nvSpPr>
        <p:spPr>
          <a:xfrm xmlns:a="http://schemas.openxmlformats.org/drawingml/2006/main">
            <a:off x="628650" y="904875"/>
            <a:ext cx="10839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The finished AML pipeline produces three task-specific estimates from a shared signal representation.</a:t>
            </a:r>
          </a:p>
        </p:txBody>
      </p:sp>
      <p:sp>
        <p:nvSpPr>
          <p:cNvPr id="4" name="Straight Connector 3">
            <a:extLst xmlns:a="http://schemas.openxmlformats.org/drawingml/2006/main">
              <a:ext uri="{FF2B5EF4-FFF2-40B4-BE49-F238E27FC236}">
                <a16:creationId xmlns:a16="http://schemas.microsoft.com/office/drawing/2014/main" id="{53B0D37A-C39B-463A-B9D2-D9D3C53336CD}"/>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BD5DA"/>
            </a:solidFill>
            <a:prstDash val="solid"/>
          </a:ln>
        </p:spPr>
      </p:sp>
      <p:sp>
        <p:nvSpPr>
          <p:cNvPr id="5" name="Rectangle 4">
            <a:extLst xmlns:a="http://schemas.openxmlformats.org/drawingml/2006/main">
              <a:ext uri="{FF2B5EF4-FFF2-40B4-BE49-F238E27FC236}">
                <a16:creationId xmlns:a16="http://schemas.microsoft.com/office/drawing/2014/main" id="{FED056F1-25AE-4EEB-B198-EEAED24A8464}"/>
              </a:ext>
            </a:extLst>
          </p:cNvPr>
          <p:cNvSpPr>
            <a:spLocks xmlns:a="http://schemas.openxmlformats.org/drawingml/2006/main" noGrp="1"/>
          </p:cNvSpPr>
          <p:nvPr/>
        </p:nvSpPr>
        <p:spPr>
          <a:xfrm xmlns:a="http://schemas.openxmlformats.org/drawingml/2006/main">
            <a:off x="609600" y="64770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900" b="0">
                <a:solidFill>
                  <a:srgbClr val="63788A"/>
                </a:solidFill>
                <a:latin typeface="Helvetica Neue"/>
                <a:ea typeface="Helvetica Neue"/>
                <a:cs typeface="Helvetica Neue"/>
              </a:defRPr>
            </a:defPPr>
            <a:lvl1pPr algn="r">
              <a:buNone/>
              <a:defRPr sz="900" b="0">
                <a:solidFill>
                  <a:srgbClr val="63788A"/>
                </a:solidFill>
                <a:latin typeface="Helvetica Neue"/>
                <a:ea typeface="Helvetica Neue"/>
                <a:cs typeface="Helvetica Neue"/>
              </a:defRPr>
            </a:lvl1pPr>
            <a:lvl2pPr algn="r">
              <a:buNone/>
              <a:defRPr sz="900" b="0">
                <a:solidFill>
                  <a:srgbClr val="63788A"/>
                </a:solidFill>
                <a:latin typeface="Helvetica Neue"/>
                <a:ea typeface="Helvetica Neue"/>
                <a:cs typeface="Helvetica Neue"/>
              </a:defRPr>
            </a:lvl2pPr>
            <a:lvl3pPr algn="r">
              <a:buNone/>
              <a:defRPr sz="900" b="0">
                <a:solidFill>
                  <a:srgbClr val="63788A"/>
                </a:solidFill>
                <a:latin typeface="Helvetica Neue"/>
                <a:ea typeface="Helvetica Neue"/>
                <a:cs typeface="Helvetica Neue"/>
              </a:defRPr>
            </a:lvl3pPr>
            <a:lvl4pPr algn="r">
              <a:buNone/>
              <a:defRPr sz="900" b="0">
                <a:solidFill>
                  <a:srgbClr val="63788A"/>
                </a:solidFill>
                <a:latin typeface="Helvetica Neue"/>
                <a:ea typeface="Helvetica Neue"/>
                <a:cs typeface="Helvetica Neue"/>
              </a:defRPr>
            </a:lvl4pPr>
            <a:lvl5pPr algn="r">
              <a:buNone/>
              <a:defRPr sz="900" b="0">
                <a:solidFill>
                  <a:srgbClr val="63788A"/>
                </a:solidFill>
                <a:latin typeface="Helvetica Neue"/>
                <a:ea typeface="Helvetica Neue"/>
                <a:cs typeface="Helvetica Neue"/>
              </a:defRPr>
            </a:lvl5pPr>
            <a:lvl6pPr algn="r">
              <a:buNone/>
              <a:defRPr sz="900" b="0">
                <a:solidFill>
                  <a:srgbClr val="63788A"/>
                </a:solidFill>
                <a:latin typeface="Helvetica Neue"/>
                <a:ea typeface="Helvetica Neue"/>
                <a:cs typeface="Helvetica Neue"/>
              </a:defRPr>
            </a:lvl6pPr>
            <a:lvl7pPr algn="r">
              <a:buNone/>
              <a:defRPr sz="900" b="0">
                <a:solidFill>
                  <a:srgbClr val="63788A"/>
                </a:solidFill>
                <a:latin typeface="Helvetica Neue"/>
                <a:ea typeface="Helvetica Neue"/>
                <a:cs typeface="Helvetica Neue"/>
              </a:defRPr>
            </a:lvl7pPr>
            <a:lvl8pPr algn="r">
              <a:buNone/>
              <a:defRPr sz="900" b="0">
                <a:solidFill>
                  <a:srgbClr val="63788A"/>
                </a:solidFill>
                <a:latin typeface="Helvetica Neue"/>
                <a:ea typeface="Helvetica Neue"/>
                <a:cs typeface="Helvetica Neue"/>
              </a:defRPr>
            </a:lvl8pPr>
            <a:lvl9pPr algn="r">
              <a:buNone/>
              <a:defRPr sz="900" b="0">
                <a:solidFill>
                  <a:srgbClr val="63788A"/>
                </a:solidFill>
                <a:latin typeface="Helvetica Neue"/>
                <a:ea typeface="Helvetica Neue"/>
                <a:cs typeface="Helvetica Neue"/>
              </a:defRPr>
            </a:lvl9pPr>
          </a:lstStyle>
          <a:p xmlns:a="http://schemas.openxmlformats.org/drawingml/2006/main">
            <a:pPr algn="r">
              <a:buNone/>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20</a:t>
            </a:r>
          </a:p>
        </p:txBody>
      </p:sp>
      <p:sp>
        <p:nvSpPr>
          <p:cNvPr id="6" name="Rectangle 5">
            <a:extLst xmlns:a="http://schemas.openxmlformats.org/drawingml/2006/main">
              <a:ext uri="{FF2B5EF4-FFF2-40B4-BE49-F238E27FC236}">
                <a16:creationId xmlns:a16="http://schemas.microsoft.com/office/drawing/2014/main" id="{50094A21-98D2-475D-8057-8222C093D67F}"/>
              </a:ext>
            </a:extLst>
          </p:cNvPr>
          <p:cNvSpPr>
            <a:spLocks xmlns:a="http://schemas.openxmlformats.org/drawingml/2006/main" noGrp="1"/>
          </p:cNvSpPr>
          <p:nvPr/>
        </p:nvSpPr>
        <p:spPr>
          <a:xfrm xmlns:a="http://schemas.openxmlformats.org/drawingml/2006/main">
            <a:off x="714375" y="1752600"/>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175" b="1">
                <a:solidFill>
                  <a:srgbClr val="243A50"/>
                </a:solidFill>
                <a:latin typeface="Helvetica Neue"/>
                <a:ea typeface="Helvetica Neue"/>
                <a:cs typeface="Helvetica Neue"/>
              </a:defRPr>
            </a:defPPr>
            <a:lvl1pPr algn="l">
              <a:buNone/>
              <a:defRPr sz="2175" b="1">
                <a:solidFill>
                  <a:srgbClr val="243A50"/>
                </a:solidFill>
                <a:latin typeface="Helvetica Neue"/>
                <a:ea typeface="Helvetica Neue"/>
                <a:cs typeface="Helvetica Neue"/>
              </a:defRPr>
            </a:lvl1pPr>
            <a:lvl2pPr algn="l">
              <a:buNone/>
              <a:defRPr sz="2175" b="1">
                <a:solidFill>
                  <a:srgbClr val="243A50"/>
                </a:solidFill>
                <a:latin typeface="Helvetica Neue"/>
                <a:ea typeface="Helvetica Neue"/>
                <a:cs typeface="Helvetica Neue"/>
              </a:defRPr>
            </a:lvl2pPr>
            <a:lvl3pPr algn="l">
              <a:buNone/>
              <a:defRPr sz="2175" b="1">
                <a:solidFill>
                  <a:srgbClr val="243A50"/>
                </a:solidFill>
                <a:latin typeface="Helvetica Neue"/>
                <a:ea typeface="Helvetica Neue"/>
                <a:cs typeface="Helvetica Neue"/>
              </a:defRPr>
            </a:lvl3pPr>
            <a:lvl4pPr algn="l">
              <a:buNone/>
              <a:defRPr sz="2175" b="1">
                <a:solidFill>
                  <a:srgbClr val="243A50"/>
                </a:solidFill>
                <a:latin typeface="Helvetica Neue"/>
                <a:ea typeface="Helvetica Neue"/>
                <a:cs typeface="Helvetica Neue"/>
              </a:defRPr>
            </a:lvl4pPr>
            <a:lvl5pPr algn="l">
              <a:buNone/>
              <a:defRPr sz="2175" b="1">
                <a:solidFill>
                  <a:srgbClr val="243A50"/>
                </a:solidFill>
                <a:latin typeface="Helvetica Neue"/>
                <a:ea typeface="Helvetica Neue"/>
                <a:cs typeface="Helvetica Neue"/>
              </a:defRPr>
            </a:lvl5pPr>
            <a:lvl6pPr algn="l">
              <a:buNone/>
              <a:defRPr sz="2175" b="1">
                <a:solidFill>
                  <a:srgbClr val="243A50"/>
                </a:solidFill>
                <a:latin typeface="Helvetica Neue"/>
                <a:ea typeface="Helvetica Neue"/>
                <a:cs typeface="Helvetica Neue"/>
              </a:defRPr>
            </a:lvl6pPr>
            <a:lvl7pPr algn="l">
              <a:buNone/>
              <a:defRPr sz="2175" b="1">
                <a:solidFill>
                  <a:srgbClr val="243A50"/>
                </a:solidFill>
                <a:latin typeface="Helvetica Neue"/>
                <a:ea typeface="Helvetica Neue"/>
                <a:cs typeface="Helvetica Neue"/>
              </a:defRPr>
            </a:lvl7pPr>
            <a:lvl8pPr algn="l">
              <a:buNone/>
              <a:defRPr sz="2175" b="1">
                <a:solidFill>
                  <a:srgbClr val="243A50"/>
                </a:solidFill>
                <a:latin typeface="Helvetica Neue"/>
                <a:ea typeface="Helvetica Neue"/>
                <a:cs typeface="Helvetica Neue"/>
              </a:defRPr>
            </a:lvl8pPr>
            <a:lvl9pPr algn="l">
              <a:buNone/>
              <a:defRPr sz="2175" b="1">
                <a:solidFill>
                  <a:srgbClr val="243A50"/>
                </a:solidFill>
                <a:latin typeface="Helvetica Neue"/>
                <a:ea typeface="Helvetica Neue"/>
                <a:cs typeface="Helvetica Neue"/>
              </a:defRPr>
            </a:lvl9pPr>
          </a:lstStyle>
          <a:p xmlns:a="http://schemas.openxmlformats.org/drawingml/2006/main">
            <a:pPr algn="l">
              <a:buNone/>
              <a:defRPr sz="2175" b="1">
                <a:solidFill>
                  <a:srgbClr val="243A50"/>
                </a:solidFill>
                <a:latin typeface="Helvetica Neue"/>
                <a:ea typeface="Helvetica Neue"/>
                <a:cs typeface="Helvetica Neue"/>
              </a:defRPr>
            </a:pPr>
            <a:r>
              <a:rPr sz="2175" b="1">
                <a:solidFill>
                  <a:srgbClr val="243A50"/>
                </a:solidFill>
                <a:latin typeface="Helvetica Neue"/>
                <a:ea typeface="Helvetica Neue"/>
                <a:cs typeface="Helvetica Neue"/>
              </a:rPr>
              <a:t>Building</a:t>
            </a:r>
          </a:p>
        </p:txBody>
      </p:sp>
      <p:sp>
        <p:nvSpPr>
          <p:cNvPr id="7" name="Rectangle 6">
            <a:extLst xmlns:a="http://schemas.openxmlformats.org/drawingml/2006/main">
              <a:ext uri="{FF2B5EF4-FFF2-40B4-BE49-F238E27FC236}">
                <a16:creationId xmlns:a16="http://schemas.microsoft.com/office/drawing/2014/main" id="{760DFC22-03CF-42B7-B085-2C7B97FAB5B8}"/>
              </a:ext>
            </a:extLst>
          </p:cNvPr>
          <p:cNvSpPr>
            <a:spLocks xmlns:a="http://schemas.openxmlformats.org/drawingml/2006/main" noGrp="1"/>
          </p:cNvSpPr>
          <p:nvPr/>
        </p:nvSpPr>
        <p:spPr>
          <a:xfrm xmlns:a="http://schemas.openxmlformats.org/drawingml/2006/main">
            <a:off x="714375" y="2266950"/>
            <a:ext cx="238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3225" b="1">
                <a:solidFill>
                  <a:srgbClr val="64877F"/>
                </a:solidFill>
                <a:latin typeface="Helvetica Neue"/>
                <a:ea typeface="Helvetica Neue"/>
                <a:cs typeface="Helvetica Neue"/>
              </a:defRPr>
            </a:defPPr>
            <a:lvl1pPr algn="l">
              <a:buNone/>
              <a:defRPr sz="3225" b="1">
                <a:solidFill>
                  <a:srgbClr val="64877F"/>
                </a:solidFill>
                <a:latin typeface="Helvetica Neue"/>
                <a:ea typeface="Helvetica Neue"/>
                <a:cs typeface="Helvetica Neue"/>
              </a:defRPr>
            </a:lvl1pPr>
            <a:lvl2pPr algn="l">
              <a:buNone/>
              <a:defRPr sz="3225" b="1">
                <a:solidFill>
                  <a:srgbClr val="64877F"/>
                </a:solidFill>
                <a:latin typeface="Helvetica Neue"/>
                <a:ea typeface="Helvetica Neue"/>
                <a:cs typeface="Helvetica Neue"/>
              </a:defRPr>
            </a:lvl2pPr>
            <a:lvl3pPr algn="l">
              <a:buNone/>
              <a:defRPr sz="3225" b="1">
                <a:solidFill>
                  <a:srgbClr val="64877F"/>
                </a:solidFill>
                <a:latin typeface="Helvetica Neue"/>
                <a:ea typeface="Helvetica Neue"/>
                <a:cs typeface="Helvetica Neue"/>
              </a:defRPr>
            </a:lvl3pPr>
            <a:lvl4pPr algn="l">
              <a:buNone/>
              <a:defRPr sz="3225" b="1">
                <a:solidFill>
                  <a:srgbClr val="64877F"/>
                </a:solidFill>
                <a:latin typeface="Helvetica Neue"/>
                <a:ea typeface="Helvetica Neue"/>
                <a:cs typeface="Helvetica Neue"/>
              </a:defRPr>
            </a:lvl4pPr>
            <a:lvl5pPr algn="l">
              <a:buNone/>
              <a:defRPr sz="3225" b="1">
                <a:solidFill>
                  <a:srgbClr val="64877F"/>
                </a:solidFill>
                <a:latin typeface="Helvetica Neue"/>
                <a:ea typeface="Helvetica Neue"/>
                <a:cs typeface="Helvetica Neue"/>
              </a:defRPr>
            </a:lvl5pPr>
            <a:lvl6pPr algn="l">
              <a:buNone/>
              <a:defRPr sz="3225" b="1">
                <a:solidFill>
                  <a:srgbClr val="64877F"/>
                </a:solidFill>
                <a:latin typeface="Helvetica Neue"/>
                <a:ea typeface="Helvetica Neue"/>
                <a:cs typeface="Helvetica Neue"/>
              </a:defRPr>
            </a:lvl6pPr>
            <a:lvl7pPr algn="l">
              <a:buNone/>
              <a:defRPr sz="3225" b="1">
                <a:solidFill>
                  <a:srgbClr val="64877F"/>
                </a:solidFill>
                <a:latin typeface="Helvetica Neue"/>
                <a:ea typeface="Helvetica Neue"/>
                <a:cs typeface="Helvetica Neue"/>
              </a:defRPr>
            </a:lvl7pPr>
            <a:lvl8pPr algn="l">
              <a:buNone/>
              <a:defRPr sz="3225" b="1">
                <a:solidFill>
                  <a:srgbClr val="64877F"/>
                </a:solidFill>
                <a:latin typeface="Helvetica Neue"/>
                <a:ea typeface="Helvetica Neue"/>
                <a:cs typeface="Helvetica Neue"/>
              </a:defRPr>
            </a:lvl8pPr>
            <a:lvl9pPr algn="l">
              <a:buNone/>
              <a:defRPr sz="3225" b="1">
                <a:solidFill>
                  <a:srgbClr val="64877F"/>
                </a:solidFill>
                <a:latin typeface="Helvetica Neue"/>
                <a:ea typeface="Helvetica Neue"/>
                <a:cs typeface="Helvetica Neue"/>
              </a:defRPr>
            </a:lvl9pPr>
          </a:lstStyle>
          <a:p xmlns:a="http://schemas.openxmlformats.org/drawingml/2006/main">
            <a:pPr algn="l">
              <a:buNone/>
              <a:defRPr sz="3225" b="1">
                <a:solidFill>
                  <a:srgbClr val="64877F"/>
                </a:solidFill>
                <a:latin typeface="Helvetica Neue"/>
                <a:ea typeface="Helvetica Neue"/>
                <a:cs typeface="Helvetica Neue"/>
              </a:defRPr>
            </a:pPr>
            <a:r>
              <a:rPr sz="3225" b="1">
                <a:solidFill>
                  <a:srgbClr val="64877F"/>
                </a:solidFill>
                <a:latin typeface="Helvetica Neue"/>
                <a:ea typeface="Helvetica Neue"/>
                <a:cs typeface="Helvetica Neue"/>
              </a:rPr>
              <a:t>99.73%</a:t>
            </a:r>
          </a:p>
        </p:txBody>
      </p:sp>
      <p:sp>
        <p:nvSpPr>
          <p:cNvPr id="8" name="Rectangle 7">
            <a:extLst xmlns:a="http://schemas.openxmlformats.org/drawingml/2006/main">
              <a:ext uri="{FF2B5EF4-FFF2-40B4-BE49-F238E27FC236}">
                <a16:creationId xmlns:a16="http://schemas.microsoft.com/office/drawing/2014/main" id="{0B430687-E930-4CF2-9B44-8A5009772136}"/>
              </a:ext>
            </a:extLst>
          </p:cNvPr>
          <p:cNvSpPr>
            <a:spLocks xmlns:a="http://schemas.openxmlformats.org/drawingml/2006/main" noGrp="1"/>
          </p:cNvSpPr>
          <p:nvPr/>
        </p:nvSpPr>
        <p:spPr>
          <a:xfrm xmlns:a="http://schemas.openxmlformats.org/drawingml/2006/main">
            <a:off x="714375" y="27813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63788A"/>
                </a:solidFill>
                <a:latin typeface="Helvetica Neue"/>
                <a:ea typeface="Helvetica Neue"/>
                <a:cs typeface="Helvetica Neue"/>
              </a:defRPr>
            </a:defPPr>
            <a:lvl1pPr algn="l">
              <a:buNone/>
              <a:defRPr sz="1275" b="0">
                <a:solidFill>
                  <a:srgbClr val="63788A"/>
                </a:solidFill>
                <a:latin typeface="Helvetica Neue"/>
                <a:ea typeface="Helvetica Neue"/>
                <a:cs typeface="Helvetica Neue"/>
              </a:defRPr>
            </a:lvl1pPr>
            <a:lvl2pPr algn="l">
              <a:buNone/>
              <a:defRPr sz="1275" b="0">
                <a:solidFill>
                  <a:srgbClr val="63788A"/>
                </a:solidFill>
                <a:latin typeface="Helvetica Neue"/>
                <a:ea typeface="Helvetica Neue"/>
                <a:cs typeface="Helvetica Neue"/>
              </a:defRPr>
            </a:lvl2pPr>
            <a:lvl3pPr algn="l">
              <a:buNone/>
              <a:defRPr sz="1275" b="0">
                <a:solidFill>
                  <a:srgbClr val="63788A"/>
                </a:solidFill>
                <a:latin typeface="Helvetica Neue"/>
                <a:ea typeface="Helvetica Neue"/>
                <a:cs typeface="Helvetica Neue"/>
              </a:defRPr>
            </a:lvl3pPr>
            <a:lvl4pPr algn="l">
              <a:buNone/>
              <a:defRPr sz="1275" b="0">
                <a:solidFill>
                  <a:srgbClr val="63788A"/>
                </a:solidFill>
                <a:latin typeface="Helvetica Neue"/>
                <a:ea typeface="Helvetica Neue"/>
                <a:cs typeface="Helvetica Neue"/>
              </a:defRPr>
            </a:lvl4pPr>
            <a:lvl5pPr algn="l">
              <a:buNone/>
              <a:defRPr sz="1275" b="0">
                <a:solidFill>
                  <a:srgbClr val="63788A"/>
                </a:solidFill>
                <a:latin typeface="Helvetica Neue"/>
                <a:ea typeface="Helvetica Neue"/>
                <a:cs typeface="Helvetica Neue"/>
              </a:defRPr>
            </a:lvl5pPr>
            <a:lvl6pPr algn="l">
              <a:buNone/>
              <a:defRPr sz="1275" b="0">
                <a:solidFill>
                  <a:srgbClr val="63788A"/>
                </a:solidFill>
                <a:latin typeface="Helvetica Neue"/>
                <a:ea typeface="Helvetica Neue"/>
                <a:cs typeface="Helvetica Neue"/>
              </a:defRPr>
            </a:lvl6pPr>
            <a:lvl7pPr algn="l">
              <a:buNone/>
              <a:defRPr sz="1275" b="0">
                <a:solidFill>
                  <a:srgbClr val="63788A"/>
                </a:solidFill>
                <a:latin typeface="Helvetica Neue"/>
                <a:ea typeface="Helvetica Neue"/>
                <a:cs typeface="Helvetica Neue"/>
              </a:defRPr>
            </a:lvl7pPr>
            <a:lvl8pPr algn="l">
              <a:buNone/>
              <a:defRPr sz="1275" b="0">
                <a:solidFill>
                  <a:srgbClr val="63788A"/>
                </a:solidFill>
                <a:latin typeface="Helvetica Neue"/>
                <a:ea typeface="Helvetica Neue"/>
                <a:cs typeface="Helvetica Neue"/>
              </a:defRPr>
            </a:lvl8pPr>
            <a:lvl9pPr algn="l">
              <a:buNone/>
              <a:defRPr sz="1275" b="0">
                <a:solidFill>
                  <a:srgbClr val="63788A"/>
                </a:solidFill>
                <a:latin typeface="Helvetica Neue"/>
                <a:ea typeface="Helvetica Neue"/>
                <a:cs typeface="Helvetica Neue"/>
              </a:defRPr>
            </a:lvl9pPr>
          </a:lstStyle>
          <a:p xmlns:a="http://schemas.openxmlformats.org/drawingml/2006/main">
            <a:pPr algn="l">
              <a:buNone/>
              <a:defRPr sz="1275" b="0">
                <a:solidFill>
                  <a:srgbClr val="63788A"/>
                </a:solidFill>
                <a:latin typeface="Helvetica Neue"/>
                <a:ea typeface="Helvetica Neue"/>
                <a:cs typeface="Helvetica Neue"/>
              </a:defRPr>
            </a:pPr>
            <a:r>
              <a:rPr sz="1275" b="0">
                <a:solidFill>
                  <a:srgbClr val="63788A"/>
                </a:solidFill>
                <a:latin typeface="Helvetica Neue"/>
                <a:ea typeface="Helvetica Neue"/>
                <a:cs typeface="Helvetica Neue"/>
              </a:rPr>
              <a:t>held-out accuracy</a:t>
            </a:r>
          </a:p>
        </p:txBody>
      </p:sp>
      <p:sp>
        <p:nvSpPr>
          <p:cNvPr id="9" name="Rectangle 8">
            <a:extLst xmlns:a="http://schemas.openxmlformats.org/drawingml/2006/main">
              <a:ext uri="{FF2B5EF4-FFF2-40B4-BE49-F238E27FC236}">
                <a16:creationId xmlns:a16="http://schemas.microsoft.com/office/drawing/2014/main" id="{167BEFB7-992C-4812-B51C-072145A18300}"/>
              </a:ext>
            </a:extLst>
          </p:cNvPr>
          <p:cNvSpPr>
            <a:spLocks xmlns:a="http://schemas.openxmlformats.org/drawingml/2006/main" noGrp="1"/>
          </p:cNvSpPr>
          <p:nvPr/>
        </p:nvSpPr>
        <p:spPr>
          <a:xfrm xmlns:a="http://schemas.openxmlformats.org/drawingml/2006/main">
            <a:off x="4448175" y="1752600"/>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175" b="1">
                <a:solidFill>
                  <a:srgbClr val="243A50"/>
                </a:solidFill>
                <a:latin typeface="Helvetica Neue"/>
                <a:ea typeface="Helvetica Neue"/>
                <a:cs typeface="Helvetica Neue"/>
              </a:defRPr>
            </a:defPPr>
            <a:lvl1pPr algn="l">
              <a:buNone/>
              <a:defRPr sz="2175" b="1">
                <a:solidFill>
                  <a:srgbClr val="243A50"/>
                </a:solidFill>
                <a:latin typeface="Helvetica Neue"/>
                <a:ea typeface="Helvetica Neue"/>
                <a:cs typeface="Helvetica Neue"/>
              </a:defRPr>
            </a:lvl1pPr>
            <a:lvl2pPr algn="l">
              <a:buNone/>
              <a:defRPr sz="2175" b="1">
                <a:solidFill>
                  <a:srgbClr val="243A50"/>
                </a:solidFill>
                <a:latin typeface="Helvetica Neue"/>
                <a:ea typeface="Helvetica Neue"/>
                <a:cs typeface="Helvetica Neue"/>
              </a:defRPr>
            </a:lvl2pPr>
            <a:lvl3pPr algn="l">
              <a:buNone/>
              <a:defRPr sz="2175" b="1">
                <a:solidFill>
                  <a:srgbClr val="243A50"/>
                </a:solidFill>
                <a:latin typeface="Helvetica Neue"/>
                <a:ea typeface="Helvetica Neue"/>
                <a:cs typeface="Helvetica Neue"/>
              </a:defRPr>
            </a:lvl3pPr>
            <a:lvl4pPr algn="l">
              <a:buNone/>
              <a:defRPr sz="2175" b="1">
                <a:solidFill>
                  <a:srgbClr val="243A50"/>
                </a:solidFill>
                <a:latin typeface="Helvetica Neue"/>
                <a:ea typeface="Helvetica Neue"/>
                <a:cs typeface="Helvetica Neue"/>
              </a:defRPr>
            </a:lvl4pPr>
            <a:lvl5pPr algn="l">
              <a:buNone/>
              <a:defRPr sz="2175" b="1">
                <a:solidFill>
                  <a:srgbClr val="243A50"/>
                </a:solidFill>
                <a:latin typeface="Helvetica Neue"/>
                <a:ea typeface="Helvetica Neue"/>
                <a:cs typeface="Helvetica Neue"/>
              </a:defRPr>
            </a:lvl5pPr>
            <a:lvl6pPr algn="l">
              <a:buNone/>
              <a:defRPr sz="2175" b="1">
                <a:solidFill>
                  <a:srgbClr val="243A50"/>
                </a:solidFill>
                <a:latin typeface="Helvetica Neue"/>
                <a:ea typeface="Helvetica Neue"/>
                <a:cs typeface="Helvetica Neue"/>
              </a:defRPr>
            </a:lvl6pPr>
            <a:lvl7pPr algn="l">
              <a:buNone/>
              <a:defRPr sz="2175" b="1">
                <a:solidFill>
                  <a:srgbClr val="243A50"/>
                </a:solidFill>
                <a:latin typeface="Helvetica Neue"/>
                <a:ea typeface="Helvetica Neue"/>
                <a:cs typeface="Helvetica Neue"/>
              </a:defRPr>
            </a:lvl7pPr>
            <a:lvl8pPr algn="l">
              <a:buNone/>
              <a:defRPr sz="2175" b="1">
                <a:solidFill>
                  <a:srgbClr val="243A50"/>
                </a:solidFill>
                <a:latin typeface="Helvetica Neue"/>
                <a:ea typeface="Helvetica Neue"/>
                <a:cs typeface="Helvetica Neue"/>
              </a:defRPr>
            </a:lvl8pPr>
            <a:lvl9pPr algn="l">
              <a:buNone/>
              <a:defRPr sz="2175" b="1">
                <a:solidFill>
                  <a:srgbClr val="243A50"/>
                </a:solidFill>
                <a:latin typeface="Helvetica Neue"/>
                <a:ea typeface="Helvetica Neue"/>
                <a:cs typeface="Helvetica Neue"/>
              </a:defRPr>
            </a:lvl9pPr>
          </a:lstStyle>
          <a:p xmlns:a="http://schemas.openxmlformats.org/drawingml/2006/main">
            <a:pPr algn="l">
              <a:buNone/>
              <a:defRPr sz="2175" b="1">
                <a:solidFill>
                  <a:srgbClr val="243A50"/>
                </a:solidFill>
                <a:latin typeface="Helvetica Neue"/>
                <a:ea typeface="Helvetica Neue"/>
                <a:cs typeface="Helvetica Neue"/>
              </a:defRPr>
            </a:pPr>
            <a:r>
              <a:rPr sz="2175" b="1">
                <a:solidFill>
                  <a:srgbClr val="243A50"/>
                </a:solidFill>
                <a:latin typeface="Helvetica Neue"/>
                <a:ea typeface="Helvetica Neue"/>
                <a:cs typeface="Helvetica Neue"/>
              </a:rPr>
              <a:t>Floor</a:t>
            </a:r>
          </a:p>
        </p:txBody>
      </p:sp>
      <p:sp>
        <p:nvSpPr>
          <p:cNvPr id="10" name="Rectangle 9">
            <a:extLst xmlns:a="http://schemas.openxmlformats.org/drawingml/2006/main">
              <a:ext uri="{FF2B5EF4-FFF2-40B4-BE49-F238E27FC236}">
                <a16:creationId xmlns:a16="http://schemas.microsoft.com/office/drawing/2014/main" id="{670C6161-B144-4B8E-9FDC-5D63A5C6BCC0}"/>
              </a:ext>
            </a:extLst>
          </p:cNvPr>
          <p:cNvSpPr>
            <a:spLocks xmlns:a="http://schemas.openxmlformats.org/drawingml/2006/main" noGrp="1"/>
          </p:cNvSpPr>
          <p:nvPr/>
        </p:nvSpPr>
        <p:spPr>
          <a:xfrm xmlns:a="http://schemas.openxmlformats.org/drawingml/2006/main">
            <a:off x="4448175" y="2266950"/>
            <a:ext cx="238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3225" b="1">
                <a:solidFill>
                  <a:srgbClr val="64877F"/>
                </a:solidFill>
                <a:latin typeface="Helvetica Neue"/>
                <a:ea typeface="Helvetica Neue"/>
                <a:cs typeface="Helvetica Neue"/>
              </a:defRPr>
            </a:defPPr>
            <a:lvl1pPr algn="l">
              <a:buNone/>
              <a:defRPr sz="3225" b="1">
                <a:solidFill>
                  <a:srgbClr val="64877F"/>
                </a:solidFill>
                <a:latin typeface="Helvetica Neue"/>
                <a:ea typeface="Helvetica Neue"/>
                <a:cs typeface="Helvetica Neue"/>
              </a:defRPr>
            </a:lvl1pPr>
            <a:lvl2pPr algn="l">
              <a:buNone/>
              <a:defRPr sz="3225" b="1">
                <a:solidFill>
                  <a:srgbClr val="64877F"/>
                </a:solidFill>
                <a:latin typeface="Helvetica Neue"/>
                <a:ea typeface="Helvetica Neue"/>
                <a:cs typeface="Helvetica Neue"/>
              </a:defRPr>
            </a:lvl2pPr>
            <a:lvl3pPr algn="l">
              <a:buNone/>
              <a:defRPr sz="3225" b="1">
                <a:solidFill>
                  <a:srgbClr val="64877F"/>
                </a:solidFill>
                <a:latin typeface="Helvetica Neue"/>
                <a:ea typeface="Helvetica Neue"/>
                <a:cs typeface="Helvetica Neue"/>
              </a:defRPr>
            </a:lvl3pPr>
            <a:lvl4pPr algn="l">
              <a:buNone/>
              <a:defRPr sz="3225" b="1">
                <a:solidFill>
                  <a:srgbClr val="64877F"/>
                </a:solidFill>
                <a:latin typeface="Helvetica Neue"/>
                <a:ea typeface="Helvetica Neue"/>
                <a:cs typeface="Helvetica Neue"/>
              </a:defRPr>
            </a:lvl4pPr>
            <a:lvl5pPr algn="l">
              <a:buNone/>
              <a:defRPr sz="3225" b="1">
                <a:solidFill>
                  <a:srgbClr val="64877F"/>
                </a:solidFill>
                <a:latin typeface="Helvetica Neue"/>
                <a:ea typeface="Helvetica Neue"/>
                <a:cs typeface="Helvetica Neue"/>
              </a:defRPr>
            </a:lvl5pPr>
            <a:lvl6pPr algn="l">
              <a:buNone/>
              <a:defRPr sz="3225" b="1">
                <a:solidFill>
                  <a:srgbClr val="64877F"/>
                </a:solidFill>
                <a:latin typeface="Helvetica Neue"/>
                <a:ea typeface="Helvetica Neue"/>
                <a:cs typeface="Helvetica Neue"/>
              </a:defRPr>
            </a:lvl6pPr>
            <a:lvl7pPr algn="l">
              <a:buNone/>
              <a:defRPr sz="3225" b="1">
                <a:solidFill>
                  <a:srgbClr val="64877F"/>
                </a:solidFill>
                <a:latin typeface="Helvetica Neue"/>
                <a:ea typeface="Helvetica Neue"/>
                <a:cs typeface="Helvetica Neue"/>
              </a:defRPr>
            </a:lvl7pPr>
            <a:lvl8pPr algn="l">
              <a:buNone/>
              <a:defRPr sz="3225" b="1">
                <a:solidFill>
                  <a:srgbClr val="64877F"/>
                </a:solidFill>
                <a:latin typeface="Helvetica Neue"/>
                <a:ea typeface="Helvetica Neue"/>
                <a:cs typeface="Helvetica Neue"/>
              </a:defRPr>
            </a:lvl8pPr>
            <a:lvl9pPr algn="l">
              <a:buNone/>
              <a:defRPr sz="3225" b="1">
                <a:solidFill>
                  <a:srgbClr val="64877F"/>
                </a:solidFill>
                <a:latin typeface="Helvetica Neue"/>
                <a:ea typeface="Helvetica Neue"/>
                <a:cs typeface="Helvetica Neue"/>
              </a:defRPr>
            </a:lvl9pPr>
          </a:lstStyle>
          <a:p xmlns:a="http://schemas.openxmlformats.org/drawingml/2006/main">
            <a:pPr algn="l">
              <a:buNone/>
              <a:defRPr sz="3225" b="1">
                <a:solidFill>
                  <a:srgbClr val="64877F"/>
                </a:solidFill>
                <a:latin typeface="Helvetica Neue"/>
                <a:ea typeface="Helvetica Neue"/>
                <a:cs typeface="Helvetica Neue"/>
              </a:defRPr>
            </a:pPr>
            <a:r>
              <a:rPr sz="3225" b="1">
                <a:solidFill>
                  <a:srgbClr val="64877F"/>
                </a:solidFill>
                <a:latin typeface="Helvetica Neue"/>
                <a:ea typeface="Helvetica Neue"/>
                <a:cs typeface="Helvetica Neue"/>
              </a:rPr>
              <a:t>88.93%</a:t>
            </a:r>
          </a:p>
        </p:txBody>
      </p:sp>
      <p:sp>
        <p:nvSpPr>
          <p:cNvPr id="11" name="Rectangle 10">
            <a:extLst xmlns:a="http://schemas.openxmlformats.org/drawingml/2006/main">
              <a:ext uri="{FF2B5EF4-FFF2-40B4-BE49-F238E27FC236}">
                <a16:creationId xmlns:a16="http://schemas.microsoft.com/office/drawing/2014/main" id="{0603422C-0F98-4D02-AACE-460B17B07BD8}"/>
              </a:ext>
            </a:extLst>
          </p:cNvPr>
          <p:cNvSpPr>
            <a:spLocks xmlns:a="http://schemas.openxmlformats.org/drawingml/2006/main" noGrp="1"/>
          </p:cNvSpPr>
          <p:nvPr/>
        </p:nvSpPr>
        <p:spPr>
          <a:xfrm xmlns:a="http://schemas.openxmlformats.org/drawingml/2006/main">
            <a:off x="4448175" y="27813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63788A"/>
                </a:solidFill>
                <a:latin typeface="Helvetica Neue"/>
                <a:ea typeface="Helvetica Neue"/>
                <a:cs typeface="Helvetica Neue"/>
              </a:defRPr>
            </a:defPPr>
            <a:lvl1pPr algn="l">
              <a:buNone/>
              <a:defRPr sz="1275" b="0">
                <a:solidFill>
                  <a:srgbClr val="63788A"/>
                </a:solidFill>
                <a:latin typeface="Helvetica Neue"/>
                <a:ea typeface="Helvetica Neue"/>
                <a:cs typeface="Helvetica Neue"/>
              </a:defRPr>
            </a:lvl1pPr>
            <a:lvl2pPr algn="l">
              <a:buNone/>
              <a:defRPr sz="1275" b="0">
                <a:solidFill>
                  <a:srgbClr val="63788A"/>
                </a:solidFill>
                <a:latin typeface="Helvetica Neue"/>
                <a:ea typeface="Helvetica Neue"/>
                <a:cs typeface="Helvetica Neue"/>
              </a:defRPr>
            </a:lvl2pPr>
            <a:lvl3pPr algn="l">
              <a:buNone/>
              <a:defRPr sz="1275" b="0">
                <a:solidFill>
                  <a:srgbClr val="63788A"/>
                </a:solidFill>
                <a:latin typeface="Helvetica Neue"/>
                <a:ea typeface="Helvetica Neue"/>
                <a:cs typeface="Helvetica Neue"/>
              </a:defRPr>
            </a:lvl3pPr>
            <a:lvl4pPr algn="l">
              <a:buNone/>
              <a:defRPr sz="1275" b="0">
                <a:solidFill>
                  <a:srgbClr val="63788A"/>
                </a:solidFill>
                <a:latin typeface="Helvetica Neue"/>
                <a:ea typeface="Helvetica Neue"/>
                <a:cs typeface="Helvetica Neue"/>
              </a:defRPr>
            </a:lvl4pPr>
            <a:lvl5pPr algn="l">
              <a:buNone/>
              <a:defRPr sz="1275" b="0">
                <a:solidFill>
                  <a:srgbClr val="63788A"/>
                </a:solidFill>
                <a:latin typeface="Helvetica Neue"/>
                <a:ea typeface="Helvetica Neue"/>
                <a:cs typeface="Helvetica Neue"/>
              </a:defRPr>
            </a:lvl5pPr>
            <a:lvl6pPr algn="l">
              <a:buNone/>
              <a:defRPr sz="1275" b="0">
                <a:solidFill>
                  <a:srgbClr val="63788A"/>
                </a:solidFill>
                <a:latin typeface="Helvetica Neue"/>
                <a:ea typeface="Helvetica Neue"/>
                <a:cs typeface="Helvetica Neue"/>
              </a:defRPr>
            </a:lvl6pPr>
            <a:lvl7pPr algn="l">
              <a:buNone/>
              <a:defRPr sz="1275" b="0">
                <a:solidFill>
                  <a:srgbClr val="63788A"/>
                </a:solidFill>
                <a:latin typeface="Helvetica Neue"/>
                <a:ea typeface="Helvetica Neue"/>
                <a:cs typeface="Helvetica Neue"/>
              </a:defRPr>
            </a:lvl7pPr>
            <a:lvl8pPr algn="l">
              <a:buNone/>
              <a:defRPr sz="1275" b="0">
                <a:solidFill>
                  <a:srgbClr val="63788A"/>
                </a:solidFill>
                <a:latin typeface="Helvetica Neue"/>
                <a:ea typeface="Helvetica Neue"/>
                <a:cs typeface="Helvetica Neue"/>
              </a:defRPr>
            </a:lvl8pPr>
            <a:lvl9pPr algn="l">
              <a:buNone/>
              <a:defRPr sz="1275" b="0">
                <a:solidFill>
                  <a:srgbClr val="63788A"/>
                </a:solidFill>
                <a:latin typeface="Helvetica Neue"/>
                <a:ea typeface="Helvetica Neue"/>
                <a:cs typeface="Helvetica Neue"/>
              </a:defRPr>
            </a:lvl9pPr>
          </a:lstStyle>
          <a:p xmlns:a="http://schemas.openxmlformats.org/drawingml/2006/main">
            <a:pPr algn="l">
              <a:buNone/>
              <a:defRPr sz="1275" b="0">
                <a:solidFill>
                  <a:srgbClr val="63788A"/>
                </a:solidFill>
                <a:latin typeface="Helvetica Neue"/>
                <a:ea typeface="Helvetica Neue"/>
                <a:cs typeface="Helvetica Neue"/>
              </a:defRPr>
            </a:pPr>
            <a:r>
              <a:rPr sz="1275" b="0">
                <a:solidFill>
                  <a:srgbClr val="63788A"/>
                </a:solidFill>
                <a:latin typeface="Helvetica Neue"/>
                <a:ea typeface="Helvetica Neue"/>
                <a:cs typeface="Helvetica Neue"/>
              </a:rPr>
              <a:t>held-out accuracy</a:t>
            </a:r>
          </a:p>
        </p:txBody>
      </p:sp>
      <p:sp>
        <p:nvSpPr>
          <p:cNvPr id="12" name="Rectangle 11">
            <a:extLst xmlns:a="http://schemas.openxmlformats.org/drawingml/2006/main">
              <a:ext uri="{FF2B5EF4-FFF2-40B4-BE49-F238E27FC236}">
                <a16:creationId xmlns:a16="http://schemas.microsoft.com/office/drawing/2014/main" id="{39076D92-44AC-48B0-A25B-2618B61882F5}"/>
              </a:ext>
            </a:extLst>
          </p:cNvPr>
          <p:cNvSpPr>
            <a:spLocks xmlns:a="http://schemas.openxmlformats.org/drawingml/2006/main" noGrp="1"/>
          </p:cNvSpPr>
          <p:nvPr/>
        </p:nvSpPr>
        <p:spPr>
          <a:xfrm xmlns:a="http://schemas.openxmlformats.org/drawingml/2006/main">
            <a:off x="8172450" y="1752600"/>
            <a:ext cx="295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175" b="1">
                <a:solidFill>
                  <a:srgbClr val="243A50"/>
                </a:solidFill>
                <a:latin typeface="Helvetica Neue"/>
                <a:ea typeface="Helvetica Neue"/>
                <a:cs typeface="Helvetica Neue"/>
              </a:defRPr>
            </a:defPPr>
            <a:lvl1pPr algn="l">
              <a:buNone/>
              <a:defRPr sz="2175" b="1">
                <a:solidFill>
                  <a:srgbClr val="243A50"/>
                </a:solidFill>
                <a:latin typeface="Helvetica Neue"/>
                <a:ea typeface="Helvetica Neue"/>
                <a:cs typeface="Helvetica Neue"/>
              </a:defRPr>
            </a:lvl1pPr>
            <a:lvl2pPr algn="l">
              <a:buNone/>
              <a:defRPr sz="2175" b="1">
                <a:solidFill>
                  <a:srgbClr val="243A50"/>
                </a:solidFill>
                <a:latin typeface="Helvetica Neue"/>
                <a:ea typeface="Helvetica Neue"/>
                <a:cs typeface="Helvetica Neue"/>
              </a:defRPr>
            </a:lvl2pPr>
            <a:lvl3pPr algn="l">
              <a:buNone/>
              <a:defRPr sz="2175" b="1">
                <a:solidFill>
                  <a:srgbClr val="243A50"/>
                </a:solidFill>
                <a:latin typeface="Helvetica Neue"/>
                <a:ea typeface="Helvetica Neue"/>
                <a:cs typeface="Helvetica Neue"/>
              </a:defRPr>
            </a:lvl3pPr>
            <a:lvl4pPr algn="l">
              <a:buNone/>
              <a:defRPr sz="2175" b="1">
                <a:solidFill>
                  <a:srgbClr val="243A50"/>
                </a:solidFill>
                <a:latin typeface="Helvetica Neue"/>
                <a:ea typeface="Helvetica Neue"/>
                <a:cs typeface="Helvetica Neue"/>
              </a:defRPr>
            </a:lvl4pPr>
            <a:lvl5pPr algn="l">
              <a:buNone/>
              <a:defRPr sz="2175" b="1">
                <a:solidFill>
                  <a:srgbClr val="243A50"/>
                </a:solidFill>
                <a:latin typeface="Helvetica Neue"/>
                <a:ea typeface="Helvetica Neue"/>
                <a:cs typeface="Helvetica Neue"/>
              </a:defRPr>
            </a:lvl5pPr>
            <a:lvl6pPr algn="l">
              <a:buNone/>
              <a:defRPr sz="2175" b="1">
                <a:solidFill>
                  <a:srgbClr val="243A50"/>
                </a:solidFill>
                <a:latin typeface="Helvetica Neue"/>
                <a:ea typeface="Helvetica Neue"/>
                <a:cs typeface="Helvetica Neue"/>
              </a:defRPr>
            </a:lvl6pPr>
            <a:lvl7pPr algn="l">
              <a:buNone/>
              <a:defRPr sz="2175" b="1">
                <a:solidFill>
                  <a:srgbClr val="243A50"/>
                </a:solidFill>
                <a:latin typeface="Helvetica Neue"/>
                <a:ea typeface="Helvetica Neue"/>
                <a:cs typeface="Helvetica Neue"/>
              </a:defRPr>
            </a:lvl7pPr>
            <a:lvl8pPr algn="l">
              <a:buNone/>
              <a:defRPr sz="2175" b="1">
                <a:solidFill>
                  <a:srgbClr val="243A50"/>
                </a:solidFill>
                <a:latin typeface="Helvetica Neue"/>
                <a:ea typeface="Helvetica Neue"/>
                <a:cs typeface="Helvetica Neue"/>
              </a:defRPr>
            </a:lvl8pPr>
            <a:lvl9pPr algn="l">
              <a:buNone/>
              <a:defRPr sz="2175" b="1">
                <a:solidFill>
                  <a:srgbClr val="243A50"/>
                </a:solidFill>
                <a:latin typeface="Helvetica Neue"/>
                <a:ea typeface="Helvetica Neue"/>
                <a:cs typeface="Helvetica Neue"/>
              </a:defRPr>
            </a:lvl9pPr>
          </a:lstStyle>
          <a:p xmlns:a="http://schemas.openxmlformats.org/drawingml/2006/main">
            <a:pPr algn="l">
              <a:buNone/>
              <a:defRPr sz="2175" b="1">
                <a:solidFill>
                  <a:srgbClr val="243A50"/>
                </a:solidFill>
                <a:latin typeface="Helvetica Neue"/>
                <a:ea typeface="Helvetica Neue"/>
                <a:cs typeface="Helvetica Neue"/>
              </a:defRPr>
            </a:pPr>
            <a:r>
              <a:rPr sz="2175" b="1">
                <a:solidFill>
                  <a:srgbClr val="243A50"/>
                </a:solidFill>
                <a:latin typeface="Helvetica Neue"/>
                <a:ea typeface="Helvetica Neue"/>
                <a:cs typeface="Helvetica Neue"/>
              </a:rPr>
              <a:t>Coordinates</a:t>
            </a:r>
          </a:p>
        </p:txBody>
      </p:sp>
      <p:sp>
        <p:nvSpPr>
          <p:cNvPr id="13" name="Rectangle 12">
            <a:extLst xmlns:a="http://schemas.openxmlformats.org/drawingml/2006/main">
              <a:ext uri="{FF2B5EF4-FFF2-40B4-BE49-F238E27FC236}">
                <a16:creationId xmlns:a16="http://schemas.microsoft.com/office/drawing/2014/main" id="{6745F710-1750-4D39-A5F3-D7429E78DEE3}"/>
              </a:ext>
            </a:extLst>
          </p:cNvPr>
          <p:cNvSpPr>
            <a:spLocks xmlns:a="http://schemas.openxmlformats.org/drawingml/2006/main" noGrp="1"/>
          </p:cNvSpPr>
          <p:nvPr/>
        </p:nvSpPr>
        <p:spPr>
          <a:xfrm xmlns:a="http://schemas.openxmlformats.org/drawingml/2006/main">
            <a:off x="8172450" y="2266950"/>
            <a:ext cx="238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3225" b="1">
                <a:solidFill>
                  <a:srgbClr val="64877F"/>
                </a:solidFill>
                <a:latin typeface="Helvetica Neue"/>
                <a:ea typeface="Helvetica Neue"/>
                <a:cs typeface="Helvetica Neue"/>
              </a:defRPr>
            </a:defPPr>
            <a:lvl1pPr algn="l">
              <a:buNone/>
              <a:defRPr sz="3225" b="1">
                <a:solidFill>
                  <a:srgbClr val="64877F"/>
                </a:solidFill>
                <a:latin typeface="Helvetica Neue"/>
                <a:ea typeface="Helvetica Neue"/>
                <a:cs typeface="Helvetica Neue"/>
              </a:defRPr>
            </a:lvl1pPr>
            <a:lvl2pPr algn="l">
              <a:buNone/>
              <a:defRPr sz="3225" b="1">
                <a:solidFill>
                  <a:srgbClr val="64877F"/>
                </a:solidFill>
                <a:latin typeface="Helvetica Neue"/>
                <a:ea typeface="Helvetica Neue"/>
                <a:cs typeface="Helvetica Neue"/>
              </a:defRPr>
            </a:lvl2pPr>
            <a:lvl3pPr algn="l">
              <a:buNone/>
              <a:defRPr sz="3225" b="1">
                <a:solidFill>
                  <a:srgbClr val="64877F"/>
                </a:solidFill>
                <a:latin typeface="Helvetica Neue"/>
                <a:ea typeface="Helvetica Neue"/>
                <a:cs typeface="Helvetica Neue"/>
              </a:defRPr>
            </a:lvl3pPr>
            <a:lvl4pPr algn="l">
              <a:buNone/>
              <a:defRPr sz="3225" b="1">
                <a:solidFill>
                  <a:srgbClr val="64877F"/>
                </a:solidFill>
                <a:latin typeface="Helvetica Neue"/>
                <a:ea typeface="Helvetica Neue"/>
                <a:cs typeface="Helvetica Neue"/>
              </a:defRPr>
            </a:lvl4pPr>
            <a:lvl5pPr algn="l">
              <a:buNone/>
              <a:defRPr sz="3225" b="1">
                <a:solidFill>
                  <a:srgbClr val="64877F"/>
                </a:solidFill>
                <a:latin typeface="Helvetica Neue"/>
                <a:ea typeface="Helvetica Neue"/>
                <a:cs typeface="Helvetica Neue"/>
              </a:defRPr>
            </a:lvl5pPr>
            <a:lvl6pPr algn="l">
              <a:buNone/>
              <a:defRPr sz="3225" b="1">
                <a:solidFill>
                  <a:srgbClr val="64877F"/>
                </a:solidFill>
                <a:latin typeface="Helvetica Neue"/>
                <a:ea typeface="Helvetica Neue"/>
                <a:cs typeface="Helvetica Neue"/>
              </a:defRPr>
            </a:lvl6pPr>
            <a:lvl7pPr algn="l">
              <a:buNone/>
              <a:defRPr sz="3225" b="1">
                <a:solidFill>
                  <a:srgbClr val="64877F"/>
                </a:solidFill>
                <a:latin typeface="Helvetica Neue"/>
                <a:ea typeface="Helvetica Neue"/>
                <a:cs typeface="Helvetica Neue"/>
              </a:defRPr>
            </a:lvl7pPr>
            <a:lvl8pPr algn="l">
              <a:buNone/>
              <a:defRPr sz="3225" b="1">
                <a:solidFill>
                  <a:srgbClr val="64877F"/>
                </a:solidFill>
                <a:latin typeface="Helvetica Neue"/>
                <a:ea typeface="Helvetica Neue"/>
                <a:cs typeface="Helvetica Neue"/>
              </a:defRPr>
            </a:lvl8pPr>
            <a:lvl9pPr algn="l">
              <a:buNone/>
              <a:defRPr sz="3225" b="1">
                <a:solidFill>
                  <a:srgbClr val="64877F"/>
                </a:solidFill>
                <a:latin typeface="Helvetica Neue"/>
                <a:ea typeface="Helvetica Neue"/>
                <a:cs typeface="Helvetica Neue"/>
              </a:defRPr>
            </a:lvl9pPr>
          </a:lstStyle>
          <a:p xmlns:a="http://schemas.openxmlformats.org/drawingml/2006/main">
            <a:pPr algn="l">
              <a:buNone/>
              <a:defRPr sz="3225" b="1">
                <a:solidFill>
                  <a:srgbClr val="64877F"/>
                </a:solidFill>
                <a:latin typeface="Helvetica Neue"/>
                <a:ea typeface="Helvetica Neue"/>
                <a:cs typeface="Helvetica Neue"/>
              </a:defRPr>
            </a:pPr>
            <a:r>
              <a:rPr sz="3225" b="1">
                <a:solidFill>
                  <a:srgbClr val="64877F"/>
                </a:solidFill>
                <a:latin typeface="Helvetica Neue"/>
                <a:ea typeface="Helvetica Neue"/>
                <a:cs typeface="Helvetica Neue"/>
              </a:rPr>
              <a:t>11.58</a:t>
            </a:r>
          </a:p>
        </p:txBody>
      </p:sp>
      <p:sp>
        <p:nvSpPr>
          <p:cNvPr id="14" name="Rectangle 13">
            <a:extLst xmlns:a="http://schemas.openxmlformats.org/drawingml/2006/main">
              <a:ext uri="{FF2B5EF4-FFF2-40B4-BE49-F238E27FC236}">
                <a16:creationId xmlns:a16="http://schemas.microsoft.com/office/drawing/2014/main" id="{1A923E82-6825-4031-8688-D122CE71B565}"/>
              </a:ext>
            </a:extLst>
          </p:cNvPr>
          <p:cNvSpPr>
            <a:spLocks xmlns:a="http://schemas.openxmlformats.org/drawingml/2006/main" noGrp="1"/>
          </p:cNvSpPr>
          <p:nvPr/>
        </p:nvSpPr>
        <p:spPr>
          <a:xfrm xmlns:a="http://schemas.openxmlformats.org/drawingml/2006/main">
            <a:off x="8172450" y="278130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63788A"/>
                </a:solidFill>
                <a:latin typeface="Helvetica Neue"/>
                <a:ea typeface="Helvetica Neue"/>
                <a:cs typeface="Helvetica Neue"/>
              </a:defRPr>
            </a:defPPr>
            <a:lvl1pPr algn="l">
              <a:buNone/>
              <a:defRPr sz="1275" b="0">
                <a:solidFill>
                  <a:srgbClr val="63788A"/>
                </a:solidFill>
                <a:latin typeface="Helvetica Neue"/>
                <a:ea typeface="Helvetica Neue"/>
                <a:cs typeface="Helvetica Neue"/>
              </a:defRPr>
            </a:lvl1pPr>
            <a:lvl2pPr algn="l">
              <a:buNone/>
              <a:defRPr sz="1275" b="0">
                <a:solidFill>
                  <a:srgbClr val="63788A"/>
                </a:solidFill>
                <a:latin typeface="Helvetica Neue"/>
                <a:ea typeface="Helvetica Neue"/>
                <a:cs typeface="Helvetica Neue"/>
              </a:defRPr>
            </a:lvl2pPr>
            <a:lvl3pPr algn="l">
              <a:buNone/>
              <a:defRPr sz="1275" b="0">
                <a:solidFill>
                  <a:srgbClr val="63788A"/>
                </a:solidFill>
                <a:latin typeface="Helvetica Neue"/>
                <a:ea typeface="Helvetica Neue"/>
                <a:cs typeface="Helvetica Neue"/>
              </a:defRPr>
            </a:lvl3pPr>
            <a:lvl4pPr algn="l">
              <a:buNone/>
              <a:defRPr sz="1275" b="0">
                <a:solidFill>
                  <a:srgbClr val="63788A"/>
                </a:solidFill>
                <a:latin typeface="Helvetica Neue"/>
                <a:ea typeface="Helvetica Neue"/>
                <a:cs typeface="Helvetica Neue"/>
              </a:defRPr>
            </a:lvl4pPr>
            <a:lvl5pPr algn="l">
              <a:buNone/>
              <a:defRPr sz="1275" b="0">
                <a:solidFill>
                  <a:srgbClr val="63788A"/>
                </a:solidFill>
                <a:latin typeface="Helvetica Neue"/>
                <a:ea typeface="Helvetica Neue"/>
                <a:cs typeface="Helvetica Neue"/>
              </a:defRPr>
            </a:lvl5pPr>
            <a:lvl6pPr algn="l">
              <a:buNone/>
              <a:defRPr sz="1275" b="0">
                <a:solidFill>
                  <a:srgbClr val="63788A"/>
                </a:solidFill>
                <a:latin typeface="Helvetica Neue"/>
                <a:ea typeface="Helvetica Neue"/>
                <a:cs typeface="Helvetica Neue"/>
              </a:defRPr>
            </a:lvl6pPr>
            <a:lvl7pPr algn="l">
              <a:buNone/>
              <a:defRPr sz="1275" b="0">
                <a:solidFill>
                  <a:srgbClr val="63788A"/>
                </a:solidFill>
                <a:latin typeface="Helvetica Neue"/>
                <a:ea typeface="Helvetica Neue"/>
                <a:cs typeface="Helvetica Neue"/>
              </a:defRPr>
            </a:lvl7pPr>
            <a:lvl8pPr algn="l">
              <a:buNone/>
              <a:defRPr sz="1275" b="0">
                <a:solidFill>
                  <a:srgbClr val="63788A"/>
                </a:solidFill>
                <a:latin typeface="Helvetica Neue"/>
                <a:ea typeface="Helvetica Neue"/>
                <a:cs typeface="Helvetica Neue"/>
              </a:defRPr>
            </a:lvl8pPr>
            <a:lvl9pPr algn="l">
              <a:buNone/>
              <a:defRPr sz="1275" b="0">
                <a:solidFill>
                  <a:srgbClr val="63788A"/>
                </a:solidFill>
                <a:latin typeface="Helvetica Neue"/>
                <a:ea typeface="Helvetica Neue"/>
                <a:cs typeface="Helvetica Neue"/>
              </a:defRPr>
            </a:lvl9pPr>
          </a:lstStyle>
          <a:p xmlns:a="http://schemas.openxmlformats.org/drawingml/2006/main">
            <a:pPr algn="l">
              <a:buNone/>
              <a:defRPr sz="1275" b="0">
                <a:solidFill>
                  <a:srgbClr val="63788A"/>
                </a:solidFill>
                <a:latin typeface="Helvetica Neue"/>
                <a:ea typeface="Helvetica Neue"/>
                <a:cs typeface="Helvetica Neue"/>
              </a:defRPr>
            </a:pPr>
            <a:r>
              <a:rPr sz="1275" b="0">
                <a:solidFill>
                  <a:srgbClr val="63788A"/>
                </a:solidFill>
                <a:latin typeface="Helvetica Neue"/>
                <a:ea typeface="Helvetica Neue"/>
                <a:cs typeface="Helvetica Neue"/>
              </a:rPr>
              <a:t>mean Euclidean error*</a:t>
            </a:r>
          </a:p>
        </p:txBody>
      </p:sp>
      <p:sp>
        <p:nvSpPr>
          <p:cNvPr id="15" name="Straight Connector 14">
            <a:extLst xmlns:a="http://schemas.openxmlformats.org/drawingml/2006/main">
              <a:ext uri="{FF2B5EF4-FFF2-40B4-BE49-F238E27FC236}">
                <a16:creationId xmlns:a16="http://schemas.microsoft.com/office/drawing/2014/main" id="{44823135-691B-425E-B60A-11D9D271811F}"/>
              </a:ext>
            </a:extLst>
          </p:cNvPr>
          <p:cNvSpPr>
            <a:spLocks xmlns:a="http://schemas.openxmlformats.org/drawingml/2006/main" noGrp="1"/>
          </p:cNvSpPr>
          <p:nvPr/>
        </p:nvSpPr>
        <p:spPr>
          <a:xfrm xmlns:a="http://schemas.openxmlformats.org/drawingml/2006/main">
            <a:off x="742950" y="3571875"/>
            <a:ext cx="10610850" cy="0"/>
          </a:xfrm>
          <a:prstGeom xmlns:a="http://schemas.openxmlformats.org/drawingml/2006/main" prst="line">
            <a:avLst/>
          </a:prstGeom>
          <a:noFill xmlns:a="http://schemas.openxmlformats.org/drawingml/2006/main"/>
          <a:ln xmlns:a="http://schemas.openxmlformats.org/drawingml/2006/main" w="9525">
            <a:solidFill>
              <a:srgbClr val="CBD5DA"/>
            </a:solidFill>
            <a:prstDash val="solid"/>
          </a:ln>
        </p:spPr>
      </p:sp>
      <p:sp>
        <p:nvSpPr>
          <p:cNvPr id="16" name="Rectangle 15">
            <a:extLst xmlns:a="http://schemas.openxmlformats.org/drawingml/2006/main">
              <a:ext uri="{FF2B5EF4-FFF2-40B4-BE49-F238E27FC236}">
                <a16:creationId xmlns:a16="http://schemas.microsoft.com/office/drawing/2014/main" id="{AA460937-17E4-43DA-B550-1DA15AA14D11}"/>
              </a:ext>
            </a:extLst>
          </p:cNvPr>
          <p:cNvSpPr>
            <a:spLocks xmlns:a="http://schemas.openxmlformats.org/drawingml/2006/main" noGrp="1"/>
          </p:cNvSpPr>
          <p:nvPr/>
        </p:nvSpPr>
        <p:spPr>
          <a:xfrm xmlns:a="http://schemas.openxmlformats.org/drawingml/2006/main">
            <a:off x="781050" y="394335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00" b="1">
                <a:solidFill>
                  <a:srgbClr val="243A50"/>
                </a:solidFill>
                <a:latin typeface="Helvetica Neue"/>
                <a:ea typeface="Helvetica Neue"/>
                <a:cs typeface="Helvetica Neue"/>
              </a:defRPr>
            </a:defPPr>
            <a:lvl1pPr algn="l">
              <a:buNone/>
              <a:defRPr sz="1500" b="1">
                <a:solidFill>
                  <a:srgbClr val="243A50"/>
                </a:solidFill>
                <a:latin typeface="Helvetica Neue"/>
                <a:ea typeface="Helvetica Neue"/>
                <a:cs typeface="Helvetica Neue"/>
              </a:defRPr>
            </a:lvl1pPr>
            <a:lvl2pPr algn="l">
              <a:buNone/>
              <a:defRPr sz="1500" b="1">
                <a:solidFill>
                  <a:srgbClr val="243A50"/>
                </a:solidFill>
                <a:latin typeface="Helvetica Neue"/>
                <a:ea typeface="Helvetica Neue"/>
                <a:cs typeface="Helvetica Neue"/>
              </a:defRPr>
            </a:lvl2pPr>
            <a:lvl3pPr algn="l">
              <a:buNone/>
              <a:defRPr sz="1500" b="1">
                <a:solidFill>
                  <a:srgbClr val="243A50"/>
                </a:solidFill>
                <a:latin typeface="Helvetica Neue"/>
                <a:ea typeface="Helvetica Neue"/>
                <a:cs typeface="Helvetica Neue"/>
              </a:defRPr>
            </a:lvl3pPr>
            <a:lvl4pPr algn="l">
              <a:buNone/>
              <a:defRPr sz="1500" b="1">
                <a:solidFill>
                  <a:srgbClr val="243A50"/>
                </a:solidFill>
                <a:latin typeface="Helvetica Neue"/>
                <a:ea typeface="Helvetica Neue"/>
                <a:cs typeface="Helvetica Neue"/>
              </a:defRPr>
            </a:lvl4pPr>
            <a:lvl5pPr algn="l">
              <a:buNone/>
              <a:defRPr sz="1500" b="1">
                <a:solidFill>
                  <a:srgbClr val="243A50"/>
                </a:solidFill>
                <a:latin typeface="Helvetica Neue"/>
                <a:ea typeface="Helvetica Neue"/>
                <a:cs typeface="Helvetica Neue"/>
              </a:defRPr>
            </a:lvl5pPr>
            <a:lvl6pPr algn="l">
              <a:buNone/>
              <a:defRPr sz="1500" b="1">
                <a:solidFill>
                  <a:srgbClr val="243A50"/>
                </a:solidFill>
                <a:latin typeface="Helvetica Neue"/>
                <a:ea typeface="Helvetica Neue"/>
                <a:cs typeface="Helvetica Neue"/>
              </a:defRPr>
            </a:lvl6pPr>
            <a:lvl7pPr algn="l">
              <a:buNone/>
              <a:defRPr sz="1500" b="1">
                <a:solidFill>
                  <a:srgbClr val="243A50"/>
                </a:solidFill>
                <a:latin typeface="Helvetica Neue"/>
                <a:ea typeface="Helvetica Neue"/>
                <a:cs typeface="Helvetica Neue"/>
              </a:defRPr>
            </a:lvl7pPr>
            <a:lvl8pPr algn="l">
              <a:buNone/>
              <a:defRPr sz="1500" b="1">
                <a:solidFill>
                  <a:srgbClr val="243A50"/>
                </a:solidFill>
                <a:latin typeface="Helvetica Neue"/>
                <a:ea typeface="Helvetica Neue"/>
                <a:cs typeface="Helvetica Neue"/>
              </a:defRPr>
            </a:lvl8pPr>
            <a:lvl9pPr algn="l">
              <a:buNone/>
              <a:defRPr sz="1500" b="1">
                <a:solidFill>
                  <a:srgbClr val="243A50"/>
                </a:solidFill>
                <a:latin typeface="Helvetica Neue"/>
                <a:ea typeface="Helvetica Neue"/>
                <a:cs typeface="Helvetica Neue"/>
              </a:defRPr>
            </a:lvl9pPr>
          </a:lstStyle>
          <a:p xmlns:a="http://schemas.openxmlformats.org/drawingml/2006/main">
            <a:pPr algn="l">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What the project establishes</a:t>
            </a:r>
          </a:p>
        </p:txBody>
      </p:sp>
      <p:sp>
        <p:nvSpPr>
          <p:cNvPr id="17" name="Rectangle 16">
            <a:extLst xmlns:a="http://schemas.openxmlformats.org/drawingml/2006/main">
              <a:ext uri="{FF2B5EF4-FFF2-40B4-BE49-F238E27FC236}">
                <a16:creationId xmlns:a16="http://schemas.microsoft.com/office/drawing/2014/main" id="{62008481-0095-466F-BBBD-F0991FC4DE93}"/>
              </a:ext>
            </a:extLst>
          </p:cNvPr>
          <p:cNvSpPr>
            <a:spLocks xmlns:a="http://schemas.openxmlformats.org/drawingml/2006/main" noGrp="1"/>
          </p:cNvSpPr>
          <p:nvPr/>
        </p:nvSpPr>
        <p:spPr>
          <a:xfrm xmlns:a="http://schemas.openxmlformats.org/drawingml/2006/main">
            <a:off x="781050" y="433387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725" b="0">
                <a:solidFill>
                  <a:srgbClr val="33485D"/>
                </a:solidFill>
                <a:latin typeface="Helvetica Neue"/>
                <a:ea typeface="Helvetica Neue"/>
                <a:cs typeface="Helvetica Neue"/>
              </a:defRPr>
            </a:defPPr>
            <a:lvl1pPr algn="l">
              <a:buNone/>
              <a:defRPr sz="1725" b="0">
                <a:solidFill>
                  <a:srgbClr val="33485D"/>
                </a:solidFill>
                <a:latin typeface="Helvetica Neue"/>
                <a:ea typeface="Helvetica Neue"/>
                <a:cs typeface="Helvetica Neue"/>
              </a:defRPr>
            </a:lvl1pPr>
            <a:lvl2pPr algn="l">
              <a:buNone/>
              <a:defRPr sz="1725" b="0">
                <a:solidFill>
                  <a:srgbClr val="33485D"/>
                </a:solidFill>
                <a:latin typeface="Helvetica Neue"/>
                <a:ea typeface="Helvetica Neue"/>
                <a:cs typeface="Helvetica Neue"/>
              </a:defRPr>
            </a:lvl2pPr>
            <a:lvl3pPr algn="l">
              <a:buNone/>
              <a:defRPr sz="1725" b="0">
                <a:solidFill>
                  <a:srgbClr val="33485D"/>
                </a:solidFill>
                <a:latin typeface="Helvetica Neue"/>
                <a:ea typeface="Helvetica Neue"/>
                <a:cs typeface="Helvetica Neue"/>
              </a:defRPr>
            </a:lvl3pPr>
            <a:lvl4pPr algn="l">
              <a:buNone/>
              <a:defRPr sz="1725" b="0">
                <a:solidFill>
                  <a:srgbClr val="33485D"/>
                </a:solidFill>
                <a:latin typeface="Helvetica Neue"/>
                <a:ea typeface="Helvetica Neue"/>
                <a:cs typeface="Helvetica Neue"/>
              </a:defRPr>
            </a:lvl4pPr>
            <a:lvl5pPr algn="l">
              <a:buNone/>
              <a:defRPr sz="1725" b="0">
                <a:solidFill>
                  <a:srgbClr val="33485D"/>
                </a:solidFill>
                <a:latin typeface="Helvetica Neue"/>
                <a:ea typeface="Helvetica Neue"/>
                <a:cs typeface="Helvetica Neue"/>
              </a:defRPr>
            </a:lvl5pPr>
            <a:lvl6pPr algn="l">
              <a:buNone/>
              <a:defRPr sz="1725" b="0">
                <a:solidFill>
                  <a:srgbClr val="33485D"/>
                </a:solidFill>
                <a:latin typeface="Helvetica Neue"/>
                <a:ea typeface="Helvetica Neue"/>
                <a:cs typeface="Helvetica Neue"/>
              </a:defRPr>
            </a:lvl6pPr>
            <a:lvl7pPr algn="l">
              <a:buNone/>
              <a:defRPr sz="1725" b="0">
                <a:solidFill>
                  <a:srgbClr val="33485D"/>
                </a:solidFill>
                <a:latin typeface="Helvetica Neue"/>
                <a:ea typeface="Helvetica Neue"/>
                <a:cs typeface="Helvetica Neue"/>
              </a:defRPr>
            </a:lvl7pPr>
            <a:lvl8pPr algn="l">
              <a:buNone/>
              <a:defRPr sz="1725" b="0">
                <a:solidFill>
                  <a:srgbClr val="33485D"/>
                </a:solidFill>
                <a:latin typeface="Helvetica Neue"/>
                <a:ea typeface="Helvetica Neue"/>
                <a:cs typeface="Helvetica Neue"/>
              </a:defRPr>
            </a:lvl8pPr>
            <a:lvl9pPr algn="l">
              <a:buNone/>
              <a:defRPr sz="1725" b="0">
                <a:solidFill>
                  <a:srgbClr val="33485D"/>
                </a:solidFill>
                <a:latin typeface="Helvetica Neue"/>
                <a:ea typeface="Helvetica Neue"/>
                <a:cs typeface="Helvetica Neue"/>
              </a:defRPr>
            </a:lvl9pPr>
          </a:lstStyle>
          <a:p xmlns:a="http://schemas.openxmlformats.org/drawingml/2006/main">
            <a:pPr algn="l">
              <a:buNone/>
              <a:defRPr sz="1725" b="0">
                <a:solidFill>
                  <a:srgbClr val="33485D"/>
                </a:solidFill>
                <a:latin typeface="Helvetica Neue"/>
                <a:ea typeface="Helvetica Neue"/>
                <a:cs typeface="Helvetica Neue"/>
              </a:defRPr>
            </a:pPr>
            <a:r>
              <a:rPr sz="1725" b="0">
                <a:solidFill>
                  <a:srgbClr val="33485D"/>
                </a:solidFill>
                <a:latin typeface="Helvetica Neue"/>
                <a:ea typeface="Helvetica Neue"/>
                <a:cs typeface="Helvetica Neue"/>
              </a:rPr>
              <a:t>Comparable AML results on the supplied split, with an auditable shared preprocessing and integration path.</a:t>
            </a:r>
          </a:p>
        </p:txBody>
      </p:sp>
      <p:sp>
        <p:nvSpPr>
          <p:cNvPr id="18" name="Rectangle 17">
            <a:extLst xmlns:a="http://schemas.openxmlformats.org/drawingml/2006/main">
              <a:ext uri="{FF2B5EF4-FFF2-40B4-BE49-F238E27FC236}">
                <a16:creationId xmlns:a16="http://schemas.microsoft.com/office/drawing/2014/main" id="{8D8702B6-D791-4AD7-8B1F-FAE9C2421D0C}"/>
              </a:ext>
            </a:extLst>
          </p:cNvPr>
          <p:cNvSpPr>
            <a:spLocks xmlns:a="http://schemas.openxmlformats.org/drawingml/2006/main" noGrp="1"/>
          </p:cNvSpPr>
          <p:nvPr/>
        </p:nvSpPr>
        <p:spPr>
          <a:xfrm xmlns:a="http://schemas.openxmlformats.org/drawingml/2006/main">
            <a:off x="781050" y="5095875"/>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00" b="1">
                <a:solidFill>
                  <a:srgbClr val="243A50"/>
                </a:solidFill>
                <a:latin typeface="Helvetica Neue"/>
                <a:ea typeface="Helvetica Neue"/>
                <a:cs typeface="Helvetica Neue"/>
              </a:defRPr>
            </a:defPPr>
            <a:lvl1pPr algn="l">
              <a:buNone/>
              <a:defRPr sz="1500" b="1">
                <a:solidFill>
                  <a:srgbClr val="243A50"/>
                </a:solidFill>
                <a:latin typeface="Helvetica Neue"/>
                <a:ea typeface="Helvetica Neue"/>
                <a:cs typeface="Helvetica Neue"/>
              </a:defRPr>
            </a:lvl1pPr>
            <a:lvl2pPr algn="l">
              <a:buNone/>
              <a:defRPr sz="1500" b="1">
                <a:solidFill>
                  <a:srgbClr val="243A50"/>
                </a:solidFill>
                <a:latin typeface="Helvetica Neue"/>
                <a:ea typeface="Helvetica Neue"/>
                <a:cs typeface="Helvetica Neue"/>
              </a:defRPr>
            </a:lvl2pPr>
            <a:lvl3pPr algn="l">
              <a:buNone/>
              <a:defRPr sz="1500" b="1">
                <a:solidFill>
                  <a:srgbClr val="243A50"/>
                </a:solidFill>
                <a:latin typeface="Helvetica Neue"/>
                <a:ea typeface="Helvetica Neue"/>
                <a:cs typeface="Helvetica Neue"/>
              </a:defRPr>
            </a:lvl3pPr>
            <a:lvl4pPr algn="l">
              <a:buNone/>
              <a:defRPr sz="1500" b="1">
                <a:solidFill>
                  <a:srgbClr val="243A50"/>
                </a:solidFill>
                <a:latin typeface="Helvetica Neue"/>
                <a:ea typeface="Helvetica Neue"/>
                <a:cs typeface="Helvetica Neue"/>
              </a:defRPr>
            </a:lvl4pPr>
            <a:lvl5pPr algn="l">
              <a:buNone/>
              <a:defRPr sz="1500" b="1">
                <a:solidFill>
                  <a:srgbClr val="243A50"/>
                </a:solidFill>
                <a:latin typeface="Helvetica Neue"/>
                <a:ea typeface="Helvetica Neue"/>
                <a:cs typeface="Helvetica Neue"/>
              </a:defRPr>
            </a:lvl5pPr>
            <a:lvl6pPr algn="l">
              <a:buNone/>
              <a:defRPr sz="1500" b="1">
                <a:solidFill>
                  <a:srgbClr val="243A50"/>
                </a:solidFill>
                <a:latin typeface="Helvetica Neue"/>
                <a:ea typeface="Helvetica Neue"/>
                <a:cs typeface="Helvetica Neue"/>
              </a:defRPr>
            </a:lvl6pPr>
            <a:lvl7pPr algn="l">
              <a:buNone/>
              <a:defRPr sz="1500" b="1">
                <a:solidFill>
                  <a:srgbClr val="243A50"/>
                </a:solidFill>
                <a:latin typeface="Helvetica Neue"/>
                <a:ea typeface="Helvetica Neue"/>
                <a:cs typeface="Helvetica Neue"/>
              </a:defRPr>
            </a:lvl7pPr>
            <a:lvl8pPr algn="l">
              <a:buNone/>
              <a:defRPr sz="1500" b="1">
                <a:solidFill>
                  <a:srgbClr val="243A50"/>
                </a:solidFill>
                <a:latin typeface="Helvetica Neue"/>
                <a:ea typeface="Helvetica Neue"/>
                <a:cs typeface="Helvetica Neue"/>
              </a:defRPr>
            </a:lvl8pPr>
            <a:lvl9pPr algn="l">
              <a:buNone/>
              <a:defRPr sz="1500" b="1">
                <a:solidFill>
                  <a:srgbClr val="243A50"/>
                </a:solidFill>
                <a:latin typeface="Helvetica Neue"/>
                <a:ea typeface="Helvetica Neue"/>
                <a:cs typeface="Helvetica Neue"/>
              </a:defRPr>
            </a:lvl9pPr>
          </a:lstStyle>
          <a:p xmlns:a="http://schemas.openxmlformats.org/drawingml/2006/main">
            <a:pPr algn="l">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What the scores do not establish</a:t>
            </a:r>
          </a:p>
        </p:txBody>
      </p:sp>
      <p:sp>
        <p:nvSpPr>
          <p:cNvPr id="19" name="Rectangle 18">
            <a:extLst xmlns:a="http://schemas.openxmlformats.org/drawingml/2006/main">
              <a:ext uri="{FF2B5EF4-FFF2-40B4-BE49-F238E27FC236}">
                <a16:creationId xmlns:a16="http://schemas.microsoft.com/office/drawing/2014/main" id="{A58F03B0-3E73-4532-87D9-4ACAC46D6291}"/>
              </a:ext>
            </a:extLst>
          </p:cNvPr>
          <p:cNvSpPr>
            <a:spLocks xmlns:a="http://schemas.openxmlformats.org/drawingml/2006/main" noGrp="1"/>
          </p:cNvSpPr>
          <p:nvPr/>
        </p:nvSpPr>
        <p:spPr>
          <a:xfrm xmlns:a="http://schemas.openxmlformats.org/drawingml/2006/main">
            <a:off x="781050" y="5476875"/>
            <a:ext cx="1028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Performance on wholly unseen fingerprints / positions; authoritative coordinate units or CRS.</a:t>
            </a:r>
          </a:p>
        </p:txBody>
      </p:sp>
      <p:sp>
        <p:nvSpPr>
          <p:cNvPr id="20" name="Rectangle 19">
            <a:extLst xmlns:a="http://schemas.openxmlformats.org/drawingml/2006/main">
              <a:ext uri="{FF2B5EF4-FFF2-40B4-BE49-F238E27FC236}">
                <a16:creationId xmlns:a16="http://schemas.microsoft.com/office/drawing/2014/main" id="{DD8F56C4-D407-4FCA-8327-95EB1A425D4A}"/>
              </a:ext>
            </a:extLst>
          </p:cNvPr>
          <p:cNvSpPr>
            <a:spLocks xmlns:a="http://schemas.openxmlformats.org/drawingml/2006/main" noGrp="1"/>
          </p:cNvSpPr>
          <p:nvPr/>
        </p:nvSpPr>
        <p:spPr>
          <a:xfrm xmlns:a="http://schemas.openxmlformats.org/drawingml/2006/main">
            <a:off x="781050" y="598170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975" b="0">
                <a:solidFill>
                  <a:srgbClr val="63788A"/>
                </a:solidFill>
                <a:latin typeface="Helvetica Neue"/>
                <a:ea typeface="Helvetica Neue"/>
                <a:cs typeface="Helvetica Neue"/>
              </a:defRPr>
            </a:defPPr>
            <a:lvl1pPr algn="l">
              <a:buNone/>
              <a:defRPr sz="975" b="0">
                <a:solidFill>
                  <a:srgbClr val="63788A"/>
                </a:solidFill>
                <a:latin typeface="Helvetica Neue"/>
                <a:ea typeface="Helvetica Neue"/>
                <a:cs typeface="Helvetica Neue"/>
              </a:defRPr>
            </a:lvl1pPr>
            <a:lvl2pPr algn="l">
              <a:buNone/>
              <a:defRPr sz="975" b="0">
                <a:solidFill>
                  <a:srgbClr val="63788A"/>
                </a:solidFill>
                <a:latin typeface="Helvetica Neue"/>
                <a:ea typeface="Helvetica Neue"/>
                <a:cs typeface="Helvetica Neue"/>
              </a:defRPr>
            </a:lvl2pPr>
            <a:lvl3pPr algn="l">
              <a:buNone/>
              <a:defRPr sz="975" b="0">
                <a:solidFill>
                  <a:srgbClr val="63788A"/>
                </a:solidFill>
                <a:latin typeface="Helvetica Neue"/>
                <a:ea typeface="Helvetica Neue"/>
                <a:cs typeface="Helvetica Neue"/>
              </a:defRPr>
            </a:lvl3pPr>
            <a:lvl4pPr algn="l">
              <a:buNone/>
              <a:defRPr sz="975" b="0">
                <a:solidFill>
                  <a:srgbClr val="63788A"/>
                </a:solidFill>
                <a:latin typeface="Helvetica Neue"/>
                <a:ea typeface="Helvetica Neue"/>
                <a:cs typeface="Helvetica Neue"/>
              </a:defRPr>
            </a:lvl4pPr>
            <a:lvl5pPr algn="l">
              <a:buNone/>
              <a:defRPr sz="975" b="0">
                <a:solidFill>
                  <a:srgbClr val="63788A"/>
                </a:solidFill>
                <a:latin typeface="Helvetica Neue"/>
                <a:ea typeface="Helvetica Neue"/>
                <a:cs typeface="Helvetica Neue"/>
              </a:defRPr>
            </a:lvl5pPr>
            <a:lvl6pPr algn="l">
              <a:buNone/>
              <a:defRPr sz="975" b="0">
                <a:solidFill>
                  <a:srgbClr val="63788A"/>
                </a:solidFill>
                <a:latin typeface="Helvetica Neue"/>
                <a:ea typeface="Helvetica Neue"/>
                <a:cs typeface="Helvetica Neue"/>
              </a:defRPr>
            </a:lvl6pPr>
            <a:lvl7pPr algn="l">
              <a:buNone/>
              <a:defRPr sz="975" b="0">
                <a:solidFill>
                  <a:srgbClr val="63788A"/>
                </a:solidFill>
                <a:latin typeface="Helvetica Neue"/>
                <a:ea typeface="Helvetica Neue"/>
                <a:cs typeface="Helvetica Neue"/>
              </a:defRPr>
            </a:lvl7pPr>
            <a:lvl8pPr algn="l">
              <a:buNone/>
              <a:defRPr sz="975" b="0">
                <a:solidFill>
                  <a:srgbClr val="63788A"/>
                </a:solidFill>
                <a:latin typeface="Helvetica Neue"/>
                <a:ea typeface="Helvetica Neue"/>
                <a:cs typeface="Helvetica Neue"/>
              </a:defRPr>
            </a:lvl8pPr>
            <a:lvl9pPr algn="l">
              <a:buNone/>
              <a:defRPr sz="975" b="0">
                <a:solidFill>
                  <a:srgbClr val="63788A"/>
                </a:solidFill>
                <a:latin typeface="Helvetica Neue"/>
                <a:ea typeface="Helvetica Neue"/>
                <a:cs typeface="Helvetica Neue"/>
              </a:defRPr>
            </a:lvl9pPr>
          </a:lstStyle>
          <a:p xmlns:a="http://schemas.openxmlformats.org/drawingml/2006/main">
            <a:pPr algn="l">
              <a:buNone/>
              <a:defRPr sz="975" b="0">
                <a:solidFill>
                  <a:srgbClr val="63788A"/>
                </a:solidFill>
                <a:latin typeface="Helvetica Neue"/>
                <a:ea typeface="Helvetica Neue"/>
                <a:cs typeface="Helvetica Neue"/>
              </a:defRPr>
            </a:pPr>
            <a:r>
              <a:rPr sz="975" b="0">
                <a:solidFill>
                  <a:srgbClr val="63788A"/>
                </a:solidFill>
                <a:latin typeface="Helvetica Neue"/>
                <a:ea typeface="Helvetica Neue"/>
                <a:cs typeface="Helvetica Neue"/>
              </a:rPr>
              <a:t>*Coordinate units follow the notebook label; CRS not independently verified.</a:t>
            </a:r>
          </a:p>
        </p:txBody>
      </p:sp>
    </p:spTree>
    <p:extLst>
      <p:ext uri="{BB962C8B-B14F-4D97-AF65-F5344CB8AC3E}">
        <p14:creationId xmlns:p14="http://schemas.microsoft.com/office/powerpoint/2010/main" val="2118112695"/>
      </p:ext>
    </p:extLst>
  </p:cSld>
</p:sld>
</file>

<file path=ppt/slides/slide2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00C5D4DA-9B75-48B4-B303-2610577B1261}"/>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C7DBD1"/>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6D8923E0-41EF-4EED-AD21-4D9F7579BA3E}"/>
              </a:ext>
            </a:extLst>
          </p:cNvPr>
          <p:cNvSpPr>
            <a:spLocks xmlns:a="http://schemas.openxmlformats.org/drawingml/2006/main" noGrp="1"/>
          </p:cNvSpPr>
          <p:nvPr/>
        </p:nvSpPr>
        <p:spPr>
          <a:xfrm xmlns:a="http://schemas.openxmlformats.org/drawingml/2006/main">
            <a:off x="609600" y="37147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625" b="1">
                <a:solidFill>
                  <a:srgbClr val="243A50"/>
                </a:solidFill>
                <a:latin typeface="Helvetica Neue"/>
                <a:ea typeface="Helvetica Neue"/>
                <a:cs typeface="Helvetica Neue"/>
              </a:defRPr>
            </a:defPPr>
            <a:lvl1pPr algn="l">
              <a:buNone/>
              <a:defRPr sz="2625" b="1">
                <a:solidFill>
                  <a:srgbClr val="243A50"/>
                </a:solidFill>
                <a:latin typeface="Helvetica Neue"/>
                <a:ea typeface="Helvetica Neue"/>
                <a:cs typeface="Helvetica Neue"/>
              </a:defRPr>
            </a:lvl1pPr>
            <a:lvl2pPr algn="l">
              <a:buNone/>
              <a:defRPr sz="2625" b="1">
                <a:solidFill>
                  <a:srgbClr val="243A50"/>
                </a:solidFill>
                <a:latin typeface="Helvetica Neue"/>
                <a:ea typeface="Helvetica Neue"/>
                <a:cs typeface="Helvetica Neue"/>
              </a:defRPr>
            </a:lvl2pPr>
            <a:lvl3pPr algn="l">
              <a:buNone/>
              <a:defRPr sz="2625" b="1">
                <a:solidFill>
                  <a:srgbClr val="243A50"/>
                </a:solidFill>
                <a:latin typeface="Helvetica Neue"/>
                <a:ea typeface="Helvetica Neue"/>
                <a:cs typeface="Helvetica Neue"/>
              </a:defRPr>
            </a:lvl3pPr>
            <a:lvl4pPr algn="l">
              <a:buNone/>
              <a:defRPr sz="2625" b="1">
                <a:solidFill>
                  <a:srgbClr val="243A50"/>
                </a:solidFill>
                <a:latin typeface="Helvetica Neue"/>
                <a:ea typeface="Helvetica Neue"/>
                <a:cs typeface="Helvetica Neue"/>
              </a:defRPr>
            </a:lvl4pPr>
            <a:lvl5pPr algn="l">
              <a:buNone/>
              <a:defRPr sz="2625" b="1">
                <a:solidFill>
                  <a:srgbClr val="243A50"/>
                </a:solidFill>
                <a:latin typeface="Helvetica Neue"/>
                <a:ea typeface="Helvetica Neue"/>
                <a:cs typeface="Helvetica Neue"/>
              </a:defRPr>
            </a:lvl5pPr>
            <a:lvl6pPr algn="l">
              <a:buNone/>
              <a:defRPr sz="2625" b="1">
                <a:solidFill>
                  <a:srgbClr val="243A50"/>
                </a:solidFill>
                <a:latin typeface="Helvetica Neue"/>
                <a:ea typeface="Helvetica Neue"/>
                <a:cs typeface="Helvetica Neue"/>
              </a:defRPr>
            </a:lvl6pPr>
            <a:lvl7pPr algn="l">
              <a:buNone/>
              <a:defRPr sz="2625" b="1">
                <a:solidFill>
                  <a:srgbClr val="243A50"/>
                </a:solidFill>
                <a:latin typeface="Helvetica Neue"/>
                <a:ea typeface="Helvetica Neue"/>
                <a:cs typeface="Helvetica Neue"/>
              </a:defRPr>
            </a:lvl7pPr>
            <a:lvl8pPr algn="l">
              <a:buNone/>
              <a:defRPr sz="2625" b="1">
                <a:solidFill>
                  <a:srgbClr val="243A50"/>
                </a:solidFill>
                <a:latin typeface="Helvetica Neue"/>
                <a:ea typeface="Helvetica Neue"/>
                <a:cs typeface="Helvetica Neue"/>
              </a:defRPr>
            </a:lvl8pPr>
            <a:lvl9pPr algn="l">
              <a:buNone/>
              <a:defRPr sz="2625" b="1">
                <a:solidFill>
                  <a:srgbClr val="243A50"/>
                </a:solidFill>
                <a:latin typeface="Helvetica Neue"/>
                <a:ea typeface="Helvetica Neue"/>
                <a:cs typeface="Helvetica Neue"/>
              </a:defRPr>
            </a:lvl9pPr>
          </a:lstStyle>
          <a:p xmlns:a="http://schemas.openxmlformats.org/drawingml/2006/main">
            <a:pPr algn="l">
              <a:buNone/>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References</a:t>
            </a:r>
          </a:p>
        </p:txBody>
      </p:sp>
      <p:sp>
        <p:nvSpPr>
          <p:cNvPr id="3" name="Rectangle 2">
            <a:extLst xmlns:a="http://schemas.openxmlformats.org/drawingml/2006/main">
              <a:ext uri="{FF2B5EF4-FFF2-40B4-BE49-F238E27FC236}">
                <a16:creationId xmlns:a16="http://schemas.microsoft.com/office/drawing/2014/main" id="{59447D05-B24E-44B1-AC5E-45E4C31E91B6}"/>
              </a:ext>
            </a:extLst>
          </p:cNvPr>
          <p:cNvSpPr>
            <a:spLocks xmlns:a="http://schemas.openxmlformats.org/drawingml/2006/main" noGrp="1"/>
          </p:cNvSpPr>
          <p:nvPr/>
        </p:nvSpPr>
        <p:spPr>
          <a:xfrm xmlns:a="http://schemas.openxmlformats.org/drawingml/2006/main">
            <a:off x="628650" y="904875"/>
            <a:ext cx="10839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350" b="0">
                <a:solidFill>
                  <a:srgbClr val="63788A"/>
                </a:solidFill>
                <a:latin typeface="Helvetica Neue"/>
                <a:ea typeface="Helvetica Neue"/>
                <a:cs typeface="Helvetica Neue"/>
              </a:defRPr>
            </a:defPPr>
            <a:lvl1pPr algn="l">
              <a:buNone/>
              <a:defRPr sz="1350" b="0">
                <a:solidFill>
                  <a:srgbClr val="63788A"/>
                </a:solidFill>
                <a:latin typeface="Helvetica Neue"/>
                <a:ea typeface="Helvetica Neue"/>
                <a:cs typeface="Helvetica Neue"/>
              </a:defRPr>
            </a:lvl1pPr>
            <a:lvl2pPr algn="l">
              <a:buNone/>
              <a:defRPr sz="1350" b="0">
                <a:solidFill>
                  <a:srgbClr val="63788A"/>
                </a:solidFill>
                <a:latin typeface="Helvetica Neue"/>
                <a:ea typeface="Helvetica Neue"/>
                <a:cs typeface="Helvetica Neue"/>
              </a:defRPr>
            </a:lvl2pPr>
            <a:lvl3pPr algn="l">
              <a:buNone/>
              <a:defRPr sz="1350" b="0">
                <a:solidFill>
                  <a:srgbClr val="63788A"/>
                </a:solidFill>
                <a:latin typeface="Helvetica Neue"/>
                <a:ea typeface="Helvetica Neue"/>
                <a:cs typeface="Helvetica Neue"/>
              </a:defRPr>
            </a:lvl3pPr>
            <a:lvl4pPr algn="l">
              <a:buNone/>
              <a:defRPr sz="1350" b="0">
                <a:solidFill>
                  <a:srgbClr val="63788A"/>
                </a:solidFill>
                <a:latin typeface="Helvetica Neue"/>
                <a:ea typeface="Helvetica Neue"/>
                <a:cs typeface="Helvetica Neue"/>
              </a:defRPr>
            </a:lvl4pPr>
            <a:lvl5pPr algn="l">
              <a:buNone/>
              <a:defRPr sz="1350" b="0">
                <a:solidFill>
                  <a:srgbClr val="63788A"/>
                </a:solidFill>
                <a:latin typeface="Helvetica Neue"/>
                <a:ea typeface="Helvetica Neue"/>
                <a:cs typeface="Helvetica Neue"/>
              </a:defRPr>
            </a:lvl5pPr>
            <a:lvl6pPr algn="l">
              <a:buNone/>
              <a:defRPr sz="1350" b="0">
                <a:solidFill>
                  <a:srgbClr val="63788A"/>
                </a:solidFill>
                <a:latin typeface="Helvetica Neue"/>
                <a:ea typeface="Helvetica Neue"/>
                <a:cs typeface="Helvetica Neue"/>
              </a:defRPr>
            </a:lvl6pPr>
            <a:lvl7pPr algn="l">
              <a:buNone/>
              <a:defRPr sz="1350" b="0">
                <a:solidFill>
                  <a:srgbClr val="63788A"/>
                </a:solidFill>
                <a:latin typeface="Helvetica Neue"/>
                <a:ea typeface="Helvetica Neue"/>
                <a:cs typeface="Helvetica Neue"/>
              </a:defRPr>
            </a:lvl7pPr>
            <a:lvl8pPr algn="l">
              <a:buNone/>
              <a:defRPr sz="1350" b="0">
                <a:solidFill>
                  <a:srgbClr val="63788A"/>
                </a:solidFill>
                <a:latin typeface="Helvetica Neue"/>
                <a:ea typeface="Helvetica Neue"/>
                <a:cs typeface="Helvetica Neue"/>
              </a:defRPr>
            </a:lvl8pPr>
            <a:lvl9pPr algn="l">
              <a:buNone/>
              <a:defRPr sz="1350" b="0">
                <a:solidFill>
                  <a:srgbClr val="63788A"/>
                </a:solidFill>
                <a:latin typeface="Helvetica Neue"/>
                <a:ea typeface="Helvetica Neue"/>
                <a:cs typeface="Helvetica Neue"/>
              </a:defRPr>
            </a:lvl9pPr>
          </a:lstStyle>
          <a:p xmlns:a="http://schemas.openxmlformats.org/drawingml/2006/main">
            <a:pPr algn="l">
              <a:buNone/>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Dataset, benchmark, and method sources used in the AML work.</a:t>
            </a:r>
          </a:p>
        </p:txBody>
      </p:sp>
      <p:sp>
        <p:nvSpPr>
          <p:cNvPr id="4" name="Straight Connector 3">
            <a:extLst xmlns:a="http://schemas.openxmlformats.org/drawingml/2006/main">
              <a:ext uri="{FF2B5EF4-FFF2-40B4-BE49-F238E27FC236}">
                <a16:creationId xmlns:a16="http://schemas.microsoft.com/office/drawing/2014/main" id="{8E6DCE9F-8E44-4839-A243-AD565CF9BD2F}"/>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BD5DA"/>
            </a:solidFill>
            <a:prstDash val="solid"/>
          </a:ln>
        </p:spPr>
      </p:sp>
      <p:sp>
        <p:nvSpPr>
          <p:cNvPr id="5" name="Rectangle 4">
            <a:extLst xmlns:a="http://schemas.openxmlformats.org/drawingml/2006/main">
              <a:ext uri="{FF2B5EF4-FFF2-40B4-BE49-F238E27FC236}">
                <a16:creationId xmlns:a16="http://schemas.microsoft.com/office/drawing/2014/main" id="{6A701585-DD00-453E-8579-DAB043DE356B}"/>
              </a:ext>
            </a:extLst>
          </p:cNvPr>
          <p:cNvSpPr>
            <a:spLocks xmlns:a="http://schemas.openxmlformats.org/drawingml/2006/main" noGrp="1"/>
          </p:cNvSpPr>
          <p:nvPr/>
        </p:nvSpPr>
        <p:spPr>
          <a:xfrm xmlns:a="http://schemas.openxmlformats.org/drawingml/2006/main">
            <a:off x="609600" y="6477000"/>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900" b="0">
                <a:solidFill>
                  <a:srgbClr val="63788A"/>
                </a:solidFill>
                <a:latin typeface="Helvetica Neue"/>
                <a:ea typeface="Helvetica Neue"/>
                <a:cs typeface="Helvetica Neue"/>
              </a:defRPr>
            </a:defPPr>
            <a:lvl1pPr algn="r">
              <a:buNone/>
              <a:defRPr sz="900" b="0">
                <a:solidFill>
                  <a:srgbClr val="63788A"/>
                </a:solidFill>
                <a:latin typeface="Helvetica Neue"/>
                <a:ea typeface="Helvetica Neue"/>
                <a:cs typeface="Helvetica Neue"/>
              </a:defRPr>
            </a:lvl1pPr>
            <a:lvl2pPr algn="r">
              <a:buNone/>
              <a:defRPr sz="900" b="0">
                <a:solidFill>
                  <a:srgbClr val="63788A"/>
                </a:solidFill>
                <a:latin typeface="Helvetica Neue"/>
                <a:ea typeface="Helvetica Neue"/>
                <a:cs typeface="Helvetica Neue"/>
              </a:defRPr>
            </a:lvl2pPr>
            <a:lvl3pPr algn="r">
              <a:buNone/>
              <a:defRPr sz="900" b="0">
                <a:solidFill>
                  <a:srgbClr val="63788A"/>
                </a:solidFill>
                <a:latin typeface="Helvetica Neue"/>
                <a:ea typeface="Helvetica Neue"/>
                <a:cs typeface="Helvetica Neue"/>
              </a:defRPr>
            </a:lvl3pPr>
            <a:lvl4pPr algn="r">
              <a:buNone/>
              <a:defRPr sz="900" b="0">
                <a:solidFill>
                  <a:srgbClr val="63788A"/>
                </a:solidFill>
                <a:latin typeface="Helvetica Neue"/>
                <a:ea typeface="Helvetica Neue"/>
                <a:cs typeface="Helvetica Neue"/>
              </a:defRPr>
            </a:lvl4pPr>
            <a:lvl5pPr algn="r">
              <a:buNone/>
              <a:defRPr sz="900" b="0">
                <a:solidFill>
                  <a:srgbClr val="63788A"/>
                </a:solidFill>
                <a:latin typeface="Helvetica Neue"/>
                <a:ea typeface="Helvetica Neue"/>
                <a:cs typeface="Helvetica Neue"/>
              </a:defRPr>
            </a:lvl5pPr>
            <a:lvl6pPr algn="r">
              <a:buNone/>
              <a:defRPr sz="900" b="0">
                <a:solidFill>
                  <a:srgbClr val="63788A"/>
                </a:solidFill>
                <a:latin typeface="Helvetica Neue"/>
                <a:ea typeface="Helvetica Neue"/>
                <a:cs typeface="Helvetica Neue"/>
              </a:defRPr>
            </a:lvl6pPr>
            <a:lvl7pPr algn="r">
              <a:buNone/>
              <a:defRPr sz="900" b="0">
                <a:solidFill>
                  <a:srgbClr val="63788A"/>
                </a:solidFill>
                <a:latin typeface="Helvetica Neue"/>
                <a:ea typeface="Helvetica Neue"/>
                <a:cs typeface="Helvetica Neue"/>
              </a:defRPr>
            </a:lvl7pPr>
            <a:lvl8pPr algn="r">
              <a:buNone/>
              <a:defRPr sz="900" b="0">
                <a:solidFill>
                  <a:srgbClr val="63788A"/>
                </a:solidFill>
                <a:latin typeface="Helvetica Neue"/>
                <a:ea typeface="Helvetica Neue"/>
                <a:cs typeface="Helvetica Neue"/>
              </a:defRPr>
            </a:lvl8pPr>
            <a:lvl9pPr algn="r">
              <a:buNone/>
              <a:defRPr sz="900" b="0">
                <a:solidFill>
                  <a:srgbClr val="63788A"/>
                </a:solidFill>
                <a:latin typeface="Helvetica Neue"/>
                <a:ea typeface="Helvetica Neue"/>
                <a:cs typeface="Helvetica Neue"/>
              </a:defRPr>
            </a:lvl9pPr>
          </a:lstStyle>
          <a:p xmlns:a="http://schemas.openxmlformats.org/drawingml/2006/main">
            <a:pPr algn="r">
              <a:buNone/>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2</a:t>
            </a:r>
            <a:r>
              <a:rPr sz="900" b="0">
                <a:solidFill>
                  <a:srgbClr val="63788A"/>
                </a:solidFill>
                <a:latin typeface="Helvetica Neue"/>
                <a:ea typeface="Helvetica Neue"/>
                <a:cs typeface="Helvetica Neue"/>
              </a:rPr>
              <a:t>1</a:t>
            </a:r>
            <a:endParaRPr sz="900" b="0">
              <a:solidFill>
                <a:srgbClr val="63788A"/>
              </a:solidFill>
              <a:latin typeface="Helvetica Neue"/>
              <a:ea typeface="Helvetica Neue"/>
              <a:cs typeface="Helvetica Neue"/>
            </a:endParaRPr>
          </a:p>
        </p:txBody>
      </p:sp>
      <p:sp>
        <p:nvSpPr>
          <p:cNvPr id="6" name="Rectangle 5">
            <a:extLst xmlns:a="http://schemas.openxmlformats.org/drawingml/2006/main">
              <a:ext uri="{FF2B5EF4-FFF2-40B4-BE49-F238E27FC236}">
                <a16:creationId xmlns:a16="http://schemas.microsoft.com/office/drawing/2014/main" id="{B8417911-DFDD-4352-B73A-CBFC7E397483}"/>
              </a:ext>
            </a:extLst>
          </p:cNvPr>
          <p:cNvSpPr>
            <a:spLocks xmlns:a="http://schemas.openxmlformats.org/drawingml/2006/main" noGrp="1"/>
          </p:cNvSpPr>
          <p:nvPr/>
        </p:nvSpPr>
        <p:spPr>
          <a:xfrm xmlns:a="http://schemas.openxmlformats.org/drawingml/2006/main">
            <a:off x="742950" y="1438275"/>
            <a:ext cx="4095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00" b="1">
                <a:solidFill>
                  <a:srgbClr val="243A50"/>
                </a:solidFill>
                <a:latin typeface="Helvetica Neue"/>
                <a:ea typeface="Helvetica Neue"/>
                <a:cs typeface="Helvetica Neue"/>
              </a:defRPr>
            </a:defPPr>
            <a:lvl1pPr algn="l">
              <a:buNone/>
              <a:defRPr sz="1500" b="1">
                <a:solidFill>
                  <a:srgbClr val="243A50"/>
                </a:solidFill>
                <a:latin typeface="Helvetica Neue"/>
                <a:ea typeface="Helvetica Neue"/>
                <a:cs typeface="Helvetica Neue"/>
              </a:defRPr>
            </a:lvl1pPr>
            <a:lvl2pPr algn="l">
              <a:buNone/>
              <a:defRPr sz="1500" b="1">
                <a:solidFill>
                  <a:srgbClr val="243A50"/>
                </a:solidFill>
                <a:latin typeface="Helvetica Neue"/>
                <a:ea typeface="Helvetica Neue"/>
                <a:cs typeface="Helvetica Neue"/>
              </a:defRPr>
            </a:lvl2pPr>
            <a:lvl3pPr algn="l">
              <a:buNone/>
              <a:defRPr sz="1500" b="1">
                <a:solidFill>
                  <a:srgbClr val="243A50"/>
                </a:solidFill>
                <a:latin typeface="Helvetica Neue"/>
                <a:ea typeface="Helvetica Neue"/>
                <a:cs typeface="Helvetica Neue"/>
              </a:defRPr>
            </a:lvl3pPr>
            <a:lvl4pPr algn="l">
              <a:buNone/>
              <a:defRPr sz="1500" b="1">
                <a:solidFill>
                  <a:srgbClr val="243A50"/>
                </a:solidFill>
                <a:latin typeface="Helvetica Neue"/>
                <a:ea typeface="Helvetica Neue"/>
                <a:cs typeface="Helvetica Neue"/>
              </a:defRPr>
            </a:lvl4pPr>
            <a:lvl5pPr algn="l">
              <a:buNone/>
              <a:defRPr sz="1500" b="1">
                <a:solidFill>
                  <a:srgbClr val="243A50"/>
                </a:solidFill>
                <a:latin typeface="Helvetica Neue"/>
                <a:ea typeface="Helvetica Neue"/>
                <a:cs typeface="Helvetica Neue"/>
              </a:defRPr>
            </a:lvl5pPr>
            <a:lvl6pPr algn="l">
              <a:buNone/>
              <a:defRPr sz="1500" b="1">
                <a:solidFill>
                  <a:srgbClr val="243A50"/>
                </a:solidFill>
                <a:latin typeface="Helvetica Neue"/>
                <a:ea typeface="Helvetica Neue"/>
                <a:cs typeface="Helvetica Neue"/>
              </a:defRPr>
            </a:lvl6pPr>
            <a:lvl7pPr algn="l">
              <a:buNone/>
              <a:defRPr sz="1500" b="1">
                <a:solidFill>
                  <a:srgbClr val="243A50"/>
                </a:solidFill>
                <a:latin typeface="Helvetica Neue"/>
                <a:ea typeface="Helvetica Neue"/>
                <a:cs typeface="Helvetica Neue"/>
              </a:defRPr>
            </a:lvl7pPr>
            <a:lvl8pPr algn="l">
              <a:buNone/>
              <a:defRPr sz="1500" b="1">
                <a:solidFill>
                  <a:srgbClr val="243A50"/>
                </a:solidFill>
                <a:latin typeface="Helvetica Neue"/>
                <a:ea typeface="Helvetica Neue"/>
                <a:cs typeface="Helvetica Neue"/>
              </a:defRPr>
            </a:lvl8pPr>
            <a:lvl9pPr algn="l">
              <a:buNone/>
              <a:defRPr sz="1500" b="1">
                <a:solidFill>
                  <a:srgbClr val="243A50"/>
                </a:solidFill>
                <a:latin typeface="Helvetica Neue"/>
                <a:ea typeface="Helvetica Neue"/>
                <a:cs typeface="Helvetica Neue"/>
              </a:defRPr>
            </a:lvl9pPr>
          </a:lstStyle>
          <a:p xmlns:a="http://schemas.openxmlformats.org/drawingml/2006/main">
            <a:pPr algn="l">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[1] UJIIndoorLoc dataset</a:t>
            </a:r>
          </a:p>
        </p:txBody>
      </p:sp>
      <p:sp>
        <p:nvSpPr>
          <p:cNvPr id="7" name="Rectangle 6">
            <a:extLst xmlns:a="http://schemas.openxmlformats.org/drawingml/2006/main">
              <a:ext uri="{FF2B5EF4-FFF2-40B4-BE49-F238E27FC236}">
                <a16:creationId xmlns:a16="http://schemas.microsoft.com/office/drawing/2014/main" id="{D79AA1CB-28F4-4CEA-97C6-44BC971D84EB}"/>
              </a:ext>
            </a:extLst>
          </p:cNvPr>
          <p:cNvSpPr>
            <a:spLocks xmlns:a="http://schemas.openxmlformats.org/drawingml/2006/main" noGrp="1"/>
          </p:cNvSpPr>
          <p:nvPr/>
        </p:nvSpPr>
        <p:spPr>
          <a:xfrm xmlns:a="http://schemas.openxmlformats.org/drawingml/2006/main">
            <a:off x="742950" y="1762125"/>
            <a:ext cx="10477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33485D"/>
                </a:solidFill>
                <a:latin typeface="Helvetica Neue"/>
                <a:ea typeface="Helvetica Neue"/>
                <a:cs typeface="Helvetica Neue"/>
              </a:defRPr>
            </a:defPPr>
            <a:lvl1pPr algn="l">
              <a:buNone/>
              <a:defRPr sz="1275" b="0">
                <a:solidFill>
                  <a:srgbClr val="33485D"/>
                </a:solidFill>
                <a:latin typeface="Helvetica Neue"/>
                <a:ea typeface="Helvetica Neue"/>
                <a:cs typeface="Helvetica Neue"/>
              </a:defRPr>
            </a:lvl1pPr>
            <a:lvl2pPr algn="l">
              <a:buNone/>
              <a:defRPr sz="1275" b="0">
                <a:solidFill>
                  <a:srgbClr val="33485D"/>
                </a:solidFill>
                <a:latin typeface="Helvetica Neue"/>
                <a:ea typeface="Helvetica Neue"/>
                <a:cs typeface="Helvetica Neue"/>
              </a:defRPr>
            </a:lvl2pPr>
            <a:lvl3pPr algn="l">
              <a:buNone/>
              <a:defRPr sz="1275" b="0">
                <a:solidFill>
                  <a:srgbClr val="33485D"/>
                </a:solidFill>
                <a:latin typeface="Helvetica Neue"/>
                <a:ea typeface="Helvetica Neue"/>
                <a:cs typeface="Helvetica Neue"/>
              </a:defRPr>
            </a:lvl3pPr>
            <a:lvl4pPr algn="l">
              <a:buNone/>
              <a:defRPr sz="1275" b="0">
                <a:solidFill>
                  <a:srgbClr val="33485D"/>
                </a:solidFill>
                <a:latin typeface="Helvetica Neue"/>
                <a:ea typeface="Helvetica Neue"/>
                <a:cs typeface="Helvetica Neue"/>
              </a:defRPr>
            </a:lvl4pPr>
            <a:lvl5pPr algn="l">
              <a:buNone/>
              <a:defRPr sz="1275" b="0">
                <a:solidFill>
                  <a:srgbClr val="33485D"/>
                </a:solidFill>
                <a:latin typeface="Helvetica Neue"/>
                <a:ea typeface="Helvetica Neue"/>
                <a:cs typeface="Helvetica Neue"/>
              </a:defRPr>
            </a:lvl5pPr>
            <a:lvl6pPr algn="l">
              <a:buNone/>
              <a:defRPr sz="1275" b="0">
                <a:solidFill>
                  <a:srgbClr val="33485D"/>
                </a:solidFill>
                <a:latin typeface="Helvetica Neue"/>
                <a:ea typeface="Helvetica Neue"/>
                <a:cs typeface="Helvetica Neue"/>
              </a:defRPr>
            </a:lvl6pPr>
            <a:lvl7pPr algn="l">
              <a:buNone/>
              <a:defRPr sz="1275" b="0">
                <a:solidFill>
                  <a:srgbClr val="33485D"/>
                </a:solidFill>
                <a:latin typeface="Helvetica Neue"/>
                <a:ea typeface="Helvetica Neue"/>
                <a:cs typeface="Helvetica Neue"/>
              </a:defRPr>
            </a:lvl7pPr>
            <a:lvl8pPr algn="l">
              <a:buNone/>
              <a:defRPr sz="1275" b="0">
                <a:solidFill>
                  <a:srgbClr val="33485D"/>
                </a:solidFill>
                <a:latin typeface="Helvetica Neue"/>
                <a:ea typeface="Helvetica Neue"/>
                <a:cs typeface="Helvetica Neue"/>
              </a:defRPr>
            </a:lvl8pPr>
            <a:lvl9pPr algn="l">
              <a:buNone/>
              <a:defRPr sz="1275" b="0">
                <a:solidFill>
                  <a:srgbClr val="33485D"/>
                </a:solidFill>
                <a:latin typeface="Helvetica Neue"/>
                <a:ea typeface="Helvetica Neue"/>
                <a:cs typeface="Helvetica Neue"/>
              </a:defRPr>
            </a:lvl9pPr>
          </a:lstStyle>
          <a:p xmlns:a="http://schemas.openxmlformats.org/drawingml/2006/main">
            <a:pPr algn="l">
              <a:buNone/>
              <a:defRPr sz="1275" b="0">
                <a:solidFill>
                  <a:srgbClr val="33485D"/>
                </a:solidFill>
                <a:latin typeface="Helvetica Neue"/>
                <a:ea typeface="Helvetica Neue"/>
                <a:cs typeface="Helvetica Neue"/>
              </a:defRPr>
            </a:pPr>
            <a:r>
              <a:rPr sz="1275" b="0">
                <a:solidFill>
                  <a:srgbClr val="33485D"/>
                </a:solidFill>
                <a:latin typeface="Helvetica Neue"/>
                <a:ea typeface="Helvetica Neue"/>
                <a:cs typeface="Helvetica Neue"/>
              </a:rPr>
              <a:t>UCI Machine Learning Repository, dataset 310.</a:t>
            </a:r>
          </a:p>
        </p:txBody>
      </p:sp>
      <p:sp>
        <p:nvSpPr>
          <p:cNvPr id="8" name="Rectangle 7">
            <a:extLst xmlns:a="http://schemas.openxmlformats.org/drawingml/2006/main">
              <a:ext uri="{FF2B5EF4-FFF2-40B4-BE49-F238E27FC236}">
                <a16:creationId xmlns:a16="http://schemas.microsoft.com/office/drawing/2014/main" id="{144ED643-E0E9-4CED-A30F-6A1DD071BC93}"/>
              </a:ext>
            </a:extLst>
          </p:cNvPr>
          <p:cNvSpPr>
            <a:spLocks xmlns:a="http://schemas.openxmlformats.org/drawingml/2006/main" noGrp="1"/>
          </p:cNvSpPr>
          <p:nvPr/>
        </p:nvSpPr>
        <p:spPr>
          <a:xfrm xmlns:a="http://schemas.openxmlformats.org/drawingml/2006/main">
            <a:off x="742950" y="2190750"/>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125" b="0">
                <a:solidFill>
                  <a:srgbClr val="64877F"/>
                </a:solidFill>
                <a:latin typeface="Helvetica Neue"/>
                <a:ea typeface="Helvetica Neue"/>
                <a:cs typeface="Helvetica Neue"/>
              </a:defRPr>
            </a:defPPr>
            <a:lvl1pPr algn="l">
              <a:buNone/>
              <a:defRPr sz="1125" b="0">
                <a:solidFill>
                  <a:srgbClr val="64877F"/>
                </a:solidFill>
                <a:latin typeface="Helvetica Neue"/>
                <a:ea typeface="Helvetica Neue"/>
                <a:cs typeface="Helvetica Neue"/>
              </a:defRPr>
            </a:lvl1pPr>
            <a:lvl2pPr algn="l">
              <a:buNone/>
              <a:defRPr sz="1125" b="0">
                <a:solidFill>
                  <a:srgbClr val="64877F"/>
                </a:solidFill>
                <a:latin typeface="Helvetica Neue"/>
                <a:ea typeface="Helvetica Neue"/>
                <a:cs typeface="Helvetica Neue"/>
              </a:defRPr>
            </a:lvl2pPr>
            <a:lvl3pPr algn="l">
              <a:buNone/>
              <a:defRPr sz="1125" b="0">
                <a:solidFill>
                  <a:srgbClr val="64877F"/>
                </a:solidFill>
                <a:latin typeface="Helvetica Neue"/>
                <a:ea typeface="Helvetica Neue"/>
                <a:cs typeface="Helvetica Neue"/>
              </a:defRPr>
            </a:lvl3pPr>
            <a:lvl4pPr algn="l">
              <a:buNone/>
              <a:defRPr sz="1125" b="0">
                <a:solidFill>
                  <a:srgbClr val="64877F"/>
                </a:solidFill>
                <a:latin typeface="Helvetica Neue"/>
                <a:ea typeface="Helvetica Neue"/>
                <a:cs typeface="Helvetica Neue"/>
              </a:defRPr>
            </a:lvl4pPr>
            <a:lvl5pPr algn="l">
              <a:buNone/>
              <a:defRPr sz="1125" b="0">
                <a:solidFill>
                  <a:srgbClr val="64877F"/>
                </a:solidFill>
                <a:latin typeface="Helvetica Neue"/>
                <a:ea typeface="Helvetica Neue"/>
                <a:cs typeface="Helvetica Neue"/>
              </a:defRPr>
            </a:lvl5pPr>
            <a:lvl6pPr algn="l">
              <a:buNone/>
              <a:defRPr sz="1125" b="0">
                <a:solidFill>
                  <a:srgbClr val="64877F"/>
                </a:solidFill>
                <a:latin typeface="Helvetica Neue"/>
                <a:ea typeface="Helvetica Neue"/>
                <a:cs typeface="Helvetica Neue"/>
              </a:defRPr>
            </a:lvl6pPr>
            <a:lvl7pPr algn="l">
              <a:buNone/>
              <a:defRPr sz="1125" b="0">
                <a:solidFill>
                  <a:srgbClr val="64877F"/>
                </a:solidFill>
                <a:latin typeface="Helvetica Neue"/>
                <a:ea typeface="Helvetica Neue"/>
                <a:cs typeface="Helvetica Neue"/>
              </a:defRPr>
            </a:lvl7pPr>
            <a:lvl8pPr algn="l">
              <a:buNone/>
              <a:defRPr sz="1125" b="0">
                <a:solidFill>
                  <a:srgbClr val="64877F"/>
                </a:solidFill>
                <a:latin typeface="Helvetica Neue"/>
                <a:ea typeface="Helvetica Neue"/>
                <a:cs typeface="Helvetica Neue"/>
              </a:defRPr>
            </a:lvl8pPr>
            <a:lvl9pPr algn="l">
              <a:buNone/>
              <a:defRPr sz="1125" b="0">
                <a:solidFill>
                  <a:srgbClr val="64877F"/>
                </a:solidFill>
                <a:latin typeface="Helvetica Neue"/>
                <a:ea typeface="Helvetica Neue"/>
                <a:cs typeface="Helvetica Neue"/>
              </a:defRPr>
            </a:lvl9pPr>
          </a:lstStyle>
          <a:p xmlns:a="http://schemas.openxmlformats.org/drawingml/2006/main">
            <a:pPr algn="l">
              <a:buNone/>
              <a:defRPr sz="1125" b="0">
                <a:solidFill>
                  <a:srgbClr val="64877F"/>
                </a:solidFill>
                <a:latin typeface="Helvetica Neue"/>
                <a:ea typeface="Helvetica Neue"/>
                <a:cs typeface="Helvetica Neue"/>
              </a:defRPr>
            </a:pPr>
            <a:r>
              <a:rPr sz="1125" b="0">
                <a:solidFill>
                  <a:srgbClr val="64877F"/>
                </a:solidFill>
                <a:latin typeface="Helvetica Neue"/>
                <a:ea typeface="Helvetica Neue"/>
                <a:cs typeface="Helvetica Neue"/>
              </a:rPr>
              <a:t>DOI: 10.24432/C5MS59  ·  archive.ics.uci.edu/dataset/310/ujiindoorloc</a:t>
            </a:r>
          </a:p>
        </p:txBody>
      </p:sp>
      <p:sp>
        <p:nvSpPr>
          <p:cNvPr id="9" name="Straight Connector 8">
            <a:extLst xmlns:a="http://schemas.openxmlformats.org/drawingml/2006/main">
              <a:ext uri="{FF2B5EF4-FFF2-40B4-BE49-F238E27FC236}">
                <a16:creationId xmlns:a16="http://schemas.microsoft.com/office/drawing/2014/main" id="{09D33A62-B8CB-42DB-BC0F-D36EBADF2197}"/>
              </a:ext>
            </a:extLst>
          </p:cNvPr>
          <p:cNvSpPr>
            <a:spLocks xmlns:a="http://schemas.openxmlformats.org/drawingml/2006/main" noGrp="1"/>
          </p:cNvSpPr>
          <p:nvPr/>
        </p:nvSpPr>
        <p:spPr>
          <a:xfrm xmlns:a="http://schemas.openxmlformats.org/drawingml/2006/main">
            <a:off x="742950" y="2466975"/>
            <a:ext cx="10639425" cy="0"/>
          </a:xfrm>
          <a:prstGeom xmlns:a="http://schemas.openxmlformats.org/drawingml/2006/main" prst="line">
            <a:avLst/>
          </a:prstGeom>
          <a:noFill xmlns:a="http://schemas.openxmlformats.org/drawingml/2006/main"/>
          <a:ln xmlns:a="http://schemas.openxmlformats.org/drawingml/2006/main" w="9525">
            <a:solidFill>
              <a:srgbClr val="CBD5DA"/>
            </a:solidFill>
            <a:prstDash val="solid"/>
          </a:ln>
        </p:spPr>
      </p:sp>
      <p:sp>
        <p:nvSpPr>
          <p:cNvPr id="10" name="Rectangle 9">
            <a:extLst xmlns:a="http://schemas.openxmlformats.org/drawingml/2006/main">
              <a:ext uri="{FF2B5EF4-FFF2-40B4-BE49-F238E27FC236}">
                <a16:creationId xmlns:a16="http://schemas.microsoft.com/office/drawing/2014/main" id="{CD4A45EF-AA47-41BD-9CFE-0740C698E9C1}"/>
              </a:ext>
            </a:extLst>
          </p:cNvPr>
          <p:cNvSpPr>
            <a:spLocks xmlns:a="http://schemas.openxmlformats.org/drawingml/2006/main" noGrp="1"/>
          </p:cNvSpPr>
          <p:nvPr/>
        </p:nvSpPr>
        <p:spPr>
          <a:xfrm xmlns:a="http://schemas.openxmlformats.org/drawingml/2006/main">
            <a:off x="742950" y="2571750"/>
            <a:ext cx="4095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00" b="1">
                <a:solidFill>
                  <a:srgbClr val="243A50"/>
                </a:solidFill>
                <a:latin typeface="Helvetica Neue"/>
                <a:ea typeface="Helvetica Neue"/>
                <a:cs typeface="Helvetica Neue"/>
              </a:defRPr>
            </a:defPPr>
            <a:lvl1pPr algn="l">
              <a:buNone/>
              <a:defRPr sz="1500" b="1">
                <a:solidFill>
                  <a:srgbClr val="243A50"/>
                </a:solidFill>
                <a:latin typeface="Helvetica Neue"/>
                <a:ea typeface="Helvetica Neue"/>
                <a:cs typeface="Helvetica Neue"/>
              </a:defRPr>
            </a:lvl1pPr>
            <a:lvl2pPr algn="l">
              <a:buNone/>
              <a:defRPr sz="1500" b="1">
                <a:solidFill>
                  <a:srgbClr val="243A50"/>
                </a:solidFill>
                <a:latin typeface="Helvetica Neue"/>
                <a:ea typeface="Helvetica Neue"/>
                <a:cs typeface="Helvetica Neue"/>
              </a:defRPr>
            </a:lvl2pPr>
            <a:lvl3pPr algn="l">
              <a:buNone/>
              <a:defRPr sz="1500" b="1">
                <a:solidFill>
                  <a:srgbClr val="243A50"/>
                </a:solidFill>
                <a:latin typeface="Helvetica Neue"/>
                <a:ea typeface="Helvetica Neue"/>
                <a:cs typeface="Helvetica Neue"/>
              </a:defRPr>
            </a:lvl3pPr>
            <a:lvl4pPr algn="l">
              <a:buNone/>
              <a:defRPr sz="1500" b="1">
                <a:solidFill>
                  <a:srgbClr val="243A50"/>
                </a:solidFill>
                <a:latin typeface="Helvetica Neue"/>
                <a:ea typeface="Helvetica Neue"/>
                <a:cs typeface="Helvetica Neue"/>
              </a:defRPr>
            </a:lvl4pPr>
            <a:lvl5pPr algn="l">
              <a:buNone/>
              <a:defRPr sz="1500" b="1">
                <a:solidFill>
                  <a:srgbClr val="243A50"/>
                </a:solidFill>
                <a:latin typeface="Helvetica Neue"/>
                <a:ea typeface="Helvetica Neue"/>
                <a:cs typeface="Helvetica Neue"/>
              </a:defRPr>
            </a:lvl5pPr>
            <a:lvl6pPr algn="l">
              <a:buNone/>
              <a:defRPr sz="1500" b="1">
                <a:solidFill>
                  <a:srgbClr val="243A50"/>
                </a:solidFill>
                <a:latin typeface="Helvetica Neue"/>
                <a:ea typeface="Helvetica Neue"/>
                <a:cs typeface="Helvetica Neue"/>
              </a:defRPr>
            </a:lvl6pPr>
            <a:lvl7pPr algn="l">
              <a:buNone/>
              <a:defRPr sz="1500" b="1">
                <a:solidFill>
                  <a:srgbClr val="243A50"/>
                </a:solidFill>
                <a:latin typeface="Helvetica Neue"/>
                <a:ea typeface="Helvetica Neue"/>
                <a:cs typeface="Helvetica Neue"/>
              </a:defRPr>
            </a:lvl7pPr>
            <a:lvl8pPr algn="l">
              <a:buNone/>
              <a:defRPr sz="1500" b="1">
                <a:solidFill>
                  <a:srgbClr val="243A50"/>
                </a:solidFill>
                <a:latin typeface="Helvetica Neue"/>
                <a:ea typeface="Helvetica Neue"/>
                <a:cs typeface="Helvetica Neue"/>
              </a:defRPr>
            </a:lvl8pPr>
            <a:lvl9pPr algn="l">
              <a:buNone/>
              <a:defRPr sz="1500" b="1">
                <a:solidFill>
                  <a:srgbClr val="243A50"/>
                </a:solidFill>
                <a:latin typeface="Helvetica Neue"/>
                <a:ea typeface="Helvetica Neue"/>
                <a:cs typeface="Helvetica Neue"/>
              </a:defRPr>
            </a:lvl9pPr>
          </a:lstStyle>
          <a:p xmlns:a="http://schemas.openxmlformats.org/drawingml/2006/main">
            <a:pPr algn="l">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[2] Dataset paper</a:t>
            </a:r>
          </a:p>
        </p:txBody>
      </p:sp>
      <p:sp>
        <p:nvSpPr>
          <p:cNvPr id="11" name="Rectangle 10">
            <a:extLst xmlns:a="http://schemas.openxmlformats.org/drawingml/2006/main">
              <a:ext uri="{FF2B5EF4-FFF2-40B4-BE49-F238E27FC236}">
                <a16:creationId xmlns:a16="http://schemas.microsoft.com/office/drawing/2014/main" id="{6924C305-33F5-4EFF-B8BB-8A309D3CCE91}"/>
              </a:ext>
            </a:extLst>
          </p:cNvPr>
          <p:cNvSpPr>
            <a:spLocks xmlns:a="http://schemas.openxmlformats.org/drawingml/2006/main" noGrp="1"/>
          </p:cNvSpPr>
          <p:nvPr/>
        </p:nvSpPr>
        <p:spPr>
          <a:xfrm xmlns:a="http://schemas.openxmlformats.org/drawingml/2006/main">
            <a:off x="742950" y="2895600"/>
            <a:ext cx="10477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33485D"/>
                </a:solidFill>
                <a:latin typeface="Helvetica Neue"/>
                <a:ea typeface="Helvetica Neue"/>
                <a:cs typeface="Helvetica Neue"/>
              </a:defRPr>
            </a:defPPr>
            <a:lvl1pPr algn="l">
              <a:buNone/>
              <a:defRPr sz="1275" b="0">
                <a:solidFill>
                  <a:srgbClr val="33485D"/>
                </a:solidFill>
                <a:latin typeface="Helvetica Neue"/>
                <a:ea typeface="Helvetica Neue"/>
                <a:cs typeface="Helvetica Neue"/>
              </a:defRPr>
            </a:lvl1pPr>
            <a:lvl2pPr algn="l">
              <a:buNone/>
              <a:defRPr sz="1275" b="0">
                <a:solidFill>
                  <a:srgbClr val="33485D"/>
                </a:solidFill>
                <a:latin typeface="Helvetica Neue"/>
                <a:ea typeface="Helvetica Neue"/>
                <a:cs typeface="Helvetica Neue"/>
              </a:defRPr>
            </a:lvl2pPr>
            <a:lvl3pPr algn="l">
              <a:buNone/>
              <a:defRPr sz="1275" b="0">
                <a:solidFill>
                  <a:srgbClr val="33485D"/>
                </a:solidFill>
                <a:latin typeface="Helvetica Neue"/>
                <a:ea typeface="Helvetica Neue"/>
                <a:cs typeface="Helvetica Neue"/>
              </a:defRPr>
            </a:lvl3pPr>
            <a:lvl4pPr algn="l">
              <a:buNone/>
              <a:defRPr sz="1275" b="0">
                <a:solidFill>
                  <a:srgbClr val="33485D"/>
                </a:solidFill>
                <a:latin typeface="Helvetica Neue"/>
                <a:ea typeface="Helvetica Neue"/>
                <a:cs typeface="Helvetica Neue"/>
              </a:defRPr>
            </a:lvl4pPr>
            <a:lvl5pPr algn="l">
              <a:buNone/>
              <a:defRPr sz="1275" b="0">
                <a:solidFill>
                  <a:srgbClr val="33485D"/>
                </a:solidFill>
                <a:latin typeface="Helvetica Neue"/>
                <a:ea typeface="Helvetica Neue"/>
                <a:cs typeface="Helvetica Neue"/>
              </a:defRPr>
            </a:lvl5pPr>
            <a:lvl6pPr algn="l">
              <a:buNone/>
              <a:defRPr sz="1275" b="0">
                <a:solidFill>
                  <a:srgbClr val="33485D"/>
                </a:solidFill>
                <a:latin typeface="Helvetica Neue"/>
                <a:ea typeface="Helvetica Neue"/>
                <a:cs typeface="Helvetica Neue"/>
              </a:defRPr>
            </a:lvl6pPr>
            <a:lvl7pPr algn="l">
              <a:buNone/>
              <a:defRPr sz="1275" b="0">
                <a:solidFill>
                  <a:srgbClr val="33485D"/>
                </a:solidFill>
                <a:latin typeface="Helvetica Neue"/>
                <a:ea typeface="Helvetica Neue"/>
                <a:cs typeface="Helvetica Neue"/>
              </a:defRPr>
            </a:lvl7pPr>
            <a:lvl8pPr algn="l">
              <a:buNone/>
              <a:defRPr sz="1275" b="0">
                <a:solidFill>
                  <a:srgbClr val="33485D"/>
                </a:solidFill>
                <a:latin typeface="Helvetica Neue"/>
                <a:ea typeface="Helvetica Neue"/>
                <a:cs typeface="Helvetica Neue"/>
              </a:defRPr>
            </a:lvl8pPr>
            <a:lvl9pPr algn="l">
              <a:buNone/>
              <a:defRPr sz="1275" b="0">
                <a:solidFill>
                  <a:srgbClr val="33485D"/>
                </a:solidFill>
                <a:latin typeface="Helvetica Neue"/>
                <a:ea typeface="Helvetica Neue"/>
                <a:cs typeface="Helvetica Neue"/>
              </a:defRPr>
            </a:lvl9pPr>
          </a:lstStyle>
          <a:p xmlns:a="http://schemas.openxmlformats.org/drawingml/2006/main">
            <a:pPr algn="l">
              <a:buNone/>
              <a:defRPr sz="1275" b="0">
                <a:solidFill>
                  <a:srgbClr val="33485D"/>
                </a:solidFill>
                <a:latin typeface="Helvetica Neue"/>
                <a:ea typeface="Helvetica Neue"/>
                <a:cs typeface="Helvetica Neue"/>
              </a:defRPr>
            </a:pPr>
            <a:r>
              <a:rPr sz="1275" b="0">
                <a:solidFill>
                  <a:srgbClr val="33485D"/>
                </a:solidFill>
                <a:latin typeface="Helvetica Neue"/>
                <a:ea typeface="Helvetica Neue"/>
                <a:cs typeface="Helvetica Neue"/>
              </a:rPr>
              <a:t>J. Torres-Sospedra et al., “UJIIndoorLoc: A new multi-building and multi-floor database for WLAN fingerprint-based indoor localization problems,” IPIN 2014, pp. 261–270.</a:t>
            </a:r>
          </a:p>
        </p:txBody>
      </p:sp>
      <p:sp>
        <p:nvSpPr>
          <p:cNvPr id="12" name="Rectangle 11">
            <a:extLst xmlns:a="http://schemas.openxmlformats.org/drawingml/2006/main">
              <a:ext uri="{FF2B5EF4-FFF2-40B4-BE49-F238E27FC236}">
                <a16:creationId xmlns:a16="http://schemas.microsoft.com/office/drawing/2014/main" id="{6F1DE811-5359-43C2-B6EB-056503CE047D}"/>
              </a:ext>
            </a:extLst>
          </p:cNvPr>
          <p:cNvSpPr>
            <a:spLocks xmlns:a="http://schemas.openxmlformats.org/drawingml/2006/main" noGrp="1"/>
          </p:cNvSpPr>
          <p:nvPr/>
        </p:nvSpPr>
        <p:spPr>
          <a:xfrm xmlns:a="http://schemas.openxmlformats.org/drawingml/2006/main">
            <a:off x="742950" y="332422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125" b="0">
                <a:solidFill>
                  <a:srgbClr val="64877F"/>
                </a:solidFill>
                <a:latin typeface="Helvetica Neue"/>
                <a:ea typeface="Helvetica Neue"/>
                <a:cs typeface="Helvetica Neue"/>
              </a:defRPr>
            </a:defPPr>
            <a:lvl1pPr algn="l">
              <a:buNone/>
              <a:defRPr sz="1125" b="0">
                <a:solidFill>
                  <a:srgbClr val="64877F"/>
                </a:solidFill>
                <a:latin typeface="Helvetica Neue"/>
                <a:ea typeface="Helvetica Neue"/>
                <a:cs typeface="Helvetica Neue"/>
              </a:defRPr>
            </a:lvl1pPr>
            <a:lvl2pPr algn="l">
              <a:buNone/>
              <a:defRPr sz="1125" b="0">
                <a:solidFill>
                  <a:srgbClr val="64877F"/>
                </a:solidFill>
                <a:latin typeface="Helvetica Neue"/>
                <a:ea typeface="Helvetica Neue"/>
                <a:cs typeface="Helvetica Neue"/>
              </a:defRPr>
            </a:lvl2pPr>
            <a:lvl3pPr algn="l">
              <a:buNone/>
              <a:defRPr sz="1125" b="0">
                <a:solidFill>
                  <a:srgbClr val="64877F"/>
                </a:solidFill>
                <a:latin typeface="Helvetica Neue"/>
                <a:ea typeface="Helvetica Neue"/>
                <a:cs typeface="Helvetica Neue"/>
              </a:defRPr>
            </a:lvl3pPr>
            <a:lvl4pPr algn="l">
              <a:buNone/>
              <a:defRPr sz="1125" b="0">
                <a:solidFill>
                  <a:srgbClr val="64877F"/>
                </a:solidFill>
                <a:latin typeface="Helvetica Neue"/>
                <a:ea typeface="Helvetica Neue"/>
                <a:cs typeface="Helvetica Neue"/>
              </a:defRPr>
            </a:lvl4pPr>
            <a:lvl5pPr algn="l">
              <a:buNone/>
              <a:defRPr sz="1125" b="0">
                <a:solidFill>
                  <a:srgbClr val="64877F"/>
                </a:solidFill>
                <a:latin typeface="Helvetica Neue"/>
                <a:ea typeface="Helvetica Neue"/>
                <a:cs typeface="Helvetica Neue"/>
              </a:defRPr>
            </a:lvl5pPr>
            <a:lvl6pPr algn="l">
              <a:buNone/>
              <a:defRPr sz="1125" b="0">
                <a:solidFill>
                  <a:srgbClr val="64877F"/>
                </a:solidFill>
                <a:latin typeface="Helvetica Neue"/>
                <a:ea typeface="Helvetica Neue"/>
                <a:cs typeface="Helvetica Neue"/>
              </a:defRPr>
            </a:lvl6pPr>
            <a:lvl7pPr algn="l">
              <a:buNone/>
              <a:defRPr sz="1125" b="0">
                <a:solidFill>
                  <a:srgbClr val="64877F"/>
                </a:solidFill>
                <a:latin typeface="Helvetica Neue"/>
                <a:ea typeface="Helvetica Neue"/>
                <a:cs typeface="Helvetica Neue"/>
              </a:defRPr>
            </a:lvl7pPr>
            <a:lvl8pPr algn="l">
              <a:buNone/>
              <a:defRPr sz="1125" b="0">
                <a:solidFill>
                  <a:srgbClr val="64877F"/>
                </a:solidFill>
                <a:latin typeface="Helvetica Neue"/>
                <a:ea typeface="Helvetica Neue"/>
                <a:cs typeface="Helvetica Neue"/>
              </a:defRPr>
            </a:lvl8pPr>
            <a:lvl9pPr algn="l">
              <a:buNone/>
              <a:defRPr sz="1125" b="0">
                <a:solidFill>
                  <a:srgbClr val="64877F"/>
                </a:solidFill>
                <a:latin typeface="Helvetica Neue"/>
                <a:ea typeface="Helvetica Neue"/>
                <a:cs typeface="Helvetica Neue"/>
              </a:defRPr>
            </a:lvl9pPr>
          </a:lstStyle>
          <a:p xmlns:a="http://schemas.openxmlformats.org/drawingml/2006/main">
            <a:pPr algn="l">
              <a:buNone/>
              <a:defRPr sz="1125" b="0">
                <a:solidFill>
                  <a:srgbClr val="64877F"/>
                </a:solidFill>
                <a:latin typeface="Helvetica Neue"/>
                <a:ea typeface="Helvetica Neue"/>
                <a:cs typeface="Helvetica Neue"/>
              </a:defRPr>
            </a:pPr>
            <a:r>
              <a:rPr sz="1125" b="0">
                <a:solidFill>
                  <a:srgbClr val="64877F"/>
                </a:solidFill>
                <a:latin typeface="Helvetica Neue"/>
                <a:ea typeface="Helvetica Neue"/>
                <a:cs typeface="Helvetica Neue"/>
              </a:rPr>
              <a:t>DOI: 10.1109/IPIN.2014.7275492</a:t>
            </a:r>
          </a:p>
        </p:txBody>
      </p:sp>
      <p:sp>
        <p:nvSpPr>
          <p:cNvPr id="13" name="Straight Connector 12">
            <a:extLst xmlns:a="http://schemas.openxmlformats.org/drawingml/2006/main">
              <a:ext uri="{FF2B5EF4-FFF2-40B4-BE49-F238E27FC236}">
                <a16:creationId xmlns:a16="http://schemas.microsoft.com/office/drawing/2014/main" id="{165C6778-6B5A-4FB7-B74C-717414592092}"/>
              </a:ext>
            </a:extLst>
          </p:cNvPr>
          <p:cNvSpPr>
            <a:spLocks xmlns:a="http://schemas.openxmlformats.org/drawingml/2006/main" noGrp="1"/>
          </p:cNvSpPr>
          <p:nvPr/>
        </p:nvSpPr>
        <p:spPr>
          <a:xfrm xmlns:a="http://schemas.openxmlformats.org/drawingml/2006/main">
            <a:off x="742950" y="3600450"/>
            <a:ext cx="10639425" cy="0"/>
          </a:xfrm>
          <a:prstGeom xmlns:a="http://schemas.openxmlformats.org/drawingml/2006/main" prst="line">
            <a:avLst/>
          </a:prstGeom>
          <a:noFill xmlns:a="http://schemas.openxmlformats.org/drawingml/2006/main"/>
          <a:ln xmlns:a="http://schemas.openxmlformats.org/drawingml/2006/main" w="9525">
            <a:solidFill>
              <a:srgbClr val="CBD5DA"/>
            </a:solidFill>
            <a:prstDash val="solid"/>
          </a:ln>
        </p:spPr>
      </p:sp>
      <p:sp>
        <p:nvSpPr>
          <p:cNvPr id="14" name="Rectangle 13">
            <a:extLst xmlns:a="http://schemas.openxmlformats.org/drawingml/2006/main">
              <a:ext uri="{FF2B5EF4-FFF2-40B4-BE49-F238E27FC236}">
                <a16:creationId xmlns:a16="http://schemas.microsoft.com/office/drawing/2014/main" id="{9B005FAB-2B54-4D71-B7E6-5FD095AA9586}"/>
              </a:ext>
            </a:extLst>
          </p:cNvPr>
          <p:cNvSpPr>
            <a:spLocks xmlns:a="http://schemas.openxmlformats.org/drawingml/2006/main" noGrp="1"/>
          </p:cNvSpPr>
          <p:nvPr/>
        </p:nvSpPr>
        <p:spPr>
          <a:xfrm xmlns:a="http://schemas.openxmlformats.org/drawingml/2006/main">
            <a:off x="742950" y="3705225"/>
            <a:ext cx="4095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00" b="1">
                <a:solidFill>
                  <a:srgbClr val="243A50"/>
                </a:solidFill>
                <a:latin typeface="Helvetica Neue"/>
                <a:ea typeface="Helvetica Neue"/>
                <a:cs typeface="Helvetica Neue"/>
              </a:defRPr>
            </a:defPPr>
            <a:lvl1pPr algn="l">
              <a:buNone/>
              <a:defRPr sz="1500" b="1">
                <a:solidFill>
                  <a:srgbClr val="243A50"/>
                </a:solidFill>
                <a:latin typeface="Helvetica Neue"/>
                <a:ea typeface="Helvetica Neue"/>
                <a:cs typeface="Helvetica Neue"/>
              </a:defRPr>
            </a:lvl1pPr>
            <a:lvl2pPr algn="l">
              <a:buNone/>
              <a:defRPr sz="1500" b="1">
                <a:solidFill>
                  <a:srgbClr val="243A50"/>
                </a:solidFill>
                <a:latin typeface="Helvetica Neue"/>
                <a:ea typeface="Helvetica Neue"/>
                <a:cs typeface="Helvetica Neue"/>
              </a:defRPr>
            </a:lvl2pPr>
            <a:lvl3pPr algn="l">
              <a:buNone/>
              <a:defRPr sz="1500" b="1">
                <a:solidFill>
                  <a:srgbClr val="243A50"/>
                </a:solidFill>
                <a:latin typeface="Helvetica Neue"/>
                <a:ea typeface="Helvetica Neue"/>
                <a:cs typeface="Helvetica Neue"/>
              </a:defRPr>
            </a:lvl3pPr>
            <a:lvl4pPr algn="l">
              <a:buNone/>
              <a:defRPr sz="1500" b="1">
                <a:solidFill>
                  <a:srgbClr val="243A50"/>
                </a:solidFill>
                <a:latin typeface="Helvetica Neue"/>
                <a:ea typeface="Helvetica Neue"/>
                <a:cs typeface="Helvetica Neue"/>
              </a:defRPr>
            </a:lvl4pPr>
            <a:lvl5pPr algn="l">
              <a:buNone/>
              <a:defRPr sz="1500" b="1">
                <a:solidFill>
                  <a:srgbClr val="243A50"/>
                </a:solidFill>
                <a:latin typeface="Helvetica Neue"/>
                <a:ea typeface="Helvetica Neue"/>
                <a:cs typeface="Helvetica Neue"/>
              </a:defRPr>
            </a:lvl5pPr>
            <a:lvl6pPr algn="l">
              <a:buNone/>
              <a:defRPr sz="1500" b="1">
                <a:solidFill>
                  <a:srgbClr val="243A50"/>
                </a:solidFill>
                <a:latin typeface="Helvetica Neue"/>
                <a:ea typeface="Helvetica Neue"/>
                <a:cs typeface="Helvetica Neue"/>
              </a:defRPr>
            </a:lvl6pPr>
            <a:lvl7pPr algn="l">
              <a:buNone/>
              <a:defRPr sz="1500" b="1">
                <a:solidFill>
                  <a:srgbClr val="243A50"/>
                </a:solidFill>
                <a:latin typeface="Helvetica Neue"/>
                <a:ea typeface="Helvetica Neue"/>
                <a:cs typeface="Helvetica Neue"/>
              </a:defRPr>
            </a:lvl7pPr>
            <a:lvl8pPr algn="l">
              <a:buNone/>
              <a:defRPr sz="1500" b="1">
                <a:solidFill>
                  <a:srgbClr val="243A50"/>
                </a:solidFill>
                <a:latin typeface="Helvetica Neue"/>
                <a:ea typeface="Helvetica Neue"/>
                <a:cs typeface="Helvetica Neue"/>
              </a:defRPr>
            </a:lvl8pPr>
            <a:lvl9pPr algn="l">
              <a:buNone/>
              <a:defRPr sz="1500" b="1">
                <a:solidFill>
                  <a:srgbClr val="243A50"/>
                </a:solidFill>
                <a:latin typeface="Helvetica Neue"/>
                <a:ea typeface="Helvetica Neue"/>
                <a:cs typeface="Helvetica Neue"/>
              </a:defRPr>
            </a:lvl9pPr>
          </a:lstStyle>
          <a:p xmlns:a="http://schemas.openxmlformats.org/drawingml/2006/main">
            <a:pPr algn="l">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[3] Random Forest</a:t>
            </a:r>
          </a:p>
        </p:txBody>
      </p:sp>
      <p:sp>
        <p:nvSpPr>
          <p:cNvPr id="15" name="Rectangle 14">
            <a:extLst xmlns:a="http://schemas.openxmlformats.org/drawingml/2006/main">
              <a:ext uri="{FF2B5EF4-FFF2-40B4-BE49-F238E27FC236}">
                <a16:creationId xmlns:a16="http://schemas.microsoft.com/office/drawing/2014/main" id="{DEDFF61F-DD11-4200-89D2-91DF44D57152}"/>
              </a:ext>
            </a:extLst>
          </p:cNvPr>
          <p:cNvSpPr>
            <a:spLocks xmlns:a="http://schemas.openxmlformats.org/drawingml/2006/main" noGrp="1"/>
          </p:cNvSpPr>
          <p:nvPr/>
        </p:nvSpPr>
        <p:spPr>
          <a:xfrm xmlns:a="http://schemas.openxmlformats.org/drawingml/2006/main">
            <a:off x="742950" y="4029075"/>
            <a:ext cx="10477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33485D"/>
                </a:solidFill>
                <a:latin typeface="Helvetica Neue"/>
                <a:ea typeface="Helvetica Neue"/>
                <a:cs typeface="Helvetica Neue"/>
              </a:defRPr>
            </a:defPPr>
            <a:lvl1pPr algn="l">
              <a:buNone/>
              <a:defRPr sz="1275" b="0">
                <a:solidFill>
                  <a:srgbClr val="33485D"/>
                </a:solidFill>
                <a:latin typeface="Helvetica Neue"/>
                <a:ea typeface="Helvetica Neue"/>
                <a:cs typeface="Helvetica Neue"/>
              </a:defRPr>
            </a:lvl1pPr>
            <a:lvl2pPr algn="l">
              <a:buNone/>
              <a:defRPr sz="1275" b="0">
                <a:solidFill>
                  <a:srgbClr val="33485D"/>
                </a:solidFill>
                <a:latin typeface="Helvetica Neue"/>
                <a:ea typeface="Helvetica Neue"/>
                <a:cs typeface="Helvetica Neue"/>
              </a:defRPr>
            </a:lvl2pPr>
            <a:lvl3pPr algn="l">
              <a:buNone/>
              <a:defRPr sz="1275" b="0">
                <a:solidFill>
                  <a:srgbClr val="33485D"/>
                </a:solidFill>
                <a:latin typeface="Helvetica Neue"/>
                <a:ea typeface="Helvetica Neue"/>
                <a:cs typeface="Helvetica Neue"/>
              </a:defRPr>
            </a:lvl3pPr>
            <a:lvl4pPr algn="l">
              <a:buNone/>
              <a:defRPr sz="1275" b="0">
                <a:solidFill>
                  <a:srgbClr val="33485D"/>
                </a:solidFill>
                <a:latin typeface="Helvetica Neue"/>
                <a:ea typeface="Helvetica Neue"/>
                <a:cs typeface="Helvetica Neue"/>
              </a:defRPr>
            </a:lvl4pPr>
            <a:lvl5pPr algn="l">
              <a:buNone/>
              <a:defRPr sz="1275" b="0">
                <a:solidFill>
                  <a:srgbClr val="33485D"/>
                </a:solidFill>
                <a:latin typeface="Helvetica Neue"/>
                <a:ea typeface="Helvetica Neue"/>
                <a:cs typeface="Helvetica Neue"/>
              </a:defRPr>
            </a:lvl5pPr>
            <a:lvl6pPr algn="l">
              <a:buNone/>
              <a:defRPr sz="1275" b="0">
                <a:solidFill>
                  <a:srgbClr val="33485D"/>
                </a:solidFill>
                <a:latin typeface="Helvetica Neue"/>
                <a:ea typeface="Helvetica Neue"/>
                <a:cs typeface="Helvetica Neue"/>
              </a:defRPr>
            </a:lvl6pPr>
            <a:lvl7pPr algn="l">
              <a:buNone/>
              <a:defRPr sz="1275" b="0">
                <a:solidFill>
                  <a:srgbClr val="33485D"/>
                </a:solidFill>
                <a:latin typeface="Helvetica Neue"/>
                <a:ea typeface="Helvetica Neue"/>
                <a:cs typeface="Helvetica Neue"/>
              </a:defRPr>
            </a:lvl7pPr>
            <a:lvl8pPr algn="l">
              <a:buNone/>
              <a:defRPr sz="1275" b="0">
                <a:solidFill>
                  <a:srgbClr val="33485D"/>
                </a:solidFill>
                <a:latin typeface="Helvetica Neue"/>
                <a:ea typeface="Helvetica Neue"/>
                <a:cs typeface="Helvetica Neue"/>
              </a:defRPr>
            </a:lvl8pPr>
            <a:lvl9pPr algn="l">
              <a:buNone/>
              <a:defRPr sz="1275" b="0">
                <a:solidFill>
                  <a:srgbClr val="33485D"/>
                </a:solidFill>
                <a:latin typeface="Helvetica Neue"/>
                <a:ea typeface="Helvetica Neue"/>
                <a:cs typeface="Helvetica Neue"/>
              </a:defRPr>
            </a:lvl9pPr>
          </a:lstStyle>
          <a:p xmlns:a="http://schemas.openxmlformats.org/drawingml/2006/main">
            <a:pPr algn="l">
              <a:buNone/>
              <a:defRPr sz="1275" b="0">
                <a:solidFill>
                  <a:srgbClr val="33485D"/>
                </a:solidFill>
                <a:latin typeface="Helvetica Neue"/>
                <a:ea typeface="Helvetica Neue"/>
                <a:cs typeface="Helvetica Neue"/>
              </a:defRPr>
            </a:pPr>
            <a:r>
              <a:rPr sz="1275" b="0">
                <a:solidFill>
                  <a:srgbClr val="33485D"/>
                </a:solidFill>
                <a:latin typeface="Helvetica Neue"/>
                <a:ea typeface="Helvetica Neue"/>
                <a:cs typeface="Helvetica Neue"/>
              </a:rPr>
              <a:t>L. Breiman, “Random Forests,” Machine Learning, vol. 45, pp. 5–32, 2001.</a:t>
            </a:r>
          </a:p>
        </p:txBody>
      </p:sp>
      <p:sp>
        <p:nvSpPr>
          <p:cNvPr id="16" name="Rectangle 15">
            <a:extLst xmlns:a="http://schemas.openxmlformats.org/drawingml/2006/main">
              <a:ext uri="{FF2B5EF4-FFF2-40B4-BE49-F238E27FC236}">
                <a16:creationId xmlns:a16="http://schemas.microsoft.com/office/drawing/2014/main" id="{A9D84032-3D9B-4B90-96E9-CFBF54D765ED}"/>
              </a:ext>
            </a:extLst>
          </p:cNvPr>
          <p:cNvSpPr>
            <a:spLocks xmlns:a="http://schemas.openxmlformats.org/drawingml/2006/main" noGrp="1"/>
          </p:cNvSpPr>
          <p:nvPr/>
        </p:nvSpPr>
        <p:spPr>
          <a:xfrm xmlns:a="http://schemas.openxmlformats.org/drawingml/2006/main">
            <a:off x="742950" y="4457700"/>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125" b="0">
                <a:solidFill>
                  <a:srgbClr val="64877F"/>
                </a:solidFill>
                <a:latin typeface="Helvetica Neue"/>
                <a:ea typeface="Helvetica Neue"/>
                <a:cs typeface="Helvetica Neue"/>
              </a:defRPr>
            </a:defPPr>
            <a:lvl1pPr algn="l">
              <a:buNone/>
              <a:defRPr sz="1125" b="0">
                <a:solidFill>
                  <a:srgbClr val="64877F"/>
                </a:solidFill>
                <a:latin typeface="Helvetica Neue"/>
                <a:ea typeface="Helvetica Neue"/>
                <a:cs typeface="Helvetica Neue"/>
              </a:defRPr>
            </a:lvl1pPr>
            <a:lvl2pPr algn="l">
              <a:buNone/>
              <a:defRPr sz="1125" b="0">
                <a:solidFill>
                  <a:srgbClr val="64877F"/>
                </a:solidFill>
                <a:latin typeface="Helvetica Neue"/>
                <a:ea typeface="Helvetica Neue"/>
                <a:cs typeface="Helvetica Neue"/>
              </a:defRPr>
            </a:lvl2pPr>
            <a:lvl3pPr algn="l">
              <a:buNone/>
              <a:defRPr sz="1125" b="0">
                <a:solidFill>
                  <a:srgbClr val="64877F"/>
                </a:solidFill>
                <a:latin typeface="Helvetica Neue"/>
                <a:ea typeface="Helvetica Neue"/>
                <a:cs typeface="Helvetica Neue"/>
              </a:defRPr>
            </a:lvl3pPr>
            <a:lvl4pPr algn="l">
              <a:buNone/>
              <a:defRPr sz="1125" b="0">
                <a:solidFill>
                  <a:srgbClr val="64877F"/>
                </a:solidFill>
                <a:latin typeface="Helvetica Neue"/>
                <a:ea typeface="Helvetica Neue"/>
                <a:cs typeface="Helvetica Neue"/>
              </a:defRPr>
            </a:lvl4pPr>
            <a:lvl5pPr algn="l">
              <a:buNone/>
              <a:defRPr sz="1125" b="0">
                <a:solidFill>
                  <a:srgbClr val="64877F"/>
                </a:solidFill>
                <a:latin typeface="Helvetica Neue"/>
                <a:ea typeface="Helvetica Neue"/>
                <a:cs typeface="Helvetica Neue"/>
              </a:defRPr>
            </a:lvl5pPr>
            <a:lvl6pPr algn="l">
              <a:buNone/>
              <a:defRPr sz="1125" b="0">
                <a:solidFill>
                  <a:srgbClr val="64877F"/>
                </a:solidFill>
                <a:latin typeface="Helvetica Neue"/>
                <a:ea typeface="Helvetica Neue"/>
                <a:cs typeface="Helvetica Neue"/>
              </a:defRPr>
            </a:lvl6pPr>
            <a:lvl7pPr algn="l">
              <a:buNone/>
              <a:defRPr sz="1125" b="0">
                <a:solidFill>
                  <a:srgbClr val="64877F"/>
                </a:solidFill>
                <a:latin typeface="Helvetica Neue"/>
                <a:ea typeface="Helvetica Neue"/>
                <a:cs typeface="Helvetica Neue"/>
              </a:defRPr>
            </a:lvl7pPr>
            <a:lvl8pPr algn="l">
              <a:buNone/>
              <a:defRPr sz="1125" b="0">
                <a:solidFill>
                  <a:srgbClr val="64877F"/>
                </a:solidFill>
                <a:latin typeface="Helvetica Neue"/>
                <a:ea typeface="Helvetica Neue"/>
                <a:cs typeface="Helvetica Neue"/>
              </a:defRPr>
            </a:lvl8pPr>
            <a:lvl9pPr algn="l">
              <a:buNone/>
              <a:defRPr sz="1125" b="0">
                <a:solidFill>
                  <a:srgbClr val="64877F"/>
                </a:solidFill>
                <a:latin typeface="Helvetica Neue"/>
                <a:ea typeface="Helvetica Neue"/>
                <a:cs typeface="Helvetica Neue"/>
              </a:defRPr>
            </a:lvl9pPr>
          </a:lstStyle>
          <a:p xmlns:a="http://schemas.openxmlformats.org/drawingml/2006/main">
            <a:pPr algn="l">
              <a:buNone/>
              <a:defRPr sz="1125" b="0">
                <a:solidFill>
                  <a:srgbClr val="64877F"/>
                </a:solidFill>
                <a:latin typeface="Helvetica Neue"/>
                <a:ea typeface="Helvetica Neue"/>
                <a:cs typeface="Helvetica Neue"/>
              </a:defRPr>
            </a:pPr>
            <a:r>
              <a:rPr sz="1125" b="0">
                <a:solidFill>
                  <a:srgbClr val="64877F"/>
                </a:solidFill>
                <a:latin typeface="Helvetica Neue"/>
                <a:ea typeface="Helvetica Neue"/>
                <a:cs typeface="Helvetica Neue"/>
              </a:rPr>
              <a:t>DOI: 10.1023/A:1010933404324</a:t>
            </a:r>
          </a:p>
        </p:txBody>
      </p:sp>
      <p:sp>
        <p:nvSpPr>
          <p:cNvPr id="17" name="Straight Connector 16">
            <a:extLst xmlns:a="http://schemas.openxmlformats.org/drawingml/2006/main">
              <a:ext uri="{FF2B5EF4-FFF2-40B4-BE49-F238E27FC236}">
                <a16:creationId xmlns:a16="http://schemas.microsoft.com/office/drawing/2014/main" id="{08B12293-34EA-4B2D-B7B8-197D95D4F8EA}"/>
              </a:ext>
            </a:extLst>
          </p:cNvPr>
          <p:cNvSpPr>
            <a:spLocks xmlns:a="http://schemas.openxmlformats.org/drawingml/2006/main" noGrp="1"/>
          </p:cNvSpPr>
          <p:nvPr/>
        </p:nvSpPr>
        <p:spPr>
          <a:xfrm xmlns:a="http://schemas.openxmlformats.org/drawingml/2006/main">
            <a:off x="742950" y="4733925"/>
            <a:ext cx="10639425" cy="0"/>
          </a:xfrm>
          <a:prstGeom xmlns:a="http://schemas.openxmlformats.org/drawingml/2006/main" prst="line">
            <a:avLst/>
          </a:prstGeom>
          <a:noFill xmlns:a="http://schemas.openxmlformats.org/drawingml/2006/main"/>
          <a:ln xmlns:a="http://schemas.openxmlformats.org/drawingml/2006/main" w="9525">
            <a:solidFill>
              <a:srgbClr val="CBD5DA"/>
            </a:solidFill>
            <a:prstDash val="solid"/>
          </a:ln>
        </p:spPr>
      </p:sp>
      <p:sp>
        <p:nvSpPr>
          <p:cNvPr id="18" name="Rectangle 17">
            <a:extLst xmlns:a="http://schemas.openxmlformats.org/drawingml/2006/main">
              <a:ext uri="{FF2B5EF4-FFF2-40B4-BE49-F238E27FC236}">
                <a16:creationId xmlns:a16="http://schemas.microsoft.com/office/drawing/2014/main" id="{46C2FB26-0520-406C-949A-1E67DDDC7BBF}"/>
              </a:ext>
            </a:extLst>
          </p:cNvPr>
          <p:cNvSpPr>
            <a:spLocks xmlns:a="http://schemas.openxmlformats.org/drawingml/2006/main" noGrp="1"/>
          </p:cNvSpPr>
          <p:nvPr/>
        </p:nvSpPr>
        <p:spPr>
          <a:xfrm xmlns:a="http://schemas.openxmlformats.org/drawingml/2006/main">
            <a:off x="742950" y="4838700"/>
            <a:ext cx="4095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00" b="1">
                <a:solidFill>
                  <a:srgbClr val="243A50"/>
                </a:solidFill>
                <a:latin typeface="Helvetica Neue"/>
                <a:ea typeface="Helvetica Neue"/>
                <a:cs typeface="Helvetica Neue"/>
              </a:defRPr>
            </a:defPPr>
            <a:lvl1pPr algn="l">
              <a:buNone/>
              <a:defRPr sz="1500" b="1">
                <a:solidFill>
                  <a:srgbClr val="243A50"/>
                </a:solidFill>
                <a:latin typeface="Helvetica Neue"/>
                <a:ea typeface="Helvetica Neue"/>
                <a:cs typeface="Helvetica Neue"/>
              </a:defRPr>
            </a:lvl1pPr>
            <a:lvl2pPr algn="l">
              <a:buNone/>
              <a:defRPr sz="1500" b="1">
                <a:solidFill>
                  <a:srgbClr val="243A50"/>
                </a:solidFill>
                <a:latin typeface="Helvetica Neue"/>
                <a:ea typeface="Helvetica Neue"/>
                <a:cs typeface="Helvetica Neue"/>
              </a:defRPr>
            </a:lvl2pPr>
            <a:lvl3pPr algn="l">
              <a:buNone/>
              <a:defRPr sz="1500" b="1">
                <a:solidFill>
                  <a:srgbClr val="243A50"/>
                </a:solidFill>
                <a:latin typeface="Helvetica Neue"/>
                <a:ea typeface="Helvetica Neue"/>
                <a:cs typeface="Helvetica Neue"/>
              </a:defRPr>
            </a:lvl3pPr>
            <a:lvl4pPr algn="l">
              <a:buNone/>
              <a:defRPr sz="1500" b="1">
                <a:solidFill>
                  <a:srgbClr val="243A50"/>
                </a:solidFill>
                <a:latin typeface="Helvetica Neue"/>
                <a:ea typeface="Helvetica Neue"/>
                <a:cs typeface="Helvetica Neue"/>
              </a:defRPr>
            </a:lvl4pPr>
            <a:lvl5pPr algn="l">
              <a:buNone/>
              <a:defRPr sz="1500" b="1">
                <a:solidFill>
                  <a:srgbClr val="243A50"/>
                </a:solidFill>
                <a:latin typeface="Helvetica Neue"/>
                <a:ea typeface="Helvetica Neue"/>
                <a:cs typeface="Helvetica Neue"/>
              </a:defRPr>
            </a:lvl5pPr>
            <a:lvl6pPr algn="l">
              <a:buNone/>
              <a:defRPr sz="1500" b="1">
                <a:solidFill>
                  <a:srgbClr val="243A50"/>
                </a:solidFill>
                <a:latin typeface="Helvetica Neue"/>
                <a:ea typeface="Helvetica Neue"/>
                <a:cs typeface="Helvetica Neue"/>
              </a:defRPr>
            </a:lvl6pPr>
            <a:lvl7pPr algn="l">
              <a:buNone/>
              <a:defRPr sz="1500" b="1">
                <a:solidFill>
                  <a:srgbClr val="243A50"/>
                </a:solidFill>
                <a:latin typeface="Helvetica Neue"/>
                <a:ea typeface="Helvetica Neue"/>
                <a:cs typeface="Helvetica Neue"/>
              </a:defRPr>
            </a:lvl7pPr>
            <a:lvl8pPr algn="l">
              <a:buNone/>
              <a:defRPr sz="1500" b="1">
                <a:solidFill>
                  <a:srgbClr val="243A50"/>
                </a:solidFill>
                <a:latin typeface="Helvetica Neue"/>
                <a:ea typeface="Helvetica Neue"/>
                <a:cs typeface="Helvetica Neue"/>
              </a:defRPr>
            </a:lvl8pPr>
            <a:lvl9pPr algn="l">
              <a:buNone/>
              <a:defRPr sz="1500" b="1">
                <a:solidFill>
                  <a:srgbClr val="243A50"/>
                </a:solidFill>
                <a:latin typeface="Helvetica Neue"/>
                <a:ea typeface="Helvetica Neue"/>
                <a:cs typeface="Helvetica Neue"/>
              </a:defRPr>
            </a:lvl9pPr>
          </a:lstStyle>
          <a:p xmlns:a="http://schemas.openxmlformats.org/drawingml/2006/main">
            <a:pPr algn="l">
              <a:buNone/>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[4] Project implementation</a:t>
            </a:r>
          </a:p>
        </p:txBody>
      </p:sp>
      <p:sp>
        <p:nvSpPr>
          <p:cNvPr id="19" name="Rectangle 18">
            <a:extLst xmlns:a="http://schemas.openxmlformats.org/drawingml/2006/main">
              <a:ext uri="{FF2B5EF4-FFF2-40B4-BE49-F238E27FC236}">
                <a16:creationId xmlns:a16="http://schemas.microsoft.com/office/drawing/2014/main" id="{4B529163-E593-4CDC-864F-A535DDA23561}"/>
              </a:ext>
            </a:extLst>
          </p:cNvPr>
          <p:cNvSpPr>
            <a:spLocks xmlns:a="http://schemas.openxmlformats.org/drawingml/2006/main" noGrp="1"/>
          </p:cNvSpPr>
          <p:nvPr/>
        </p:nvSpPr>
        <p:spPr>
          <a:xfrm xmlns:a="http://schemas.openxmlformats.org/drawingml/2006/main">
            <a:off x="742950" y="5162550"/>
            <a:ext cx="10477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75" b="0">
                <a:solidFill>
                  <a:srgbClr val="33485D"/>
                </a:solidFill>
                <a:latin typeface="Helvetica Neue"/>
                <a:ea typeface="Helvetica Neue"/>
                <a:cs typeface="Helvetica Neue"/>
              </a:defRPr>
            </a:defPPr>
            <a:lvl1pPr algn="l">
              <a:buNone/>
              <a:defRPr sz="1275" b="0">
                <a:solidFill>
                  <a:srgbClr val="33485D"/>
                </a:solidFill>
                <a:latin typeface="Helvetica Neue"/>
                <a:ea typeface="Helvetica Neue"/>
                <a:cs typeface="Helvetica Neue"/>
              </a:defRPr>
            </a:lvl1pPr>
            <a:lvl2pPr algn="l">
              <a:buNone/>
              <a:defRPr sz="1275" b="0">
                <a:solidFill>
                  <a:srgbClr val="33485D"/>
                </a:solidFill>
                <a:latin typeface="Helvetica Neue"/>
                <a:ea typeface="Helvetica Neue"/>
                <a:cs typeface="Helvetica Neue"/>
              </a:defRPr>
            </a:lvl2pPr>
            <a:lvl3pPr algn="l">
              <a:buNone/>
              <a:defRPr sz="1275" b="0">
                <a:solidFill>
                  <a:srgbClr val="33485D"/>
                </a:solidFill>
                <a:latin typeface="Helvetica Neue"/>
                <a:ea typeface="Helvetica Neue"/>
                <a:cs typeface="Helvetica Neue"/>
              </a:defRPr>
            </a:lvl3pPr>
            <a:lvl4pPr algn="l">
              <a:buNone/>
              <a:defRPr sz="1275" b="0">
                <a:solidFill>
                  <a:srgbClr val="33485D"/>
                </a:solidFill>
                <a:latin typeface="Helvetica Neue"/>
                <a:ea typeface="Helvetica Neue"/>
                <a:cs typeface="Helvetica Neue"/>
              </a:defRPr>
            </a:lvl4pPr>
            <a:lvl5pPr algn="l">
              <a:buNone/>
              <a:defRPr sz="1275" b="0">
                <a:solidFill>
                  <a:srgbClr val="33485D"/>
                </a:solidFill>
                <a:latin typeface="Helvetica Neue"/>
                <a:ea typeface="Helvetica Neue"/>
                <a:cs typeface="Helvetica Neue"/>
              </a:defRPr>
            </a:lvl5pPr>
            <a:lvl6pPr algn="l">
              <a:buNone/>
              <a:defRPr sz="1275" b="0">
                <a:solidFill>
                  <a:srgbClr val="33485D"/>
                </a:solidFill>
                <a:latin typeface="Helvetica Neue"/>
                <a:ea typeface="Helvetica Neue"/>
                <a:cs typeface="Helvetica Neue"/>
              </a:defRPr>
            </a:lvl6pPr>
            <a:lvl7pPr algn="l">
              <a:buNone/>
              <a:defRPr sz="1275" b="0">
                <a:solidFill>
                  <a:srgbClr val="33485D"/>
                </a:solidFill>
                <a:latin typeface="Helvetica Neue"/>
                <a:ea typeface="Helvetica Neue"/>
                <a:cs typeface="Helvetica Neue"/>
              </a:defRPr>
            </a:lvl7pPr>
            <a:lvl8pPr algn="l">
              <a:buNone/>
              <a:defRPr sz="1275" b="0">
                <a:solidFill>
                  <a:srgbClr val="33485D"/>
                </a:solidFill>
                <a:latin typeface="Helvetica Neue"/>
                <a:ea typeface="Helvetica Neue"/>
                <a:cs typeface="Helvetica Neue"/>
              </a:defRPr>
            </a:lvl8pPr>
            <a:lvl9pPr algn="l">
              <a:buNone/>
              <a:defRPr sz="1275" b="0">
                <a:solidFill>
                  <a:srgbClr val="33485D"/>
                </a:solidFill>
                <a:latin typeface="Helvetica Neue"/>
                <a:ea typeface="Helvetica Neue"/>
                <a:cs typeface="Helvetica Neue"/>
              </a:defRPr>
            </a:lvl9pPr>
          </a:lstStyle>
          <a:p xmlns:a="http://schemas.openxmlformats.org/drawingml/2006/main">
            <a:pPr algn="l">
              <a:buNone/>
              <a:defRPr sz="1275" b="0">
                <a:solidFill>
                  <a:srgbClr val="33485D"/>
                </a:solidFill>
                <a:latin typeface="Helvetica Neue"/>
                <a:ea typeface="Helvetica Neue"/>
                <a:cs typeface="Helvetica Neue"/>
              </a:defRPr>
            </a:pPr>
            <a:r>
              <a:rPr sz="1275" b="0">
                <a:solidFill>
                  <a:srgbClr val="33485D"/>
                </a:solidFill>
                <a:latin typeface="Helvetica Neue"/>
                <a:ea typeface="Helvetica Neue"/>
                <a:cs typeface="Helvetica Neue"/>
              </a:rPr>
              <a:t>Signal2Space repository: AML notebooks 01–05, processed data tables, saved figures, and AML report.</a:t>
            </a:r>
          </a:p>
        </p:txBody>
      </p:sp>
      <p:sp>
        <p:nvSpPr>
          <p:cNvPr id="20" name="Rectangle 19">
            <a:extLst xmlns:a="http://schemas.openxmlformats.org/drawingml/2006/main">
              <a:ext uri="{FF2B5EF4-FFF2-40B4-BE49-F238E27FC236}">
                <a16:creationId xmlns:a16="http://schemas.microsoft.com/office/drawing/2014/main" id="{F6CD85E7-9F39-483A-A9FE-E046E1B0357E}"/>
              </a:ext>
            </a:extLst>
          </p:cNvPr>
          <p:cNvSpPr>
            <a:spLocks xmlns:a="http://schemas.openxmlformats.org/drawingml/2006/main" noGrp="1"/>
          </p:cNvSpPr>
          <p:nvPr/>
        </p:nvSpPr>
        <p:spPr>
          <a:xfrm xmlns:a="http://schemas.openxmlformats.org/drawingml/2006/main">
            <a:off x="742950" y="55911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125" b="0">
                <a:solidFill>
                  <a:srgbClr val="64877F"/>
                </a:solidFill>
                <a:latin typeface="Helvetica Neue"/>
                <a:ea typeface="Helvetica Neue"/>
                <a:cs typeface="Helvetica Neue"/>
              </a:defRPr>
            </a:defPPr>
            <a:lvl1pPr algn="l">
              <a:buNone/>
              <a:defRPr sz="1125" b="0">
                <a:solidFill>
                  <a:srgbClr val="64877F"/>
                </a:solidFill>
                <a:latin typeface="Helvetica Neue"/>
                <a:ea typeface="Helvetica Neue"/>
                <a:cs typeface="Helvetica Neue"/>
              </a:defRPr>
            </a:lvl1pPr>
            <a:lvl2pPr algn="l">
              <a:buNone/>
              <a:defRPr sz="1125" b="0">
                <a:solidFill>
                  <a:srgbClr val="64877F"/>
                </a:solidFill>
                <a:latin typeface="Helvetica Neue"/>
                <a:ea typeface="Helvetica Neue"/>
                <a:cs typeface="Helvetica Neue"/>
              </a:defRPr>
            </a:lvl2pPr>
            <a:lvl3pPr algn="l">
              <a:buNone/>
              <a:defRPr sz="1125" b="0">
                <a:solidFill>
                  <a:srgbClr val="64877F"/>
                </a:solidFill>
                <a:latin typeface="Helvetica Neue"/>
                <a:ea typeface="Helvetica Neue"/>
                <a:cs typeface="Helvetica Neue"/>
              </a:defRPr>
            </a:lvl3pPr>
            <a:lvl4pPr algn="l">
              <a:buNone/>
              <a:defRPr sz="1125" b="0">
                <a:solidFill>
                  <a:srgbClr val="64877F"/>
                </a:solidFill>
                <a:latin typeface="Helvetica Neue"/>
                <a:ea typeface="Helvetica Neue"/>
                <a:cs typeface="Helvetica Neue"/>
              </a:defRPr>
            </a:lvl4pPr>
            <a:lvl5pPr algn="l">
              <a:buNone/>
              <a:defRPr sz="1125" b="0">
                <a:solidFill>
                  <a:srgbClr val="64877F"/>
                </a:solidFill>
                <a:latin typeface="Helvetica Neue"/>
                <a:ea typeface="Helvetica Neue"/>
                <a:cs typeface="Helvetica Neue"/>
              </a:defRPr>
            </a:lvl5pPr>
            <a:lvl6pPr algn="l">
              <a:buNone/>
              <a:defRPr sz="1125" b="0">
                <a:solidFill>
                  <a:srgbClr val="64877F"/>
                </a:solidFill>
                <a:latin typeface="Helvetica Neue"/>
                <a:ea typeface="Helvetica Neue"/>
                <a:cs typeface="Helvetica Neue"/>
              </a:defRPr>
            </a:lvl6pPr>
            <a:lvl7pPr algn="l">
              <a:buNone/>
              <a:defRPr sz="1125" b="0">
                <a:solidFill>
                  <a:srgbClr val="64877F"/>
                </a:solidFill>
                <a:latin typeface="Helvetica Neue"/>
                <a:ea typeface="Helvetica Neue"/>
                <a:cs typeface="Helvetica Neue"/>
              </a:defRPr>
            </a:lvl7pPr>
            <a:lvl8pPr algn="l">
              <a:buNone/>
              <a:defRPr sz="1125" b="0">
                <a:solidFill>
                  <a:srgbClr val="64877F"/>
                </a:solidFill>
                <a:latin typeface="Helvetica Neue"/>
                <a:ea typeface="Helvetica Neue"/>
                <a:cs typeface="Helvetica Neue"/>
              </a:defRPr>
            </a:lvl8pPr>
            <a:lvl9pPr algn="l">
              <a:buNone/>
              <a:defRPr sz="1125" b="0">
                <a:solidFill>
                  <a:srgbClr val="64877F"/>
                </a:solidFill>
                <a:latin typeface="Helvetica Neue"/>
                <a:ea typeface="Helvetica Neue"/>
                <a:cs typeface="Helvetica Neue"/>
              </a:defRPr>
            </a:lvl9pPr>
          </a:lstStyle>
          <a:p xmlns:a="http://schemas.openxmlformats.org/drawingml/2006/main">
            <a:pPr algn="l">
              <a:buNone/>
              <a:defRPr sz="1125" b="0">
                <a:solidFill>
                  <a:srgbClr val="64877F"/>
                </a:solidFill>
                <a:latin typeface="Helvetica Neue"/>
                <a:ea typeface="Helvetica Neue"/>
                <a:cs typeface="Helvetica Neue"/>
              </a:defRPr>
            </a:pPr>
            <a:r>
              <a:rPr sz="1125" b="0">
                <a:solidFill>
                  <a:srgbClr val="64877F"/>
                </a:solidFill>
                <a:latin typeface="Helvetica Neue"/>
                <a:ea typeface="Helvetica Neue"/>
                <a:cs typeface="Helvetica Neue"/>
              </a:rPr>
              <a:t>Repository artifacts cited in slide speaker notes.</a:t>
            </a:r>
          </a:p>
        </p:txBody>
      </p:sp>
    </p:spTree>
    <p:extLst>
      <p:ext uri="{BB962C8B-B14F-4D97-AF65-F5344CB8AC3E}">
        <p14:creationId xmlns:p14="http://schemas.microsoft.com/office/powerpoint/2010/main" val="701295511"/>
      </p:ext>
    </p:extLst>
  </p:cSld>
</p:sld>
</file>

<file path=ppt/slides/slide22.xml><?xml version="1.0" encoding="utf-8"?>
<p:sld xmlns:p="http://schemas.openxmlformats.org/presentationml/2006/main">
  <p:cSld>
    <p:bg>
      <p:bgPr>
        <a:solidFill xmlns:a="http://schemas.openxmlformats.org/drawingml/2006/main">
          <a:srgbClr val="243A50"/>
        </a:solidFill>
      </p:bgPr>
    </p:bg>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2C8D3487-61BE-4402-BF99-8BC7002CC4B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7DBD1"/>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E42DA7CB-F65B-4961-BA9E-11EE36E5FAA8}"/>
              </a:ext>
            </a:extLst>
          </p:cNvPr>
          <p:cNvSpPr>
            <a:spLocks xmlns:a="http://schemas.openxmlformats.org/drawingml/2006/main" noGrp="1"/>
          </p:cNvSpPr>
          <p:nvPr/>
        </p:nvSpPr>
        <p:spPr>
          <a:xfrm xmlns:a="http://schemas.openxmlformats.org/drawingml/2006/main">
            <a:off x="781050" y="2095500"/>
            <a:ext cx="666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4500" b="1">
                <a:solidFill>
                  <a:srgbClr val="FFFFFF"/>
                </a:solidFill>
                <a:latin typeface="Helvetica Neue"/>
                <a:ea typeface="Helvetica Neue"/>
                <a:cs typeface="Helvetica Neue"/>
              </a:defRPr>
            </a:defPPr>
            <a:lvl1pPr algn="l">
              <a:buNone/>
              <a:defRPr sz="4500" b="1">
                <a:solidFill>
                  <a:srgbClr val="FFFFFF"/>
                </a:solidFill>
                <a:latin typeface="Helvetica Neue"/>
                <a:ea typeface="Helvetica Neue"/>
                <a:cs typeface="Helvetica Neue"/>
              </a:defRPr>
            </a:lvl1pPr>
            <a:lvl2pPr algn="l">
              <a:buNone/>
              <a:defRPr sz="4500" b="1">
                <a:solidFill>
                  <a:srgbClr val="FFFFFF"/>
                </a:solidFill>
                <a:latin typeface="Helvetica Neue"/>
                <a:ea typeface="Helvetica Neue"/>
                <a:cs typeface="Helvetica Neue"/>
              </a:defRPr>
            </a:lvl2pPr>
            <a:lvl3pPr algn="l">
              <a:buNone/>
              <a:defRPr sz="4500" b="1">
                <a:solidFill>
                  <a:srgbClr val="FFFFFF"/>
                </a:solidFill>
                <a:latin typeface="Helvetica Neue"/>
                <a:ea typeface="Helvetica Neue"/>
                <a:cs typeface="Helvetica Neue"/>
              </a:defRPr>
            </a:lvl3pPr>
            <a:lvl4pPr algn="l">
              <a:buNone/>
              <a:defRPr sz="4500" b="1">
                <a:solidFill>
                  <a:srgbClr val="FFFFFF"/>
                </a:solidFill>
                <a:latin typeface="Helvetica Neue"/>
                <a:ea typeface="Helvetica Neue"/>
                <a:cs typeface="Helvetica Neue"/>
              </a:defRPr>
            </a:lvl4pPr>
            <a:lvl5pPr algn="l">
              <a:buNone/>
              <a:defRPr sz="4500" b="1">
                <a:solidFill>
                  <a:srgbClr val="FFFFFF"/>
                </a:solidFill>
                <a:latin typeface="Helvetica Neue"/>
                <a:ea typeface="Helvetica Neue"/>
                <a:cs typeface="Helvetica Neue"/>
              </a:defRPr>
            </a:lvl5pPr>
            <a:lvl6pPr algn="l">
              <a:buNone/>
              <a:defRPr sz="4500" b="1">
                <a:solidFill>
                  <a:srgbClr val="FFFFFF"/>
                </a:solidFill>
                <a:latin typeface="Helvetica Neue"/>
                <a:ea typeface="Helvetica Neue"/>
                <a:cs typeface="Helvetica Neue"/>
              </a:defRPr>
            </a:lvl6pPr>
            <a:lvl7pPr algn="l">
              <a:buNone/>
              <a:defRPr sz="4500" b="1">
                <a:solidFill>
                  <a:srgbClr val="FFFFFF"/>
                </a:solidFill>
                <a:latin typeface="Helvetica Neue"/>
                <a:ea typeface="Helvetica Neue"/>
                <a:cs typeface="Helvetica Neue"/>
              </a:defRPr>
            </a:lvl7pPr>
            <a:lvl8pPr algn="l">
              <a:buNone/>
              <a:defRPr sz="4500" b="1">
                <a:solidFill>
                  <a:srgbClr val="FFFFFF"/>
                </a:solidFill>
                <a:latin typeface="Helvetica Neue"/>
                <a:ea typeface="Helvetica Neue"/>
                <a:cs typeface="Helvetica Neue"/>
              </a:defRPr>
            </a:lvl8pPr>
            <a:lvl9pPr algn="l">
              <a:buNone/>
              <a:defRPr sz="4500" b="1">
                <a:solidFill>
                  <a:srgbClr val="FFFFFF"/>
                </a:solidFill>
                <a:latin typeface="Helvetica Neue"/>
                <a:ea typeface="Helvetica Neue"/>
                <a:cs typeface="Helvetica Neue"/>
              </a:defRPr>
            </a:lvl9pPr>
          </a:lstStyle>
          <a:p xmlns:a="http://schemas.openxmlformats.org/drawingml/2006/main">
            <a:pPr algn="l">
              <a:buNone/>
              <a:defRPr sz="4500" b="1">
                <a:solidFill>
                  <a:srgbClr val="FFFFFF"/>
                </a:solidFill>
                <a:latin typeface="Helvetica Neue"/>
                <a:ea typeface="Helvetica Neue"/>
                <a:cs typeface="Helvetica Neue"/>
              </a:defRPr>
            </a:pPr>
            <a:r>
              <a:rPr sz="4500" b="1">
                <a:solidFill>
                  <a:srgbClr val="FFFFFF"/>
                </a:solidFill>
                <a:latin typeface="Helvetica Neue"/>
                <a:ea typeface="Helvetica Neue"/>
                <a:cs typeface="Helvetica Neue"/>
              </a:rPr>
              <a:t>Thank you</a:t>
            </a:r>
          </a:p>
        </p:txBody>
      </p:sp>
      <p:sp>
        <p:nvSpPr>
          <p:cNvPr id="3" name="Rectangle 2">
            <a:extLst xmlns:a="http://schemas.openxmlformats.org/drawingml/2006/main">
              <a:ext uri="{FF2B5EF4-FFF2-40B4-BE49-F238E27FC236}">
                <a16:creationId xmlns:a16="http://schemas.microsoft.com/office/drawing/2014/main" id="{731ACEF7-E671-45D2-981F-F34410700600}"/>
              </a:ext>
            </a:extLst>
          </p:cNvPr>
          <p:cNvSpPr>
            <a:spLocks xmlns:a="http://schemas.openxmlformats.org/drawingml/2006/main" noGrp="1"/>
          </p:cNvSpPr>
          <p:nvPr/>
        </p:nvSpPr>
        <p:spPr>
          <a:xfrm xmlns:a="http://schemas.openxmlformats.org/drawingml/2006/main">
            <a:off x="819150" y="3143250"/>
            <a:ext cx="571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2550" b="1">
                <a:solidFill>
                  <a:srgbClr val="C7DBD1"/>
                </a:solidFill>
                <a:latin typeface="Helvetica Neue"/>
                <a:ea typeface="Helvetica Neue"/>
                <a:cs typeface="Helvetica Neue"/>
              </a:defRPr>
            </a:defPPr>
            <a:lvl1pPr algn="l">
              <a:buNone/>
              <a:defRPr sz="2550" b="1">
                <a:solidFill>
                  <a:srgbClr val="C7DBD1"/>
                </a:solidFill>
                <a:latin typeface="Helvetica Neue"/>
                <a:ea typeface="Helvetica Neue"/>
                <a:cs typeface="Helvetica Neue"/>
              </a:defRPr>
            </a:lvl1pPr>
            <a:lvl2pPr algn="l">
              <a:buNone/>
              <a:defRPr sz="2550" b="1">
                <a:solidFill>
                  <a:srgbClr val="C7DBD1"/>
                </a:solidFill>
                <a:latin typeface="Helvetica Neue"/>
                <a:ea typeface="Helvetica Neue"/>
                <a:cs typeface="Helvetica Neue"/>
              </a:defRPr>
            </a:lvl2pPr>
            <a:lvl3pPr algn="l">
              <a:buNone/>
              <a:defRPr sz="2550" b="1">
                <a:solidFill>
                  <a:srgbClr val="C7DBD1"/>
                </a:solidFill>
                <a:latin typeface="Helvetica Neue"/>
                <a:ea typeface="Helvetica Neue"/>
                <a:cs typeface="Helvetica Neue"/>
              </a:defRPr>
            </a:lvl3pPr>
            <a:lvl4pPr algn="l">
              <a:buNone/>
              <a:defRPr sz="2550" b="1">
                <a:solidFill>
                  <a:srgbClr val="C7DBD1"/>
                </a:solidFill>
                <a:latin typeface="Helvetica Neue"/>
                <a:ea typeface="Helvetica Neue"/>
                <a:cs typeface="Helvetica Neue"/>
              </a:defRPr>
            </a:lvl4pPr>
            <a:lvl5pPr algn="l">
              <a:buNone/>
              <a:defRPr sz="2550" b="1">
                <a:solidFill>
                  <a:srgbClr val="C7DBD1"/>
                </a:solidFill>
                <a:latin typeface="Helvetica Neue"/>
                <a:ea typeface="Helvetica Neue"/>
                <a:cs typeface="Helvetica Neue"/>
              </a:defRPr>
            </a:lvl5pPr>
            <a:lvl6pPr algn="l">
              <a:buNone/>
              <a:defRPr sz="2550" b="1">
                <a:solidFill>
                  <a:srgbClr val="C7DBD1"/>
                </a:solidFill>
                <a:latin typeface="Helvetica Neue"/>
                <a:ea typeface="Helvetica Neue"/>
                <a:cs typeface="Helvetica Neue"/>
              </a:defRPr>
            </a:lvl6pPr>
            <a:lvl7pPr algn="l">
              <a:buNone/>
              <a:defRPr sz="2550" b="1">
                <a:solidFill>
                  <a:srgbClr val="C7DBD1"/>
                </a:solidFill>
                <a:latin typeface="Helvetica Neue"/>
                <a:ea typeface="Helvetica Neue"/>
                <a:cs typeface="Helvetica Neue"/>
              </a:defRPr>
            </a:lvl7pPr>
            <a:lvl8pPr algn="l">
              <a:buNone/>
              <a:defRPr sz="2550" b="1">
                <a:solidFill>
                  <a:srgbClr val="C7DBD1"/>
                </a:solidFill>
                <a:latin typeface="Helvetica Neue"/>
                <a:ea typeface="Helvetica Neue"/>
                <a:cs typeface="Helvetica Neue"/>
              </a:defRPr>
            </a:lvl8pPr>
            <a:lvl9pPr algn="l">
              <a:buNone/>
              <a:defRPr sz="2550" b="1">
                <a:solidFill>
                  <a:srgbClr val="C7DBD1"/>
                </a:solidFill>
                <a:latin typeface="Helvetica Neue"/>
                <a:ea typeface="Helvetica Neue"/>
                <a:cs typeface="Helvetica Neue"/>
              </a:defRPr>
            </a:lvl9pPr>
          </a:lstStyle>
          <a:p xmlns:a="http://schemas.openxmlformats.org/drawingml/2006/main">
            <a:pPr algn="l">
              <a:buNone/>
              <a:defRPr sz="2550" b="1">
                <a:solidFill>
                  <a:srgbClr val="C7DBD1"/>
                </a:solidFill>
                <a:latin typeface="Helvetica Neue"/>
                <a:ea typeface="Helvetica Neue"/>
                <a:cs typeface="Helvetica Neue"/>
              </a:defRPr>
            </a:pPr>
            <a:r>
              <a:rPr sz="2550" b="1">
                <a:solidFill>
                  <a:srgbClr val="C7DBD1"/>
                </a:solidFill>
                <a:latin typeface="Helvetica Neue"/>
                <a:ea typeface="Helvetica Neue"/>
                <a:cs typeface="Helvetica Neue"/>
              </a:rPr>
              <a:t>Questions</a:t>
            </a:r>
          </a:p>
        </p:txBody>
      </p:sp>
      <p:sp>
        <p:nvSpPr>
          <p:cNvPr id="4" name="Rectangle 3">
            <a:extLst xmlns:a="http://schemas.openxmlformats.org/drawingml/2006/main">
              <a:ext uri="{FF2B5EF4-FFF2-40B4-BE49-F238E27FC236}">
                <a16:creationId xmlns:a16="http://schemas.microsoft.com/office/drawing/2014/main" id="{F599A5E8-0ACE-48B5-BE29-FAF5519500C9}"/>
              </a:ext>
            </a:extLst>
          </p:cNvPr>
          <p:cNvSpPr>
            <a:spLocks xmlns:a="http://schemas.openxmlformats.org/drawingml/2006/main" noGrp="1"/>
          </p:cNvSpPr>
          <p:nvPr/>
        </p:nvSpPr>
        <p:spPr>
          <a:xfrm xmlns:a="http://schemas.openxmlformats.org/drawingml/2006/main">
            <a:off x="819150" y="5143500"/>
            <a:ext cx="723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500" b="0">
                <a:solidFill>
                  <a:srgbClr val="D2DEE5"/>
                </a:solidFill>
                <a:latin typeface="Helvetica Neue"/>
                <a:ea typeface="Helvetica Neue"/>
                <a:cs typeface="Helvetica Neue"/>
              </a:defRPr>
            </a:defPPr>
            <a:lvl1pPr algn="l">
              <a:buNone/>
              <a:defRPr sz="1500" b="0">
                <a:solidFill>
                  <a:srgbClr val="D2DEE5"/>
                </a:solidFill>
                <a:latin typeface="Helvetica Neue"/>
                <a:ea typeface="Helvetica Neue"/>
                <a:cs typeface="Helvetica Neue"/>
              </a:defRPr>
            </a:lvl1pPr>
            <a:lvl2pPr algn="l">
              <a:buNone/>
              <a:defRPr sz="1500" b="0">
                <a:solidFill>
                  <a:srgbClr val="D2DEE5"/>
                </a:solidFill>
                <a:latin typeface="Helvetica Neue"/>
                <a:ea typeface="Helvetica Neue"/>
                <a:cs typeface="Helvetica Neue"/>
              </a:defRPr>
            </a:lvl2pPr>
            <a:lvl3pPr algn="l">
              <a:buNone/>
              <a:defRPr sz="1500" b="0">
                <a:solidFill>
                  <a:srgbClr val="D2DEE5"/>
                </a:solidFill>
                <a:latin typeface="Helvetica Neue"/>
                <a:ea typeface="Helvetica Neue"/>
                <a:cs typeface="Helvetica Neue"/>
              </a:defRPr>
            </a:lvl3pPr>
            <a:lvl4pPr algn="l">
              <a:buNone/>
              <a:defRPr sz="1500" b="0">
                <a:solidFill>
                  <a:srgbClr val="D2DEE5"/>
                </a:solidFill>
                <a:latin typeface="Helvetica Neue"/>
                <a:ea typeface="Helvetica Neue"/>
                <a:cs typeface="Helvetica Neue"/>
              </a:defRPr>
            </a:lvl4pPr>
            <a:lvl5pPr algn="l">
              <a:buNone/>
              <a:defRPr sz="1500" b="0">
                <a:solidFill>
                  <a:srgbClr val="D2DEE5"/>
                </a:solidFill>
                <a:latin typeface="Helvetica Neue"/>
                <a:ea typeface="Helvetica Neue"/>
                <a:cs typeface="Helvetica Neue"/>
              </a:defRPr>
            </a:lvl5pPr>
            <a:lvl6pPr algn="l">
              <a:buNone/>
              <a:defRPr sz="1500" b="0">
                <a:solidFill>
                  <a:srgbClr val="D2DEE5"/>
                </a:solidFill>
                <a:latin typeface="Helvetica Neue"/>
                <a:ea typeface="Helvetica Neue"/>
                <a:cs typeface="Helvetica Neue"/>
              </a:defRPr>
            </a:lvl6pPr>
            <a:lvl7pPr algn="l">
              <a:buNone/>
              <a:defRPr sz="1500" b="0">
                <a:solidFill>
                  <a:srgbClr val="D2DEE5"/>
                </a:solidFill>
                <a:latin typeface="Helvetica Neue"/>
                <a:ea typeface="Helvetica Neue"/>
                <a:cs typeface="Helvetica Neue"/>
              </a:defRPr>
            </a:lvl7pPr>
            <a:lvl8pPr algn="l">
              <a:buNone/>
              <a:defRPr sz="1500" b="0">
                <a:solidFill>
                  <a:srgbClr val="D2DEE5"/>
                </a:solidFill>
                <a:latin typeface="Helvetica Neue"/>
                <a:ea typeface="Helvetica Neue"/>
                <a:cs typeface="Helvetica Neue"/>
              </a:defRPr>
            </a:lvl8pPr>
            <a:lvl9pPr algn="l">
              <a:buNone/>
              <a:defRPr sz="1500" b="0">
                <a:solidFill>
                  <a:srgbClr val="D2DEE5"/>
                </a:solidFill>
                <a:latin typeface="Helvetica Neue"/>
                <a:ea typeface="Helvetica Neue"/>
                <a:cs typeface="Helvetica Neue"/>
              </a:defRPr>
            </a:lvl9pPr>
          </a:lstStyle>
          <a:p xmlns:a="http://schemas.openxmlformats.org/drawingml/2006/main">
            <a:pPr algn="l">
              <a:buNone/>
              <a:defRPr sz="1500" b="0">
                <a:solidFill>
                  <a:srgbClr val="D2DEE5"/>
                </a:solidFill>
                <a:latin typeface="Helvetica Neue"/>
                <a:ea typeface="Helvetica Neue"/>
                <a:cs typeface="Helvetica Neue"/>
              </a:defRPr>
            </a:pPr>
            <a:r>
              <a:rPr sz="1500" b="0">
                <a:solidFill>
                  <a:srgbClr val="D2DEE5"/>
                </a:solidFill>
                <a:latin typeface="Helvetica Neue"/>
                <a:ea typeface="Helvetica Neue"/>
                <a:cs typeface="Helvetica Neue"/>
              </a:rPr>
              <a:t>Indoor Location Prediction Using Wi-Fi Signals</a:t>
            </a:r>
          </a:p>
        </p:txBody>
      </p:sp>
    </p:spTree>
    <p:extLst>
      <p:ext uri="{BB962C8B-B14F-4D97-AF65-F5344CB8AC3E}">
        <p14:creationId xmlns:p14="http://schemas.microsoft.com/office/powerpoint/2010/main" val="4714441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2026-10-25T18:48:31.2260000Z</dcterms:created>
  <dcterms:modified xsi:type="dcterms:W3CDTF">2026-10-25T18:48:31.2260000Z</dcterms:modified>
</coreProperties>
</file>